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86" r:id="rId3"/>
    <p:sldId id="287" r:id="rId4"/>
    <p:sldId id="289" r:id="rId5"/>
    <p:sldId id="306" r:id="rId6"/>
    <p:sldId id="311" r:id="rId7"/>
    <p:sldId id="308" r:id="rId8"/>
    <p:sldId id="312" r:id="rId9"/>
    <p:sldId id="307" r:id="rId10"/>
    <p:sldId id="313" r:id="rId11"/>
    <p:sldId id="303" r:id="rId12"/>
    <p:sldId id="304"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6733" autoAdjust="0"/>
  </p:normalViewPr>
  <p:slideViewPr>
    <p:cSldViewPr snapToGrid="0">
      <p:cViewPr varScale="1">
        <p:scale>
          <a:sx n="85" d="100"/>
          <a:sy n="85" d="100"/>
        </p:scale>
        <p:origin x="1554" y="7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99FC4A6-2233-41AB-8127-C574819A5260}" type="datetimeFigureOut">
              <a:rPr lang="en-US" smtClean="0"/>
              <a:t>4/7/2026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788229-8701-402C-9EFE-92AF1B162F60}" type="slidenum">
              <a:rPr lang="en-US" smtClean="0"/>
              <a:t>‹#›</a:t>
            </a:fld>
            <a:endParaRPr lang="en-US"/>
          </a:p>
        </p:txBody>
      </p:sp>
    </p:spTree>
    <p:extLst>
      <p:ext uri="{BB962C8B-B14F-4D97-AF65-F5344CB8AC3E}">
        <p14:creationId xmlns:p14="http://schemas.microsoft.com/office/powerpoint/2010/main" val="2044507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4788229-8701-402C-9EFE-92AF1B162F60}" type="slidenum">
              <a:rPr lang="en-US" smtClean="0"/>
              <a:t>2</a:t>
            </a:fld>
            <a:endParaRPr lang="en-US"/>
          </a:p>
        </p:txBody>
      </p:sp>
    </p:spTree>
    <p:extLst>
      <p:ext uri="{BB962C8B-B14F-4D97-AF65-F5344CB8AC3E}">
        <p14:creationId xmlns:p14="http://schemas.microsoft.com/office/powerpoint/2010/main" val="17242692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2B3929-88CC-4868-BDA1-59A64D43EBF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FEDD6DB-1BB2-4E16-B0BB-E8BA2BDF612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E7AAA9F-B17D-4248-B8EB-71AC9B01BC01}"/>
              </a:ext>
            </a:extLst>
          </p:cNvPr>
          <p:cNvSpPr>
            <a:spLocks noGrp="1"/>
          </p:cNvSpPr>
          <p:nvPr>
            <p:ph type="dt" sz="half" idx="10"/>
          </p:nvPr>
        </p:nvSpPr>
        <p:spPr/>
        <p:txBody>
          <a:bodyPr/>
          <a:lstStyle/>
          <a:p>
            <a:fld id="{177D84CC-09F3-4E2A-95B7-B65ACAD094AB}" type="datetime1">
              <a:rPr lang="en-US" smtClean="0"/>
              <a:t>4/7/2026</a:t>
            </a:fld>
            <a:endParaRPr lang="en-US"/>
          </a:p>
        </p:txBody>
      </p:sp>
      <p:sp>
        <p:nvSpPr>
          <p:cNvPr id="5" name="Footer Placeholder 4">
            <a:extLst>
              <a:ext uri="{FF2B5EF4-FFF2-40B4-BE49-F238E27FC236}">
                <a16:creationId xmlns:a16="http://schemas.microsoft.com/office/drawing/2014/main" id="{C71E4DB2-5340-4576-BCE1-5BA586B919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09BF86-13B9-4063-95F2-A447FD8F80F4}"/>
              </a:ext>
            </a:extLst>
          </p:cNvPr>
          <p:cNvSpPr>
            <a:spLocks noGrp="1"/>
          </p:cNvSpPr>
          <p:nvPr>
            <p:ph type="sldNum" sz="quarter" idx="12"/>
          </p:nvPr>
        </p:nvSpPr>
        <p:spPr/>
        <p:txBody>
          <a:bodyPr/>
          <a:lstStyle/>
          <a:p>
            <a:fld id="{0A5CBF63-613C-4E8E-B1A0-D710C5F27341}" type="slidenum">
              <a:rPr lang="en-US" smtClean="0"/>
              <a:t>‹#›</a:t>
            </a:fld>
            <a:endParaRPr lang="en-US"/>
          </a:p>
        </p:txBody>
      </p:sp>
    </p:spTree>
    <p:extLst>
      <p:ext uri="{BB962C8B-B14F-4D97-AF65-F5344CB8AC3E}">
        <p14:creationId xmlns:p14="http://schemas.microsoft.com/office/powerpoint/2010/main" val="1573763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90DC55-17C7-4615-9218-FEA6C38F07F8}"/>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56086033-9AEC-4DF1-8046-55049D40CF9A}"/>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5C27086-09CC-4BBE-8A58-380366BA6A8D}"/>
              </a:ext>
            </a:extLst>
          </p:cNvPr>
          <p:cNvSpPr>
            <a:spLocks noGrp="1"/>
          </p:cNvSpPr>
          <p:nvPr>
            <p:ph type="dt" sz="half" idx="10"/>
          </p:nvPr>
        </p:nvSpPr>
        <p:spPr/>
        <p:txBody>
          <a:bodyPr/>
          <a:lstStyle/>
          <a:p>
            <a:fld id="{ADA7BB36-3D62-4470-A97F-B676A5EA1684}" type="datetime1">
              <a:rPr lang="en-US" smtClean="0"/>
              <a:t>4/7/2026</a:t>
            </a:fld>
            <a:endParaRPr lang="en-US"/>
          </a:p>
        </p:txBody>
      </p:sp>
      <p:sp>
        <p:nvSpPr>
          <p:cNvPr id="5" name="Footer Placeholder 4">
            <a:extLst>
              <a:ext uri="{FF2B5EF4-FFF2-40B4-BE49-F238E27FC236}">
                <a16:creationId xmlns:a16="http://schemas.microsoft.com/office/drawing/2014/main" id="{11F1496C-4165-4039-BF78-B97DBB45DE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423ECE-0D9F-4ACC-BE4A-8CECB4C21533}"/>
              </a:ext>
            </a:extLst>
          </p:cNvPr>
          <p:cNvSpPr>
            <a:spLocks noGrp="1"/>
          </p:cNvSpPr>
          <p:nvPr>
            <p:ph type="sldNum" sz="quarter" idx="12"/>
          </p:nvPr>
        </p:nvSpPr>
        <p:spPr/>
        <p:txBody>
          <a:bodyPr/>
          <a:lstStyle/>
          <a:p>
            <a:fld id="{0A5CBF63-613C-4E8E-B1A0-D710C5F27341}" type="slidenum">
              <a:rPr lang="en-US" smtClean="0"/>
              <a:t>‹#›</a:t>
            </a:fld>
            <a:endParaRPr lang="en-US"/>
          </a:p>
        </p:txBody>
      </p:sp>
    </p:spTree>
    <p:extLst>
      <p:ext uri="{BB962C8B-B14F-4D97-AF65-F5344CB8AC3E}">
        <p14:creationId xmlns:p14="http://schemas.microsoft.com/office/powerpoint/2010/main" val="8229205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2D4B34-3710-42BD-B15F-29029DE5FC9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DFD60566-4132-4228-A009-90DECD849CA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707AE5F-FB3D-4742-AE94-C679CACFFC2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FE40B3-AC35-4E45-9A9A-E84AA48B06BB}" type="datetime1">
              <a:rPr lang="en-US" smtClean="0"/>
              <a:t>4/7/2026</a:t>
            </a:fld>
            <a:endParaRPr lang="en-US"/>
          </a:p>
        </p:txBody>
      </p:sp>
      <p:sp>
        <p:nvSpPr>
          <p:cNvPr id="5" name="Footer Placeholder 4">
            <a:extLst>
              <a:ext uri="{FF2B5EF4-FFF2-40B4-BE49-F238E27FC236}">
                <a16:creationId xmlns:a16="http://schemas.microsoft.com/office/drawing/2014/main" id="{DA06C9F7-1EC6-4794-BDB8-448CC751A5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A2E5C9-B3A4-4B3E-A5F8-4D85104B094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A5CBF63-613C-4E8E-B1A0-D710C5F27341}" type="slidenum">
              <a:rPr lang="en-US" smtClean="0"/>
              <a:t>‹#›</a:t>
            </a:fld>
            <a:endParaRPr lang="en-US"/>
          </a:p>
        </p:txBody>
      </p:sp>
      <p:pic>
        <p:nvPicPr>
          <p:cNvPr id="7" name="Picture 6">
            <a:extLst>
              <a:ext uri="{FF2B5EF4-FFF2-40B4-BE49-F238E27FC236}">
                <a16:creationId xmlns:a16="http://schemas.microsoft.com/office/drawing/2014/main" id="{A0EF8106-F7B3-4DBF-8958-3A64985661AA}"/>
              </a:ext>
            </a:extLst>
          </p:cNvPr>
          <p:cNvPicPr>
            <a:picLocks noChangeAspect="1"/>
          </p:cNvPicPr>
          <p:nvPr userDrawn="1"/>
        </p:nvPicPr>
        <p:blipFill>
          <a:blip r:embed="rId4"/>
          <a:stretch>
            <a:fillRect/>
          </a:stretch>
        </p:blipFill>
        <p:spPr>
          <a:xfrm>
            <a:off x="10349932" y="217820"/>
            <a:ext cx="1623486" cy="749301"/>
          </a:xfrm>
          <a:prstGeom prst="rect">
            <a:avLst/>
          </a:prstGeom>
        </p:spPr>
      </p:pic>
    </p:spTree>
    <p:extLst>
      <p:ext uri="{BB962C8B-B14F-4D97-AF65-F5344CB8AC3E}">
        <p14:creationId xmlns:p14="http://schemas.microsoft.com/office/powerpoint/2010/main" val="336168443"/>
      </p:ext>
    </p:extLst>
  </p:cSld>
  <p:clrMap bg1="lt1" tx1="dk1" bg2="lt2" tx2="dk2" accent1="accent1" accent2="accent2" accent3="accent3" accent4="accent4" accent5="accent5" accent6="accent6" hlink="hlink" folHlink="folHlink"/>
  <p:sldLayoutIdLst>
    <p:sldLayoutId id="2147483649" r:id="rId1"/>
    <p:sldLayoutId id="2147483650" r:id="rId2"/>
  </p:sldLayoutIdLst>
  <p:hf hdr="0" ftr="0" dt="0"/>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DA8C8D-DBE3-4D7B-B00C-C31FD9BFD984}"/>
              </a:ext>
            </a:extLst>
          </p:cNvPr>
          <p:cNvSpPr>
            <a:spLocks noGrp="1"/>
          </p:cNvSpPr>
          <p:nvPr>
            <p:ph type="ctrTitle"/>
          </p:nvPr>
        </p:nvSpPr>
        <p:spPr/>
        <p:txBody>
          <a:bodyPr wrap="square"/>
          <a:lstStyle/>
          <a:p>
            <a:pPr>
              <a:spcBef>
                <a:spcPts val="300"/>
              </a:spcBef>
            </a:pPr>
            <a:r>
              <a:rPr sz="3200" b="0">
                <a:solidFill>
                  <a:srgbClr val="000000"/>
                </a:solidFill>
              </a:rPr>
              <a:t>Group 18: Feature Engineering for Time-Series</a:t>
            </a:r>
            <a:endParaRPr lang="en-US" dirty="0"/>
          </a:p>
          <a:p>
            <a:pPr>
              <a:spcBef>
                <a:spcPts val="300"/>
              </a:spcBef>
            </a:pPr>
            <a:r>
              <a:rPr sz="2400" b="0">
                <a:solidFill>
                  <a:srgbClr val="444444"/>
                </a:solidFill>
              </a:rPr>
              <a:t>Hybrid, Automated, and Interpretable Approaches</a:t>
            </a:r>
          </a:p>
        </p:txBody>
      </p:sp>
      <p:sp>
        <p:nvSpPr>
          <p:cNvPr id="4" name="Slide Number Placeholder 3">
            <a:extLst>
              <a:ext uri="{FF2B5EF4-FFF2-40B4-BE49-F238E27FC236}">
                <a16:creationId xmlns:a16="http://schemas.microsoft.com/office/drawing/2014/main" id="{2A113273-9DA4-4FF0-9144-1C123297F9A6}"/>
              </a:ext>
            </a:extLst>
          </p:cNvPr>
          <p:cNvSpPr>
            <a:spLocks noGrp="1"/>
          </p:cNvSpPr>
          <p:nvPr>
            <p:ph type="sldNum" sz="quarter" idx="12"/>
          </p:nvPr>
        </p:nvSpPr>
        <p:spPr/>
        <p:txBody>
          <a:bodyPr/>
          <a:lstStyle/>
          <a:p>
            <a:endParaRPr lang="en-US"/>
          </a:p>
        </p:txBody>
      </p:sp>
      <p:sp>
        <p:nvSpPr>
          <p:cNvPr id="5" name="TextBox 4"/>
          <p:cNvSpPr txBox="1"/>
          <p:nvPr/>
        </p:nvSpPr>
        <p:spPr>
          <a:xfrm>
            <a:off x="1371600" y="3566160"/>
            <a:ext cx="9445752" cy="457200"/>
          </a:xfrm>
          <a:prstGeom prst="rect">
            <a:avLst/>
          </a:prstGeom>
          <a:noFill/>
        </p:spPr>
        <p:txBody>
          <a:bodyPr wrap="square">
            <a:spAutoFit/>
          </a:bodyPr>
          <a:lstStyle/>
          <a:p>
            <a:pPr algn="ctr"/>
            <a:r>
              <a:rPr sz="1800" b="0">
                <a:solidFill>
                  <a:srgbClr val="00853E"/>
                </a:solidFill>
              </a:rPr>
              <a:t>CSCE 5222 Feature Engineering  |  Group 18</a:t>
            </a:r>
          </a:p>
        </p:txBody>
      </p:sp>
      <p:sp>
        <p:nvSpPr>
          <p:cNvPr id="6" name="TextBox 5"/>
          <p:cNvSpPr txBox="1"/>
          <p:nvPr/>
        </p:nvSpPr>
        <p:spPr>
          <a:xfrm>
            <a:off x="1371600" y="4114800"/>
            <a:ext cx="9445752" cy="502920"/>
          </a:xfrm>
          <a:prstGeom prst="rect">
            <a:avLst/>
          </a:prstGeom>
          <a:noFill/>
        </p:spPr>
        <p:txBody>
          <a:bodyPr wrap="square">
            <a:spAutoFit/>
          </a:bodyPr>
          <a:lstStyle/>
          <a:p>
            <a:pPr algn="ctr"/>
            <a:r>
              <a:rPr sz="2000" b="1">
                <a:solidFill>
                  <a:srgbClr val="000000"/>
                </a:solidFill>
              </a:rPr>
              <a:t>Ashish Rathnakar Shetty (ID: 11808466)  ·  Kushal Sai Venigalla (ID: 11852559)</a:t>
            </a:r>
          </a:p>
        </p:txBody>
      </p:sp>
      <p:sp>
        <p:nvSpPr>
          <p:cNvPr id="7" name="TextBox 6"/>
          <p:cNvSpPr txBox="1"/>
          <p:nvPr/>
        </p:nvSpPr>
        <p:spPr>
          <a:xfrm>
            <a:off x="1371600" y="4709160"/>
            <a:ext cx="9445752" cy="411480"/>
          </a:xfrm>
          <a:prstGeom prst="rect">
            <a:avLst/>
          </a:prstGeom>
          <a:noFill/>
        </p:spPr>
        <p:txBody>
          <a:bodyPr wrap="square">
            <a:spAutoFit/>
          </a:bodyPr>
          <a:lstStyle/>
          <a:p>
            <a:pPr algn="ctr"/>
            <a:r>
              <a:rPr sz="1600" b="0">
                <a:solidFill>
                  <a:srgbClr val="444444"/>
                </a:solidFill>
              </a:rPr>
              <a:t>Computer Science and Engineering Department  |  University of North Texas</a:t>
            </a:r>
          </a:p>
        </p:txBody>
      </p:sp>
    </p:spTree>
    <p:extLst>
      <p:ext uri="{BB962C8B-B14F-4D97-AF65-F5344CB8AC3E}">
        <p14:creationId xmlns:p14="http://schemas.microsoft.com/office/powerpoint/2010/main" val="3599590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CDD47-8CBF-6243-545F-A26A2DA89E89}"/>
              </a:ext>
            </a:extLst>
          </p:cNvPr>
          <p:cNvSpPr>
            <a:spLocks noGrp="1"/>
          </p:cNvSpPr>
          <p:nvPr>
            <p:ph type="title"/>
          </p:nvPr>
        </p:nvSpPr>
        <p:spPr/>
        <p:txBody>
          <a:bodyPr wrap="square"/>
          <a:lstStyle/>
          <a:p>
            <a:pPr>
              <a:spcBef>
                <a:spcPts val="300"/>
              </a:spcBef>
            </a:pPr>
            <a:r>
              <a:rPr sz="3600" b="0">
                <a:solidFill>
                  <a:srgbClr val="00853E"/>
                </a:solidFill>
              </a:rPr>
              <a:t>Outline</a:t>
            </a:r>
          </a:p>
        </p:txBody>
      </p:sp>
      <p:sp>
        <p:nvSpPr>
          <p:cNvPr id="3" name="Content Placeholder 2">
            <a:extLst>
              <a:ext uri="{FF2B5EF4-FFF2-40B4-BE49-F238E27FC236}">
                <a16:creationId xmlns:a16="http://schemas.microsoft.com/office/drawing/2014/main" id="{BB75CA95-910C-E848-813D-47509317D7A7}"/>
              </a:ext>
            </a:extLst>
          </p:cNvPr>
          <p:cNvSpPr>
            <a:spLocks noGrp="1"/>
          </p:cNvSpPr>
          <p:nvPr>
            <p:ph idx="1"/>
          </p:nvPr>
        </p:nvSpPr>
        <p:spPr>
          <a:xfrm>
            <a:off x="838200" y="1440873"/>
            <a:ext cx="10515600" cy="5280602"/>
          </a:xfrm>
        </p:spPr>
        <p:txBody>
          <a:bodyPr wrap="square">
            <a:normAutofit fontScale="85000" lnSpcReduction="20000"/>
          </a:bodyPr>
          <a:lstStyle/>
          <a:p>
            <a:pPr marL="0" indent="0">
              <a:spcBef>
                <a:spcPts val="300"/>
              </a:spcBef>
              <a:buNone/>
            </a:pPr>
            <a:r>
              <a:rPr sz="2200" b="1">
                <a:solidFill>
                  <a:srgbClr val="00853E"/>
                </a:solidFill>
              </a:rPr>
              <a:t>Part 1 — Presentation</a:t>
            </a:r>
          </a:p>
          <a:p>
            <a:pPr lvl="1">
              <a:spcBef>
                <a:spcPts val="300"/>
              </a:spcBef>
            </a:pPr>
            <a:r>
              <a:rPr sz="1900" b="0">
                <a:solidFill>
                  <a:srgbClr val="000000"/>
                </a:solidFill>
              </a:rPr>
              <a:t>Recap of Project 1 Proposal</a:t>
            </a:r>
          </a:p>
          <a:p>
            <a:pPr lvl="1">
              <a:spcBef>
                <a:spcPts val="300"/>
              </a:spcBef>
            </a:pPr>
            <a:r>
              <a:rPr sz="1900" b="0">
                <a:solidFill>
                  <a:srgbClr val="000000"/>
                </a:solidFill>
              </a:rPr>
              <a:t>Datasets and Feature Engineering Techniques</a:t>
            </a:r>
          </a:p>
          <a:p>
            <a:pPr lvl="1">
              <a:spcBef>
                <a:spcPts val="300"/>
              </a:spcBef>
            </a:pPr>
            <a:r>
              <a:rPr sz="1900" b="0">
                <a:solidFill>
                  <a:srgbClr val="000000"/>
                </a:solidFill>
              </a:rPr>
              <a:t>Machine Learning Models and Baselines</a:t>
            </a:r>
          </a:p>
          <a:p>
            <a:pPr lvl="1">
              <a:spcBef>
                <a:spcPts val="300"/>
              </a:spcBef>
            </a:pPr>
            <a:r>
              <a:rPr sz="1900" b="0">
                <a:solidFill>
                  <a:srgbClr val="000000"/>
                </a:solidFill>
              </a:rPr>
              <a:t>Results: Classification, Forecasting, Anomaly Detection</a:t>
            </a:r>
          </a:p>
          <a:p>
            <a:pPr lvl="1">
              <a:spcBef>
                <a:spcPts val="300"/>
              </a:spcBef>
            </a:pPr>
            <a:r>
              <a:rPr sz="1900" b="0">
                <a:solidFill>
                  <a:srgbClr val="000000"/>
                </a:solidFill>
              </a:rPr>
              <a:t>Discussion and Conclusion</a:t>
            </a:r>
          </a:p>
          <a:p>
            <a:pPr>
              <a:spcBef>
                <a:spcPts val="300"/>
              </a:spcBef>
            </a:pPr>
            <a:r>
              <a:rPr sz="2200" b="1">
                <a:solidFill>
                  <a:srgbClr val="00853E"/>
                </a:solidFill>
              </a:rPr>
              <a:t>Part 2 — Live Demo (Google Colab Notebook)</a:t>
            </a:r>
          </a:p>
          <a:p>
            <a:pPr lvl="1">
              <a:spcBef>
                <a:spcPts val="300"/>
              </a:spcBef>
            </a:pPr>
            <a:r>
              <a:rPr sz="1900" b="0">
                <a:solidFill>
                  <a:srgbClr val="000000"/>
                </a:solidFill>
              </a:rPr>
              <a:t>Walkthrough of the Catch22 implementation</a:t>
            </a:r>
          </a:p>
          <a:p>
            <a:pPr lvl="1">
              <a:spcBef>
                <a:spcPts val="300"/>
              </a:spcBef>
            </a:pPr>
            <a:r>
              <a:rPr sz="1900" b="0">
                <a:solidFill>
                  <a:srgbClr val="000000"/>
                </a:solidFill>
              </a:rPr>
              <a:t>Live SHAP-guided pruning across all three tasks</a:t>
            </a:r>
          </a:p>
        </p:txBody>
      </p:sp>
      <p:sp>
        <p:nvSpPr>
          <p:cNvPr id="4" name="Slide Number Placeholder 3">
            <a:extLst>
              <a:ext uri="{FF2B5EF4-FFF2-40B4-BE49-F238E27FC236}">
                <a16:creationId xmlns:a16="http://schemas.microsoft.com/office/drawing/2014/main" id="{599B6EA8-E3F4-F65D-84A1-F02E9B02DB92}"/>
              </a:ext>
            </a:extLst>
          </p:cNvPr>
          <p:cNvSpPr>
            <a:spLocks noGrp="1"/>
          </p:cNvSpPr>
          <p:nvPr>
            <p:ph type="sldNum" sz="quarter" idx="12"/>
          </p:nvPr>
        </p:nvSpPr>
        <p:spPr/>
        <p:txBody>
          <a:bodyPr/>
          <a:lstStyle/>
          <a:p>
            <a:fld id="{0A5CBF63-613C-4E8E-B1A0-D710C5F27341}" type="slidenum">
              <a:rPr lang="en-US" smtClean="0"/>
              <a:t>2</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41732151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78BF8-83E2-B2A4-2068-DF5A7CC027A3}"/>
              </a:ext>
            </a:extLst>
          </p:cNvPr>
          <p:cNvSpPr>
            <a:spLocks noGrp="1"/>
          </p:cNvSpPr>
          <p:nvPr>
            <p:ph type="title"/>
          </p:nvPr>
        </p:nvSpPr>
        <p:spPr/>
        <p:txBody>
          <a:bodyPr wrap="square"/>
          <a:lstStyle/>
          <a:p>
            <a:pPr>
              <a:spcBef>
                <a:spcPts val="300"/>
              </a:spcBef>
            </a:pPr>
            <a:r>
              <a:rPr sz="3400" b="0">
                <a:solidFill>
                  <a:srgbClr val="00853E"/>
                </a:solidFill>
              </a:rPr>
              <a:t>Recap of Project 1 Proposal</a:t>
            </a:r>
          </a:p>
        </p:txBody>
      </p:sp>
      <p:sp>
        <p:nvSpPr>
          <p:cNvPr id="3" name="Content Placeholder 2">
            <a:extLst>
              <a:ext uri="{FF2B5EF4-FFF2-40B4-BE49-F238E27FC236}">
                <a16:creationId xmlns:a16="http://schemas.microsoft.com/office/drawing/2014/main" id="{F93C1F33-7B7E-9D90-EF13-666DE0999804}"/>
              </a:ext>
            </a:extLst>
          </p:cNvPr>
          <p:cNvSpPr>
            <a:spLocks noGrp="1"/>
          </p:cNvSpPr>
          <p:nvPr>
            <p:ph idx="1"/>
          </p:nvPr>
        </p:nvSpPr>
        <p:spPr/>
        <p:txBody>
          <a:bodyPr wrap="square"/>
          <a:lstStyle/>
          <a:p>
            <a:pPr>
              <a:spcBef>
                <a:spcPts val="300"/>
              </a:spcBef>
            </a:pPr>
            <a:r>
              <a:rPr sz="1900" b="0">
                <a:solidFill>
                  <a:srgbClr val="000000"/>
                </a:solidFill>
              </a:rPr>
              <a:t>Problem: Extracting meaningful features from time-series is a bottleneck.</a:t>
            </a:r>
          </a:p>
          <a:p>
            <a:pPr>
              <a:spcBef>
                <a:spcPts val="300"/>
              </a:spcBef>
            </a:pPr>
            <a:r>
              <a:rPr sz="1900" b="0">
                <a:solidFill>
                  <a:srgbClr val="000000"/>
                </a:solidFill>
              </a:rPr>
              <a:t>Motivation: Deep learning is powerful but slow and hard to interpret.</a:t>
            </a:r>
          </a:p>
          <a:p>
            <a:pPr>
              <a:spcBef>
                <a:spcPts val="300"/>
              </a:spcBef>
            </a:pPr>
            <a:r>
              <a:rPr sz="1900" b="0">
                <a:solidFill>
                  <a:srgbClr val="000000"/>
                </a:solidFill>
              </a:rPr>
              <a:t>We surveyed 5 papers (2024–2025): COCALITE, SPLiT, PPG Anomaly, Lag, AutoFE-XAI.</a:t>
            </a:r>
          </a:p>
          <a:p>
            <a:pPr>
              <a:spcBef>
                <a:spcPts val="300"/>
              </a:spcBef>
            </a:pPr>
            <a:r>
              <a:rPr sz="1900" b="0">
                <a:solidFill>
                  <a:srgbClr val="000000"/>
                </a:solidFill>
              </a:rPr>
              <a:t>Three datasets: UCR (classification), ETTh1 (forecasting), WESAD-like (anomaly).</a:t>
            </a:r>
          </a:p>
          <a:p>
            <a:pPr>
              <a:spcBef>
                <a:spcPts val="300"/>
              </a:spcBef>
            </a:pPr>
            <a:r>
              <a:rPr sz="2100" b="1">
                <a:solidFill>
                  <a:srgbClr val="00853E"/>
                </a:solidFill>
              </a:rPr>
              <a:t>Phase 1 Feedback Addressed:</a:t>
            </a:r>
          </a:p>
          <a:p>
            <a:pPr lvl="1">
              <a:spcBef>
                <a:spcPts val="300"/>
              </a:spcBef>
            </a:pPr>
            <a:r>
              <a:rPr sz="1800" b="0">
                <a:solidFill>
                  <a:srgbClr val="000000"/>
                </a:solidFill>
              </a:rPr>
              <a:t>Group Number 18 added to all submissions</a:t>
            </a:r>
          </a:p>
          <a:p>
            <a:pPr lvl="1">
              <a:spcBef>
                <a:spcPts val="300"/>
              </a:spcBef>
            </a:pPr>
            <a:r>
              <a:rPr sz="1800" b="0">
                <a:solidFill>
                  <a:srgbClr val="000000"/>
                </a:solidFill>
              </a:rPr>
              <a:t>Evaluations clearly separated by task; explicit baselines defined</a:t>
            </a:r>
          </a:p>
          <a:p>
            <a:pPr lvl="1">
              <a:spcBef>
                <a:spcPts val="300"/>
              </a:spcBef>
            </a:pPr>
            <a:r>
              <a:rPr sz="1800" b="0">
                <a:solidFill>
                  <a:srgbClr val="000000"/>
                </a:solidFill>
              </a:rPr>
              <a:t>Methodology flowchart completed (was incomplete in Phase 1)</a:t>
            </a:r>
          </a:p>
        </p:txBody>
      </p:sp>
      <p:sp>
        <p:nvSpPr>
          <p:cNvPr id="4" name="Slide Number Placeholder 3">
            <a:extLst>
              <a:ext uri="{FF2B5EF4-FFF2-40B4-BE49-F238E27FC236}">
                <a16:creationId xmlns:a16="http://schemas.microsoft.com/office/drawing/2014/main" id="{22B0E182-E09F-C7DA-E140-4ABF72CCF599}"/>
              </a:ext>
            </a:extLst>
          </p:cNvPr>
          <p:cNvSpPr>
            <a:spLocks noGrp="1"/>
          </p:cNvSpPr>
          <p:nvPr>
            <p:ph type="sldNum" sz="quarter" idx="12"/>
          </p:nvPr>
        </p:nvSpPr>
        <p:spPr/>
        <p:txBody>
          <a:bodyPr/>
          <a:lstStyle/>
          <a:p>
            <a:fld id="{0A5CBF63-613C-4E8E-B1A0-D710C5F27341}" type="slidenum">
              <a:rPr lang="en-US" smtClean="0"/>
              <a:t>3</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70628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78BF8-83E2-B2A4-2068-DF5A7CC027A3}"/>
              </a:ext>
            </a:extLst>
          </p:cNvPr>
          <p:cNvSpPr>
            <a:spLocks noGrp="1"/>
          </p:cNvSpPr>
          <p:nvPr>
            <p:ph type="title"/>
          </p:nvPr>
        </p:nvSpPr>
        <p:spPr/>
        <p:txBody>
          <a:bodyPr wrap="square"/>
          <a:lstStyle/>
          <a:p>
            <a:pPr>
              <a:spcBef>
                <a:spcPts val="300"/>
              </a:spcBef>
            </a:pPr>
            <a:r>
              <a:rPr sz="3200" b="0">
                <a:solidFill>
                  <a:srgbClr val="00853E"/>
                </a:solidFill>
              </a:rPr>
              <a:t>Datasets and Feature Engineering</a:t>
            </a:r>
          </a:p>
        </p:txBody>
      </p:sp>
      <p:sp>
        <p:nvSpPr>
          <p:cNvPr id="3" name="Content Placeholder 2">
            <a:extLst>
              <a:ext uri="{FF2B5EF4-FFF2-40B4-BE49-F238E27FC236}">
                <a16:creationId xmlns:a16="http://schemas.microsoft.com/office/drawing/2014/main" id="{F93C1F33-7B7E-9D90-EF13-666DE0999804}"/>
              </a:ext>
            </a:extLst>
          </p:cNvPr>
          <p:cNvSpPr>
            <a:spLocks noGrp="1"/>
          </p:cNvSpPr>
          <p:nvPr>
            <p:ph idx="1"/>
          </p:nvPr>
        </p:nvSpPr>
        <p:spPr/>
        <p:txBody>
          <a:bodyPr wrap="square"/>
          <a:lstStyle/>
          <a:p>
            <a:pPr>
              <a:spcBef>
                <a:spcPts val="300"/>
              </a:spcBef>
            </a:pPr>
            <a:r>
              <a:rPr sz="2100" b="1">
                <a:solidFill>
                  <a:srgbClr val="00853E"/>
                </a:solidFill>
              </a:rPr>
              <a:t>Datasets</a:t>
            </a:r>
          </a:p>
          <a:p>
            <a:pPr lvl="1">
              <a:spcBef>
                <a:spcPts val="300"/>
              </a:spcBef>
            </a:pPr>
            <a:r>
              <a:rPr sz="1700" b="0">
                <a:solidFill>
                  <a:srgbClr val="000000"/>
                </a:solidFill>
              </a:rPr>
              <a:t>UCR (classification): GunPoint, ECG200, ItalyPowerDemand, SyntheticControl, TwoLeadECG</a:t>
            </a:r>
          </a:p>
          <a:p>
            <a:pPr lvl="1">
              <a:spcBef>
                <a:spcPts val="300"/>
              </a:spcBef>
            </a:pPr>
            <a:r>
              <a:rPr sz="1700" b="0">
                <a:solidFill>
                  <a:srgbClr val="000000"/>
                </a:solidFill>
              </a:rPr>
              <a:t>ETTh1 (forecasting): 17,420 hourly readings, 7 sensor variables, target = Oil Temperature</a:t>
            </a:r>
          </a:p>
          <a:p>
            <a:pPr lvl="1">
              <a:spcBef>
                <a:spcPts val="300"/>
              </a:spcBef>
            </a:pPr>
            <a:r>
              <a:rPr sz="1700" b="0">
                <a:solidFill>
                  <a:srgbClr val="000000"/>
                </a:solidFill>
              </a:rPr>
              <a:t>WESAD-like PPG (anomaly): 2,000-sample BVP signal with injected anomalies (15.9% rate)</a:t>
            </a:r>
          </a:p>
          <a:p>
            <a:pPr>
              <a:spcBef>
                <a:spcPts val="300"/>
              </a:spcBef>
            </a:pPr>
            <a:r>
              <a:rPr sz="2100" b="1">
                <a:solidFill>
                  <a:srgbClr val="00853E"/>
                </a:solidFill>
              </a:rPr>
              <a:t>Four Feature Engineering Strategies</a:t>
            </a:r>
          </a:p>
          <a:p>
            <a:pPr lvl="1">
              <a:spcBef>
                <a:spcPts val="300"/>
              </a:spcBef>
            </a:pPr>
            <a:r>
              <a:rPr sz="1700" b="0">
                <a:solidFill>
                  <a:srgbClr val="000000"/>
                </a:solidFill>
              </a:rPr>
              <a:t>Catch22 — 22 canonical features implemented from scratch in pure NumPy</a:t>
            </a:r>
          </a:p>
          <a:p>
            <a:pPr lvl="1">
              <a:spcBef>
                <a:spcPts val="300"/>
              </a:spcBef>
            </a:pPr>
            <a:r>
              <a:rPr sz="1700" b="0">
                <a:solidFill>
                  <a:srgbClr val="000000"/>
                </a:solidFill>
              </a:rPr>
              <a:t>Lag + Rolling Statistics — lags 1 to 24 + rolling mean/std/min/max over 4 windows</a:t>
            </a:r>
          </a:p>
          <a:p>
            <a:pPr lvl="1">
              <a:spcBef>
                <a:spcPts val="300"/>
              </a:spcBef>
            </a:pPr>
            <a:r>
              <a:rPr sz="1700" b="0">
                <a:solidFill>
                  <a:srgbClr val="000000"/>
                </a:solidFill>
              </a:rPr>
              <a:t>Self-Supervised MLP Embeddings — 32-unit MLP predicts x[t] from x[t-24:t]</a:t>
            </a:r>
          </a:p>
          <a:p>
            <a:pPr lvl="1">
              <a:spcBef>
                <a:spcPts val="300"/>
              </a:spcBef>
            </a:pPr>
            <a:r>
              <a:rPr sz="1700" b="0">
                <a:solidFill>
                  <a:srgbClr val="000000"/>
                </a:solidFill>
              </a:rPr>
              <a:t>SHAP-Guided Pruning — keep top 55–60% of features by mean |SHAP| value</a:t>
            </a:r>
          </a:p>
        </p:txBody>
      </p:sp>
      <p:sp>
        <p:nvSpPr>
          <p:cNvPr id="4" name="Slide Number Placeholder 3">
            <a:extLst>
              <a:ext uri="{FF2B5EF4-FFF2-40B4-BE49-F238E27FC236}">
                <a16:creationId xmlns:a16="http://schemas.microsoft.com/office/drawing/2014/main" id="{22B0E182-E09F-C7DA-E140-4ABF72CCF599}"/>
              </a:ext>
            </a:extLst>
          </p:cNvPr>
          <p:cNvSpPr>
            <a:spLocks noGrp="1"/>
          </p:cNvSpPr>
          <p:nvPr>
            <p:ph type="sldNum" sz="quarter" idx="12"/>
          </p:nvPr>
        </p:nvSpPr>
        <p:spPr/>
        <p:txBody>
          <a:bodyPr/>
          <a:lstStyle/>
          <a:p>
            <a:fld id="{0A5CBF63-613C-4E8E-B1A0-D710C5F27341}" type="slidenum">
              <a:rPr lang="en-US" smtClean="0"/>
              <a:t>4</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0489077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9164E-84E8-4FB2-8051-CB230F6D915C}"/>
              </a:ext>
            </a:extLst>
          </p:cNvPr>
          <p:cNvSpPr>
            <a:spLocks noGrp="1"/>
          </p:cNvSpPr>
          <p:nvPr>
            <p:ph type="title"/>
          </p:nvPr>
        </p:nvSpPr>
        <p:spPr/>
        <p:txBody>
          <a:bodyPr wrap="square"/>
          <a:lstStyle/>
          <a:p>
            <a:pPr>
              <a:spcBef>
                <a:spcPts val="300"/>
              </a:spcBef>
            </a:pPr>
            <a:r>
              <a:rPr sz="3600" b="0">
                <a:solidFill>
                  <a:srgbClr val="00853E"/>
                </a:solidFill>
              </a:rPr>
              <a:t>Methodology Pipeline</a:t>
            </a:r>
          </a:p>
        </p:txBody>
      </p:sp>
      <p:sp>
        <p:nvSpPr>
          <p:cNvPr id="3" name="Content Placeholder 2">
            <a:extLst>
              <a:ext uri="{FF2B5EF4-FFF2-40B4-BE49-F238E27FC236}">
                <a16:creationId xmlns:a16="http://schemas.microsoft.com/office/drawing/2014/main" id="{613B13FA-5386-4E73-BB44-9A898AA7B251}"/>
              </a:ext>
            </a:extLst>
          </p:cNvPr>
          <p:cNvSpPr>
            <a:spLocks noGrp="1"/>
          </p:cNvSpPr>
          <p:nvPr>
            <p:ph idx="1"/>
          </p:nvPr>
        </p:nvSpPr>
        <p:spPr>
          <a:xfrm>
            <a:off x="18288000" y="18288000"/>
            <a:ext cx="91440" cy="91440"/>
          </a:xfrm>
        </p:spPr>
        <p:txBody>
          <a:bodyPr/>
          <a:lstStyle/>
          <a:p/>
        </p:txBody>
      </p:sp>
      <p:sp>
        <p:nvSpPr>
          <p:cNvPr id="4" name="Slide Number Placeholder 3">
            <a:extLst>
              <a:ext uri="{FF2B5EF4-FFF2-40B4-BE49-F238E27FC236}">
                <a16:creationId xmlns:a16="http://schemas.microsoft.com/office/drawing/2014/main" id="{4622CC70-E94D-443E-911C-FC4AEB22D28F}"/>
              </a:ext>
            </a:extLst>
          </p:cNvPr>
          <p:cNvSpPr>
            <a:spLocks noGrp="1"/>
          </p:cNvSpPr>
          <p:nvPr>
            <p:ph type="sldNum" sz="quarter" idx="12"/>
          </p:nvPr>
        </p:nvSpPr>
        <p:spPr/>
        <p:txBody>
          <a:bodyPr/>
          <a:lstStyle/>
          <a:p>
            <a:fld id="{0A5CBF63-613C-4E8E-B1A0-D710C5F27341}" type="slidenum">
              <a:rPr lang="en-US" smtClean="0"/>
              <a:t>5</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1_pipeline_flowchart.png"/>
          <p:cNvPicPr>
            <a:picLocks noChangeAspect="1"/>
          </p:cNvPicPr>
          <p:nvPr/>
        </p:nvPicPr>
        <p:blipFill>
          <a:blip r:embed="rId2"/>
          <a:stretch>
            <a:fillRect/>
          </a:stretch>
        </p:blipFill>
        <p:spPr>
          <a:xfrm>
            <a:off x="457200" y="1554480"/>
            <a:ext cx="11247120" cy="5120640"/>
          </a:xfrm>
          <a:prstGeom prst="rect">
            <a:avLst/>
          </a:prstGeom>
        </p:spPr>
      </p:pic>
    </p:spTree>
    <p:extLst>
      <p:ext uri="{BB962C8B-B14F-4D97-AF65-F5344CB8AC3E}">
        <p14:creationId xmlns:p14="http://schemas.microsoft.com/office/powerpoint/2010/main" val="33713600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78BF8-83E2-B2A4-2068-DF5A7CC027A3}"/>
              </a:ext>
            </a:extLst>
          </p:cNvPr>
          <p:cNvSpPr>
            <a:spLocks noGrp="1"/>
          </p:cNvSpPr>
          <p:nvPr>
            <p:ph type="title"/>
          </p:nvPr>
        </p:nvSpPr>
        <p:spPr/>
        <p:txBody>
          <a:bodyPr wrap="square"/>
          <a:lstStyle/>
          <a:p>
            <a:pPr>
              <a:spcBef>
                <a:spcPts val="300"/>
              </a:spcBef>
            </a:pPr>
            <a:r>
              <a:rPr sz="3000" b="0">
                <a:solidFill>
                  <a:srgbClr val="00853E"/>
                </a:solidFill>
              </a:rPr>
              <a:t>Machine Learning Models and Baselines</a:t>
            </a:r>
          </a:p>
        </p:txBody>
      </p:sp>
      <p:sp>
        <p:nvSpPr>
          <p:cNvPr id="3" name="Content Placeholder 2">
            <a:extLst>
              <a:ext uri="{FF2B5EF4-FFF2-40B4-BE49-F238E27FC236}">
                <a16:creationId xmlns:a16="http://schemas.microsoft.com/office/drawing/2014/main" id="{F93C1F33-7B7E-9D90-EF13-666DE0999804}"/>
              </a:ext>
            </a:extLst>
          </p:cNvPr>
          <p:cNvSpPr>
            <a:spLocks noGrp="1"/>
          </p:cNvSpPr>
          <p:nvPr>
            <p:ph idx="1"/>
          </p:nvPr>
        </p:nvSpPr>
        <p:spPr/>
        <p:txBody>
          <a:bodyPr wrap="square"/>
          <a:lstStyle/>
          <a:p>
            <a:pPr>
              <a:spcBef>
                <a:spcPts val="300"/>
              </a:spcBef>
            </a:pPr>
            <a:r>
              <a:rPr sz="2100" b="1">
                <a:solidFill>
                  <a:srgbClr val="00853E"/>
                </a:solidFill>
              </a:rPr>
              <a:t>Classification</a:t>
            </a:r>
          </a:p>
          <a:p>
            <a:pPr lvl="1">
              <a:spcBef>
                <a:spcPts val="300"/>
              </a:spcBef>
            </a:pPr>
            <a:r>
              <a:rPr sz="1800" b="0">
                <a:solidFill>
                  <a:srgbClr val="000000"/>
                </a:solidFill>
              </a:rPr>
              <a:t>Baseline: GradientBoosting on raw time-series (first 50 steps)</a:t>
            </a:r>
          </a:p>
          <a:p>
            <a:pPr lvl="1">
              <a:spcBef>
                <a:spcPts val="300"/>
              </a:spcBef>
            </a:pPr>
            <a:r>
              <a:rPr sz="1800" b="0">
                <a:solidFill>
                  <a:srgbClr val="000000"/>
                </a:solidFill>
              </a:rPr>
              <a:t>Proposed: GradientBoosting on Catch22 → SHAP-pruned  |  Metrics: Accuracy, F1</a:t>
            </a:r>
          </a:p>
          <a:p>
            <a:pPr>
              <a:spcBef>
                <a:spcPts val="300"/>
              </a:spcBef>
            </a:pPr>
            <a:r>
              <a:rPr sz="2100" b="1">
                <a:solidFill>
                  <a:srgbClr val="00853E"/>
                </a:solidFill>
              </a:rPr>
              <a:t>Forecasting</a:t>
            </a:r>
          </a:p>
          <a:p>
            <a:pPr lvl="1">
              <a:spcBef>
                <a:spcPts val="300"/>
              </a:spcBef>
            </a:pPr>
            <a:r>
              <a:rPr sz="1800" b="0">
                <a:solidFill>
                  <a:srgbClr val="000000"/>
                </a:solidFill>
              </a:rPr>
              <a:t>Baseline: Ridge Regression on lag-1 only</a:t>
            </a:r>
          </a:p>
          <a:p>
            <a:pPr lvl="1">
              <a:spcBef>
                <a:spcPts val="300"/>
              </a:spcBef>
            </a:pPr>
            <a:r>
              <a:rPr sz="1800" b="0">
                <a:solidFill>
                  <a:srgbClr val="000000"/>
                </a:solidFill>
              </a:rPr>
              <a:t>Proposed: GradientBoosting on Lag+Rolling+Embeddings → SHAP pruned  |  MSE, MAE</a:t>
            </a:r>
          </a:p>
          <a:p>
            <a:pPr>
              <a:spcBef>
                <a:spcPts val="300"/>
              </a:spcBef>
            </a:pPr>
            <a:r>
              <a:rPr sz="2100" b="1">
                <a:solidFill>
                  <a:srgbClr val="00853E"/>
                </a:solidFill>
              </a:rPr>
              <a:t>Anomaly Detection</a:t>
            </a:r>
          </a:p>
          <a:p>
            <a:pPr lvl="1">
              <a:spcBef>
                <a:spcPts val="300"/>
              </a:spcBef>
            </a:pPr>
            <a:r>
              <a:rPr sz="1800" b="0">
                <a:solidFill>
                  <a:srgbClr val="000000"/>
                </a:solidFill>
              </a:rPr>
              <a:t>Baseline: Isolation Forest on raw 50-sample windows</a:t>
            </a:r>
          </a:p>
          <a:p>
            <a:pPr lvl="1">
              <a:spcBef>
                <a:spcPts val="300"/>
              </a:spcBef>
            </a:pPr>
            <a:r>
              <a:rPr sz="1800" b="0">
                <a:solidFill>
                  <a:srgbClr val="000000"/>
                </a:solidFill>
              </a:rPr>
              <a:t>Proposed: Isolation Forest on Catch22 → SHAP-selected  |  F1, AUC</a:t>
            </a:r>
          </a:p>
        </p:txBody>
      </p:sp>
      <p:sp>
        <p:nvSpPr>
          <p:cNvPr id="4" name="Slide Number Placeholder 3">
            <a:extLst>
              <a:ext uri="{FF2B5EF4-FFF2-40B4-BE49-F238E27FC236}">
                <a16:creationId xmlns:a16="http://schemas.microsoft.com/office/drawing/2014/main" id="{22B0E182-E09F-C7DA-E140-4ABF72CCF599}"/>
              </a:ext>
            </a:extLst>
          </p:cNvPr>
          <p:cNvSpPr>
            <a:spLocks noGrp="1"/>
          </p:cNvSpPr>
          <p:nvPr>
            <p:ph type="sldNum" sz="quarter" idx="12"/>
          </p:nvPr>
        </p:nvSpPr>
        <p:spPr/>
        <p:txBody>
          <a:bodyPr/>
          <a:lstStyle/>
          <a:p>
            <a:fld id="{0A5CBF63-613C-4E8E-B1A0-D710C5F27341}" type="slidenum">
              <a:rPr lang="en-US" smtClean="0"/>
              <a:t>6</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2860921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9164E-84E8-4FB2-8051-CB230F6D915C}"/>
              </a:ext>
            </a:extLst>
          </p:cNvPr>
          <p:cNvSpPr>
            <a:spLocks noGrp="1"/>
          </p:cNvSpPr>
          <p:nvPr>
            <p:ph type="title"/>
          </p:nvPr>
        </p:nvSpPr>
        <p:spPr/>
        <p:txBody>
          <a:bodyPr wrap="square"/>
          <a:lstStyle/>
          <a:p>
            <a:pPr>
              <a:spcBef>
                <a:spcPts val="300"/>
              </a:spcBef>
            </a:pPr>
            <a:r>
              <a:rPr sz="3000" b="0">
                <a:solidFill>
                  <a:srgbClr val="00853E"/>
                </a:solidFill>
              </a:rPr>
              <a:t>Results: Classification (UCR Datasets)</a:t>
            </a:r>
          </a:p>
        </p:txBody>
      </p:sp>
      <p:sp>
        <p:nvSpPr>
          <p:cNvPr id="3" name="Content Placeholder 2">
            <a:extLst>
              <a:ext uri="{FF2B5EF4-FFF2-40B4-BE49-F238E27FC236}">
                <a16:creationId xmlns:a16="http://schemas.microsoft.com/office/drawing/2014/main" id="{613B13FA-5386-4E73-BB44-9A898AA7B251}"/>
              </a:ext>
            </a:extLst>
          </p:cNvPr>
          <p:cNvSpPr>
            <a:spLocks noGrp="1"/>
          </p:cNvSpPr>
          <p:nvPr>
            <p:ph idx="1"/>
          </p:nvPr>
        </p:nvSpPr>
        <p:spPr>
          <a:xfrm>
            <a:off x="18288000" y="18288000"/>
            <a:ext cx="91440" cy="91440"/>
          </a:xfrm>
        </p:spPr>
        <p:txBody>
          <a:bodyPr/>
          <a:lstStyle/>
          <a:p/>
        </p:txBody>
      </p:sp>
      <p:sp>
        <p:nvSpPr>
          <p:cNvPr id="4" name="Slide Number Placeholder 3">
            <a:extLst>
              <a:ext uri="{FF2B5EF4-FFF2-40B4-BE49-F238E27FC236}">
                <a16:creationId xmlns:a16="http://schemas.microsoft.com/office/drawing/2014/main" id="{4622CC70-E94D-443E-911C-FC4AEB22D28F}"/>
              </a:ext>
            </a:extLst>
          </p:cNvPr>
          <p:cNvSpPr>
            <a:spLocks noGrp="1"/>
          </p:cNvSpPr>
          <p:nvPr>
            <p:ph type="sldNum" sz="quarter" idx="12"/>
          </p:nvPr>
        </p:nvSpPr>
        <p:spPr/>
        <p:txBody>
          <a:bodyPr/>
          <a:lstStyle/>
          <a:p>
            <a:fld id="{0A5CBF63-613C-4E8E-B1A0-D710C5F27341}" type="slidenum">
              <a:rPr lang="en-US" smtClean="0"/>
              <a:t>7</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_classification_accuracy.png"/>
          <p:cNvPicPr>
            <a:picLocks noChangeAspect="1"/>
          </p:cNvPicPr>
          <p:nvPr/>
        </p:nvPicPr>
        <p:blipFill>
          <a:blip r:embed="rId2"/>
          <a:stretch>
            <a:fillRect/>
          </a:stretch>
        </p:blipFill>
        <p:spPr>
          <a:xfrm>
            <a:off x="365760" y="1554480"/>
            <a:ext cx="7772400" cy="4114800"/>
          </a:xfrm>
          <a:prstGeom prst="rect">
            <a:avLst/>
          </a:prstGeom>
        </p:spPr>
      </p:pic>
      <p:sp>
        <p:nvSpPr>
          <p:cNvPr id="7" name="TextBox 6"/>
          <p:cNvSpPr txBox="1"/>
          <p:nvPr/>
        </p:nvSpPr>
        <p:spPr>
          <a:xfrm>
            <a:off x="8321040" y="1645920"/>
            <a:ext cx="3657600" cy="365760"/>
          </a:xfrm>
          <a:prstGeom prst="rect">
            <a:avLst/>
          </a:prstGeom>
          <a:noFill/>
        </p:spPr>
        <p:txBody>
          <a:bodyPr wrap="square">
            <a:spAutoFit/>
          </a:bodyPr>
          <a:lstStyle/>
          <a:p>
            <a:pPr algn="l"/>
            <a:r>
              <a:rPr sz="1700" b="1">
                <a:solidFill>
                  <a:srgbClr val="00853E"/>
                </a:solidFill>
              </a:rPr>
              <a:t>Key Findings:</a:t>
            </a:r>
          </a:p>
        </p:txBody>
      </p:sp>
      <p:sp>
        <p:nvSpPr>
          <p:cNvPr id="8" name="TextBox 7"/>
          <p:cNvSpPr txBox="1"/>
          <p:nvPr/>
        </p:nvSpPr>
        <p:spPr>
          <a:xfrm>
            <a:off x="8321040" y="2103120"/>
            <a:ext cx="3657600" cy="384048"/>
          </a:xfrm>
          <a:prstGeom prst="rect">
            <a:avLst/>
          </a:prstGeom>
          <a:noFill/>
        </p:spPr>
        <p:txBody>
          <a:bodyPr wrap="square">
            <a:spAutoFit/>
          </a:bodyPr>
          <a:lstStyle/>
          <a:p>
            <a:pPr algn="l"/>
            <a:r>
              <a:rPr sz="1400" b="1">
                <a:solidFill>
                  <a:srgbClr val="00853E"/>
                </a:solidFill>
              </a:rPr>
              <a:t>• SyntheticControl: SHAP +9.3%</a:t>
            </a:r>
          </a:p>
        </p:txBody>
      </p:sp>
      <p:sp>
        <p:nvSpPr>
          <p:cNvPr id="9" name="TextBox 8"/>
          <p:cNvSpPr txBox="1"/>
          <p:nvPr/>
        </p:nvSpPr>
        <p:spPr>
          <a:xfrm>
            <a:off x="8321040" y="2514600"/>
            <a:ext cx="3657600" cy="384048"/>
          </a:xfrm>
          <a:prstGeom prst="rect">
            <a:avLst/>
          </a:prstGeom>
          <a:noFill/>
        </p:spPr>
        <p:txBody>
          <a:bodyPr wrap="square">
            <a:spAutoFit/>
          </a:bodyPr>
          <a:lstStyle/>
          <a:p>
            <a:pPr algn="l"/>
            <a:r>
              <a:rPr sz="1400" b="1">
                <a:solidFill>
                  <a:srgbClr val="00853E"/>
                </a:solidFill>
              </a:rPr>
              <a:t>• TwoLeadECG: Catch22 +8.8%</a:t>
            </a:r>
          </a:p>
        </p:txBody>
      </p:sp>
      <p:sp>
        <p:nvSpPr>
          <p:cNvPr id="10" name="TextBox 9"/>
          <p:cNvSpPr txBox="1"/>
          <p:nvPr/>
        </p:nvSpPr>
        <p:spPr>
          <a:xfrm>
            <a:off x="8321040" y="2926079"/>
            <a:ext cx="3657600" cy="384048"/>
          </a:xfrm>
          <a:prstGeom prst="rect">
            <a:avLst/>
          </a:prstGeom>
          <a:noFill/>
        </p:spPr>
        <p:txBody>
          <a:bodyPr wrap="square">
            <a:spAutoFit/>
          </a:bodyPr>
          <a:lstStyle/>
          <a:p>
            <a:pPr algn="l"/>
            <a:r>
              <a:rPr sz="1400" b="1">
                <a:solidFill>
                  <a:srgbClr val="00853E"/>
                </a:solidFill>
              </a:rPr>
              <a:t>• ECG200: Catch22 +5.0%</a:t>
            </a:r>
          </a:p>
        </p:txBody>
      </p:sp>
      <p:sp>
        <p:nvSpPr>
          <p:cNvPr id="11" name="TextBox 10"/>
          <p:cNvSpPr txBox="1"/>
          <p:nvPr/>
        </p:nvSpPr>
        <p:spPr>
          <a:xfrm>
            <a:off x="8321040" y="3337560"/>
            <a:ext cx="3657600" cy="384048"/>
          </a:xfrm>
          <a:prstGeom prst="rect">
            <a:avLst/>
          </a:prstGeom>
          <a:noFill/>
        </p:spPr>
        <p:txBody>
          <a:bodyPr wrap="square">
            <a:spAutoFit/>
          </a:bodyPr>
          <a:lstStyle/>
          <a:p>
            <a:pPr algn="l"/>
            <a:r>
              <a:rPr sz="1400" b="0">
                <a:solidFill>
                  <a:srgbClr val="444444"/>
                </a:solidFill>
              </a:rPr>
              <a:t>• ItalyPowerDemand: Raw wins</a:t>
            </a:r>
          </a:p>
        </p:txBody>
      </p:sp>
      <p:sp>
        <p:nvSpPr>
          <p:cNvPr id="12" name="TextBox 11"/>
          <p:cNvSpPr txBox="1"/>
          <p:nvPr/>
        </p:nvSpPr>
        <p:spPr>
          <a:xfrm>
            <a:off x="8321040" y="3749039"/>
            <a:ext cx="3657600" cy="384048"/>
          </a:xfrm>
          <a:prstGeom prst="rect">
            <a:avLst/>
          </a:prstGeom>
          <a:noFill/>
        </p:spPr>
        <p:txBody>
          <a:bodyPr wrap="square">
            <a:spAutoFit/>
          </a:bodyPr>
          <a:lstStyle/>
          <a:p>
            <a:pPr algn="l"/>
            <a:r>
              <a:rPr sz="1400" b="0">
                <a:solidFill>
                  <a:srgbClr val="444444"/>
                </a:solidFill>
              </a:rPr>
              <a:t>• (local timing event missed</a:t>
            </a:r>
          </a:p>
        </p:txBody>
      </p:sp>
      <p:sp>
        <p:nvSpPr>
          <p:cNvPr id="13" name="TextBox 12"/>
          <p:cNvSpPr txBox="1"/>
          <p:nvPr/>
        </p:nvSpPr>
        <p:spPr>
          <a:xfrm>
            <a:off x="8321040" y="4160520"/>
            <a:ext cx="3657600" cy="384048"/>
          </a:xfrm>
          <a:prstGeom prst="rect">
            <a:avLst/>
          </a:prstGeom>
          <a:noFill/>
        </p:spPr>
        <p:txBody>
          <a:bodyPr wrap="square">
            <a:spAutoFit/>
          </a:bodyPr>
          <a:lstStyle/>
          <a:p>
            <a:pPr algn="l"/>
            <a:r>
              <a:rPr sz="1400" b="0">
                <a:solidFill>
                  <a:srgbClr val="444444"/>
                </a:solidFill>
              </a:rPr>
              <a:t>• by global statistics)</a:t>
            </a:r>
          </a:p>
        </p:txBody>
      </p:sp>
      <p:sp>
        <p:nvSpPr>
          <p:cNvPr id="14" name="TextBox 13"/>
          <p:cNvSpPr txBox="1"/>
          <p:nvPr/>
        </p:nvSpPr>
        <p:spPr>
          <a:xfrm>
            <a:off x="8321040" y="4572000"/>
            <a:ext cx="3657600" cy="384048"/>
          </a:xfrm>
          <a:prstGeom prst="rect">
            <a:avLst/>
          </a:prstGeom>
          <a:noFill/>
        </p:spPr>
        <p:txBody>
          <a:bodyPr wrap="square">
            <a:spAutoFit/>
          </a:bodyPr>
          <a:lstStyle/>
          <a:p>
            <a:pPr algn="l"/>
            <a:r>
              <a:rPr sz="1400" b="0">
                <a:solidFill>
                  <a:srgbClr val="000000"/>
                </a:solidFill>
              </a:rPr>
              <a:t>• SHAP pruning: 9/22 removed,</a:t>
            </a:r>
          </a:p>
        </p:txBody>
      </p:sp>
      <p:sp>
        <p:nvSpPr>
          <p:cNvPr id="15" name="TextBox 14"/>
          <p:cNvSpPr txBox="1"/>
          <p:nvPr/>
        </p:nvSpPr>
        <p:spPr>
          <a:xfrm>
            <a:off x="8321040" y="4983479"/>
            <a:ext cx="3657600" cy="384048"/>
          </a:xfrm>
          <a:prstGeom prst="rect">
            <a:avLst/>
          </a:prstGeom>
          <a:noFill/>
        </p:spPr>
        <p:txBody>
          <a:bodyPr wrap="square">
            <a:spAutoFit/>
          </a:bodyPr>
          <a:lstStyle/>
          <a:p>
            <a:pPr algn="l"/>
            <a:r>
              <a:rPr sz="1400" b="0">
                <a:solidFill>
                  <a:srgbClr val="000000"/>
                </a:solidFill>
              </a:rPr>
              <a:t>• zero accuracy loss</a:t>
            </a:r>
          </a:p>
        </p:txBody>
      </p:sp>
    </p:spTree>
    <p:extLst>
      <p:ext uri="{BB962C8B-B14F-4D97-AF65-F5344CB8AC3E}">
        <p14:creationId xmlns:p14="http://schemas.microsoft.com/office/powerpoint/2010/main" val="26011485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78BF8-83E2-B2A4-2068-DF5A7CC027A3}"/>
              </a:ext>
            </a:extLst>
          </p:cNvPr>
          <p:cNvSpPr>
            <a:spLocks noGrp="1"/>
          </p:cNvSpPr>
          <p:nvPr>
            <p:ph type="title"/>
          </p:nvPr>
        </p:nvSpPr>
        <p:spPr/>
        <p:txBody>
          <a:bodyPr wrap="square"/>
          <a:lstStyle/>
          <a:p>
            <a:pPr>
              <a:spcBef>
                <a:spcPts val="300"/>
              </a:spcBef>
            </a:pPr>
            <a:r>
              <a:rPr sz="2800" b="0">
                <a:solidFill>
                  <a:srgbClr val="00853E"/>
                </a:solidFill>
              </a:rPr>
              <a:t>Results: Forecasting (ETTh1 — Oil Temperature)</a:t>
            </a:r>
          </a:p>
        </p:txBody>
      </p:sp>
      <p:sp>
        <p:nvSpPr>
          <p:cNvPr id="3" name="Content Placeholder 2">
            <a:extLst>
              <a:ext uri="{FF2B5EF4-FFF2-40B4-BE49-F238E27FC236}">
                <a16:creationId xmlns:a16="http://schemas.microsoft.com/office/drawing/2014/main" id="{F93C1F33-7B7E-9D90-EF13-666DE0999804}"/>
              </a:ext>
            </a:extLst>
          </p:cNvPr>
          <p:cNvSpPr>
            <a:spLocks noGrp="1"/>
          </p:cNvSpPr>
          <p:nvPr>
            <p:ph idx="1"/>
          </p:nvPr>
        </p:nvSpPr>
        <p:spPr>
          <a:xfrm>
            <a:off x="18288000" y="18288000"/>
            <a:ext cx="91440" cy="91440"/>
          </a:xfrm>
        </p:spPr>
        <p:txBody>
          <a:bodyPr/>
          <a:lstStyle/>
          <a:p/>
        </p:txBody>
      </p:sp>
      <p:sp>
        <p:nvSpPr>
          <p:cNvPr id="4" name="Slide Number Placeholder 3">
            <a:extLst>
              <a:ext uri="{FF2B5EF4-FFF2-40B4-BE49-F238E27FC236}">
                <a16:creationId xmlns:a16="http://schemas.microsoft.com/office/drawing/2014/main" id="{22B0E182-E09F-C7DA-E140-4ABF72CCF599}"/>
              </a:ext>
            </a:extLst>
          </p:cNvPr>
          <p:cNvSpPr>
            <a:spLocks noGrp="1"/>
          </p:cNvSpPr>
          <p:nvPr>
            <p:ph type="sldNum" sz="quarter" idx="12"/>
          </p:nvPr>
        </p:nvSpPr>
        <p:spPr/>
        <p:txBody>
          <a:bodyPr/>
          <a:lstStyle/>
          <a:p>
            <a:fld id="{0A5CBF63-613C-4E8E-B1A0-D710C5F27341}" type="slidenum">
              <a:rPr lang="en-US" smtClean="0"/>
              <a:t>8</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_forecasting_metrics.png"/>
          <p:cNvPicPr>
            <a:picLocks noChangeAspect="1"/>
          </p:cNvPicPr>
          <p:nvPr/>
        </p:nvPicPr>
        <p:blipFill>
          <a:blip r:embed="rId2"/>
          <a:stretch>
            <a:fillRect/>
          </a:stretch>
        </p:blipFill>
        <p:spPr>
          <a:xfrm>
            <a:off x="365760" y="1554480"/>
            <a:ext cx="7132320" cy="2743200"/>
          </a:xfrm>
          <a:prstGeom prst="rect">
            <a:avLst/>
          </a:prstGeom>
        </p:spPr>
      </p:pic>
      <p:pic>
        <p:nvPicPr>
          <p:cNvPr id="7" name="Picture 6" descr="fig5_forecast_vs_actual.png"/>
          <p:cNvPicPr>
            <a:picLocks noChangeAspect="1"/>
          </p:cNvPicPr>
          <p:nvPr/>
        </p:nvPicPr>
        <p:blipFill>
          <a:blip r:embed="rId3"/>
          <a:stretch>
            <a:fillRect/>
          </a:stretch>
        </p:blipFill>
        <p:spPr>
          <a:xfrm>
            <a:off x="365760" y="4389120"/>
            <a:ext cx="7132320" cy="2286000"/>
          </a:xfrm>
          <a:prstGeom prst="rect">
            <a:avLst/>
          </a:prstGeom>
        </p:spPr>
      </p:pic>
      <p:sp>
        <p:nvSpPr>
          <p:cNvPr id="8" name="TextBox 7"/>
          <p:cNvSpPr txBox="1"/>
          <p:nvPr/>
        </p:nvSpPr>
        <p:spPr>
          <a:xfrm>
            <a:off x="7680960" y="1645920"/>
            <a:ext cx="4297680" cy="365760"/>
          </a:xfrm>
          <a:prstGeom prst="rect">
            <a:avLst/>
          </a:prstGeom>
          <a:noFill/>
        </p:spPr>
        <p:txBody>
          <a:bodyPr wrap="square">
            <a:spAutoFit/>
          </a:bodyPr>
          <a:lstStyle/>
          <a:p>
            <a:pPr algn="l"/>
            <a:r>
              <a:rPr sz="1700" b="1">
                <a:solidFill>
                  <a:srgbClr val="00853E"/>
                </a:solidFill>
              </a:rPr>
              <a:t>Key Results:</a:t>
            </a:r>
          </a:p>
        </p:txBody>
      </p:sp>
      <p:sp>
        <p:nvSpPr>
          <p:cNvPr id="9" name="TextBox 8"/>
          <p:cNvSpPr txBox="1"/>
          <p:nvPr/>
        </p:nvSpPr>
        <p:spPr>
          <a:xfrm>
            <a:off x="7680960" y="2103120"/>
            <a:ext cx="4297680" cy="384048"/>
          </a:xfrm>
          <a:prstGeom prst="rect">
            <a:avLst/>
          </a:prstGeom>
          <a:noFill/>
        </p:spPr>
        <p:txBody>
          <a:bodyPr wrap="square">
            <a:spAutoFit/>
          </a:bodyPr>
          <a:lstStyle/>
          <a:p>
            <a:pPr algn="l"/>
            <a:r>
              <a:rPr sz="1400" b="0">
                <a:solidFill>
                  <a:srgbClr val="000000"/>
                </a:solidFill>
              </a:rPr>
              <a:t>Raw (lag-1):     MSE = 1.2856</a:t>
            </a:r>
          </a:p>
        </p:txBody>
      </p:sp>
      <p:sp>
        <p:nvSpPr>
          <p:cNvPr id="10" name="TextBox 9"/>
          <p:cNvSpPr txBox="1"/>
          <p:nvPr/>
        </p:nvSpPr>
        <p:spPr>
          <a:xfrm>
            <a:off x="7680960" y="2514600"/>
            <a:ext cx="4297680" cy="384048"/>
          </a:xfrm>
          <a:prstGeom prst="rect">
            <a:avLst/>
          </a:prstGeom>
          <a:noFill/>
        </p:spPr>
        <p:txBody>
          <a:bodyPr wrap="square">
            <a:spAutoFit/>
          </a:bodyPr>
          <a:lstStyle/>
          <a:p>
            <a:pPr algn="l"/>
            <a:r>
              <a:rPr sz="1400" b="1">
                <a:solidFill>
                  <a:srgbClr val="00853E"/>
                </a:solidFill>
              </a:rPr>
              <a:t>Lag+Rolling:     MSE = 0.4836</a:t>
            </a:r>
          </a:p>
        </p:txBody>
      </p:sp>
      <p:sp>
        <p:nvSpPr>
          <p:cNvPr id="11" name="TextBox 10"/>
          <p:cNvSpPr txBox="1"/>
          <p:nvPr/>
        </p:nvSpPr>
        <p:spPr>
          <a:xfrm>
            <a:off x="7680960" y="2926079"/>
            <a:ext cx="4297680" cy="384048"/>
          </a:xfrm>
          <a:prstGeom prst="rect">
            <a:avLst/>
          </a:prstGeom>
          <a:noFill/>
        </p:spPr>
        <p:txBody>
          <a:bodyPr wrap="square">
            <a:spAutoFit/>
          </a:bodyPr>
          <a:lstStyle/>
          <a:p>
            <a:pPr algn="l"/>
            <a:r>
              <a:rPr sz="1400" b="0">
                <a:solidFill>
                  <a:srgbClr val="00853E"/>
                </a:solidFill>
              </a:rPr>
              <a:t>                 (−62%)</a:t>
            </a:r>
          </a:p>
        </p:txBody>
      </p:sp>
      <p:sp>
        <p:nvSpPr>
          <p:cNvPr id="12" name="TextBox 11"/>
          <p:cNvSpPr txBox="1"/>
          <p:nvPr/>
        </p:nvSpPr>
        <p:spPr>
          <a:xfrm>
            <a:off x="7680960" y="3337560"/>
            <a:ext cx="4297680" cy="384048"/>
          </a:xfrm>
          <a:prstGeom prst="rect">
            <a:avLst/>
          </a:prstGeom>
          <a:noFill/>
        </p:spPr>
        <p:txBody>
          <a:bodyPr wrap="square">
            <a:spAutoFit/>
          </a:bodyPr>
          <a:lstStyle/>
          <a:p>
            <a:pPr algn="l"/>
            <a:r>
              <a:rPr sz="1400" b="0">
                <a:solidFill>
                  <a:srgbClr val="000000"/>
                </a:solidFill>
              </a:rPr>
              <a:t>+ Embeddings:    MSE = 0.4807</a:t>
            </a:r>
          </a:p>
        </p:txBody>
      </p:sp>
      <p:sp>
        <p:nvSpPr>
          <p:cNvPr id="13" name="TextBox 12"/>
          <p:cNvSpPr txBox="1"/>
          <p:nvPr/>
        </p:nvSpPr>
        <p:spPr>
          <a:xfrm>
            <a:off x="7680960" y="3749039"/>
            <a:ext cx="4297680" cy="384048"/>
          </a:xfrm>
          <a:prstGeom prst="rect">
            <a:avLst/>
          </a:prstGeom>
          <a:noFill/>
        </p:spPr>
        <p:txBody>
          <a:bodyPr wrap="square">
            <a:spAutoFit/>
          </a:bodyPr>
          <a:lstStyle/>
          <a:p>
            <a:pPr algn="l"/>
            <a:r>
              <a:rPr sz="1400" b="1">
                <a:solidFill>
                  <a:srgbClr val="00853E"/>
                </a:solidFill>
              </a:rPr>
              <a:t>+ SHAP Prune:    MSE = 0.4734</a:t>
            </a:r>
          </a:p>
        </p:txBody>
      </p:sp>
      <p:sp>
        <p:nvSpPr>
          <p:cNvPr id="14" name="TextBox 13"/>
          <p:cNvSpPr txBox="1"/>
          <p:nvPr/>
        </p:nvSpPr>
        <p:spPr>
          <a:xfrm>
            <a:off x="7680960" y="4160520"/>
            <a:ext cx="4297680" cy="384048"/>
          </a:xfrm>
          <a:prstGeom prst="rect">
            <a:avLst/>
          </a:prstGeom>
          <a:noFill/>
        </p:spPr>
        <p:txBody>
          <a:bodyPr wrap="square">
            <a:spAutoFit/>
          </a:bodyPr>
          <a:lstStyle/>
          <a:p>
            <a:pPr algn="l"/>
            <a:r>
              <a:rPr sz="1400" b="0">
                <a:solidFill>
                  <a:srgbClr val="00853E"/>
                </a:solidFill>
              </a:rPr>
              <a:t>                 (best)</a:t>
            </a:r>
          </a:p>
        </p:txBody>
      </p:sp>
      <p:sp>
        <p:nvSpPr>
          <p:cNvPr id="15" name="TextBox 14"/>
          <p:cNvSpPr txBox="1"/>
          <p:nvPr/>
        </p:nvSpPr>
        <p:spPr>
          <a:xfrm>
            <a:off x="7680960" y="4572000"/>
            <a:ext cx="4297680" cy="384048"/>
          </a:xfrm>
          <a:prstGeom prst="rect">
            <a:avLst/>
          </a:prstGeom>
          <a:noFill/>
        </p:spPr>
        <p:txBody>
          <a:bodyPr wrap="square">
            <a:spAutoFit/>
          </a:bodyPr>
          <a:lstStyle/>
          <a:p>
            <a:pPr algn="l"/>
            <a:r>
              <a:rPr sz="1400" b="0">
                <a:solidFill>
                  <a:srgbClr val="000000"/>
                </a:solidFill>
              </a:rPr>
              <a:t/>
            </a:r>
          </a:p>
        </p:txBody>
      </p:sp>
      <p:sp>
        <p:nvSpPr>
          <p:cNvPr id="16" name="TextBox 15"/>
          <p:cNvSpPr txBox="1"/>
          <p:nvPr/>
        </p:nvSpPr>
        <p:spPr>
          <a:xfrm>
            <a:off x="7680960" y="4983479"/>
            <a:ext cx="4297680" cy="384048"/>
          </a:xfrm>
          <a:prstGeom prst="rect">
            <a:avLst/>
          </a:prstGeom>
          <a:noFill/>
        </p:spPr>
        <p:txBody>
          <a:bodyPr wrap="square">
            <a:spAutoFit/>
          </a:bodyPr>
          <a:lstStyle/>
          <a:p>
            <a:pPr algn="l"/>
            <a:r>
              <a:rPr sz="1400" b="0">
                <a:solidFill>
                  <a:srgbClr val="000000"/>
                </a:solidFill>
              </a:rPr>
              <a:t>SHAP removed 12/28 features</a:t>
            </a:r>
          </a:p>
        </p:txBody>
      </p:sp>
      <p:sp>
        <p:nvSpPr>
          <p:cNvPr id="17" name="TextBox 16"/>
          <p:cNvSpPr txBox="1"/>
          <p:nvPr/>
        </p:nvSpPr>
        <p:spPr>
          <a:xfrm>
            <a:off x="7680960" y="5394960"/>
            <a:ext cx="4297680" cy="384048"/>
          </a:xfrm>
          <a:prstGeom prst="rect">
            <a:avLst/>
          </a:prstGeom>
          <a:noFill/>
        </p:spPr>
        <p:txBody>
          <a:bodyPr wrap="square">
            <a:spAutoFit/>
          </a:bodyPr>
          <a:lstStyle/>
          <a:p>
            <a:pPr algn="l"/>
            <a:r>
              <a:rPr sz="1400" b="0">
                <a:solidFill>
                  <a:srgbClr val="444444"/>
                </a:solidFill>
              </a:rPr>
              <a:t>Embeddings did not help</a:t>
            </a:r>
          </a:p>
        </p:txBody>
      </p:sp>
    </p:spTree>
    <p:extLst>
      <p:ext uri="{BB962C8B-B14F-4D97-AF65-F5344CB8AC3E}">
        <p14:creationId xmlns:p14="http://schemas.microsoft.com/office/powerpoint/2010/main" val="5980937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9164E-84E8-4FB2-8051-CB230F6D915C}"/>
              </a:ext>
            </a:extLst>
          </p:cNvPr>
          <p:cNvSpPr>
            <a:spLocks noGrp="1"/>
          </p:cNvSpPr>
          <p:nvPr>
            <p:ph type="title"/>
          </p:nvPr>
        </p:nvSpPr>
        <p:spPr/>
        <p:txBody>
          <a:bodyPr wrap="square"/>
          <a:lstStyle/>
          <a:p>
            <a:pPr>
              <a:spcBef>
                <a:spcPts val="300"/>
              </a:spcBef>
            </a:pPr>
            <a:r>
              <a:rPr sz="2800" b="0">
                <a:solidFill>
                  <a:srgbClr val="00853E"/>
                </a:solidFill>
              </a:rPr>
              <a:t>Results: Anomaly Detection (WESAD-like PPG)</a:t>
            </a:r>
          </a:p>
        </p:txBody>
      </p:sp>
      <p:sp>
        <p:nvSpPr>
          <p:cNvPr id="3" name="Content Placeholder 2">
            <a:extLst>
              <a:ext uri="{FF2B5EF4-FFF2-40B4-BE49-F238E27FC236}">
                <a16:creationId xmlns:a16="http://schemas.microsoft.com/office/drawing/2014/main" id="{613B13FA-5386-4E73-BB44-9A898AA7B251}"/>
              </a:ext>
            </a:extLst>
          </p:cNvPr>
          <p:cNvSpPr>
            <a:spLocks noGrp="1"/>
          </p:cNvSpPr>
          <p:nvPr>
            <p:ph idx="1"/>
          </p:nvPr>
        </p:nvSpPr>
        <p:spPr>
          <a:xfrm>
            <a:off x="18288000" y="18288000"/>
            <a:ext cx="91440" cy="91440"/>
          </a:xfrm>
        </p:spPr>
        <p:txBody>
          <a:bodyPr/>
          <a:lstStyle/>
          <a:p/>
        </p:txBody>
      </p:sp>
      <p:sp>
        <p:nvSpPr>
          <p:cNvPr id="4" name="Slide Number Placeholder 3">
            <a:extLst>
              <a:ext uri="{FF2B5EF4-FFF2-40B4-BE49-F238E27FC236}">
                <a16:creationId xmlns:a16="http://schemas.microsoft.com/office/drawing/2014/main" id="{4622CC70-E94D-443E-911C-FC4AEB22D28F}"/>
              </a:ext>
            </a:extLst>
          </p:cNvPr>
          <p:cNvSpPr>
            <a:spLocks noGrp="1"/>
          </p:cNvSpPr>
          <p:nvPr>
            <p:ph type="sldNum" sz="quarter" idx="12"/>
          </p:nvPr>
        </p:nvSpPr>
        <p:spPr/>
        <p:txBody>
          <a:bodyPr/>
          <a:lstStyle/>
          <a:p>
            <a:fld id="{0A5CBF63-613C-4E8E-B1A0-D710C5F27341}" type="slidenum">
              <a:rPr lang="en-US" smtClean="0"/>
              <a:t>9</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6_anomaly_signal.png"/>
          <p:cNvPicPr>
            <a:picLocks noChangeAspect="1"/>
          </p:cNvPicPr>
          <p:nvPr/>
        </p:nvPicPr>
        <p:blipFill>
          <a:blip r:embed="rId2"/>
          <a:stretch>
            <a:fillRect/>
          </a:stretch>
        </p:blipFill>
        <p:spPr>
          <a:xfrm>
            <a:off x="365760" y="1554480"/>
            <a:ext cx="7772400" cy="2286000"/>
          </a:xfrm>
          <a:prstGeom prst="rect">
            <a:avLst/>
          </a:prstGeom>
        </p:spPr>
      </p:pic>
      <p:pic>
        <p:nvPicPr>
          <p:cNvPr id="7" name="Picture 6" descr="fig7_anomaly_metrics.png"/>
          <p:cNvPicPr>
            <a:picLocks noChangeAspect="1"/>
          </p:cNvPicPr>
          <p:nvPr/>
        </p:nvPicPr>
        <p:blipFill>
          <a:blip r:embed="rId3"/>
          <a:stretch>
            <a:fillRect/>
          </a:stretch>
        </p:blipFill>
        <p:spPr>
          <a:xfrm>
            <a:off x="365760" y="3931920"/>
            <a:ext cx="7772400" cy="2651760"/>
          </a:xfrm>
          <a:prstGeom prst="rect">
            <a:avLst/>
          </a:prstGeom>
        </p:spPr>
      </p:pic>
      <p:sp>
        <p:nvSpPr>
          <p:cNvPr id="8" name="TextBox 7"/>
          <p:cNvSpPr txBox="1"/>
          <p:nvPr/>
        </p:nvSpPr>
        <p:spPr>
          <a:xfrm>
            <a:off x="8321040" y="1645920"/>
            <a:ext cx="3657600" cy="365760"/>
          </a:xfrm>
          <a:prstGeom prst="rect">
            <a:avLst/>
          </a:prstGeom>
          <a:noFill/>
        </p:spPr>
        <p:txBody>
          <a:bodyPr wrap="square">
            <a:spAutoFit/>
          </a:bodyPr>
          <a:lstStyle/>
          <a:p>
            <a:pPr algn="l"/>
            <a:r>
              <a:rPr sz="1700" b="1">
                <a:solidFill>
                  <a:srgbClr val="00853E"/>
                </a:solidFill>
              </a:rPr>
              <a:t>Key Results:</a:t>
            </a:r>
          </a:p>
        </p:txBody>
      </p:sp>
      <p:sp>
        <p:nvSpPr>
          <p:cNvPr id="9" name="TextBox 8"/>
          <p:cNvSpPr txBox="1"/>
          <p:nvPr/>
        </p:nvSpPr>
        <p:spPr>
          <a:xfrm>
            <a:off x="8321040" y="2103120"/>
            <a:ext cx="3657600" cy="365760"/>
          </a:xfrm>
          <a:prstGeom prst="rect">
            <a:avLst/>
          </a:prstGeom>
          <a:noFill/>
        </p:spPr>
        <p:txBody>
          <a:bodyPr wrap="square">
            <a:spAutoFit/>
          </a:bodyPr>
          <a:lstStyle/>
          <a:p>
            <a:pPr algn="l"/>
            <a:r>
              <a:rPr sz="1300" b="0">
                <a:solidFill>
                  <a:srgbClr val="000000"/>
                </a:solidFill>
              </a:rPr>
              <a:t>Raw Windows:   F1 = 0.871</a:t>
            </a:r>
          </a:p>
        </p:txBody>
      </p:sp>
      <p:sp>
        <p:nvSpPr>
          <p:cNvPr id="10" name="TextBox 9"/>
          <p:cNvSpPr txBox="1"/>
          <p:nvPr/>
        </p:nvSpPr>
        <p:spPr>
          <a:xfrm>
            <a:off x="8321040" y="2487168"/>
            <a:ext cx="3657600" cy="365760"/>
          </a:xfrm>
          <a:prstGeom prst="rect">
            <a:avLst/>
          </a:prstGeom>
          <a:noFill/>
        </p:spPr>
        <p:txBody>
          <a:bodyPr wrap="square">
            <a:spAutoFit/>
          </a:bodyPr>
          <a:lstStyle/>
          <a:p>
            <a:pPr algn="l"/>
            <a:r>
              <a:rPr sz="1300" b="0">
                <a:solidFill>
                  <a:srgbClr val="444444"/>
                </a:solidFill>
              </a:rPr>
              <a:t>Catch22 Only:  F1 = 0.613 ↓</a:t>
            </a:r>
          </a:p>
        </p:txBody>
      </p:sp>
      <p:sp>
        <p:nvSpPr>
          <p:cNvPr id="11" name="TextBox 10"/>
          <p:cNvSpPr txBox="1"/>
          <p:nvPr/>
        </p:nvSpPr>
        <p:spPr>
          <a:xfrm>
            <a:off x="8321040" y="2871215"/>
            <a:ext cx="3657600" cy="365760"/>
          </a:xfrm>
          <a:prstGeom prst="rect">
            <a:avLst/>
          </a:prstGeom>
          <a:noFill/>
        </p:spPr>
        <p:txBody>
          <a:bodyPr wrap="square">
            <a:spAutoFit/>
          </a:bodyPr>
          <a:lstStyle/>
          <a:p>
            <a:pPr algn="l"/>
            <a:r>
              <a:rPr sz="1300" b="1">
                <a:solidFill>
                  <a:srgbClr val="00853E"/>
                </a:solidFill>
              </a:rPr>
              <a:t>Catch22+SHAP:  F1 = 0.645 ↑</a:t>
            </a:r>
          </a:p>
        </p:txBody>
      </p:sp>
      <p:sp>
        <p:nvSpPr>
          <p:cNvPr id="12" name="TextBox 11"/>
          <p:cNvSpPr txBox="1"/>
          <p:nvPr/>
        </p:nvSpPr>
        <p:spPr>
          <a:xfrm>
            <a:off x="8321040" y="3255263"/>
            <a:ext cx="3657600" cy="365760"/>
          </a:xfrm>
          <a:prstGeom prst="rect">
            <a:avLst/>
          </a:prstGeom>
          <a:noFill/>
        </p:spPr>
        <p:txBody>
          <a:bodyPr wrap="square">
            <a:spAutoFit/>
          </a:bodyPr>
          <a:lstStyle/>
          <a:p>
            <a:pPr algn="l"/>
            <a:r>
              <a:rPr sz="1300" b="0">
                <a:solidFill>
                  <a:srgbClr val="000000"/>
                </a:solidFill>
              </a:rPr>
              <a:t/>
            </a:r>
          </a:p>
        </p:txBody>
      </p:sp>
      <p:sp>
        <p:nvSpPr>
          <p:cNvPr id="13" name="TextBox 12"/>
          <p:cNvSpPr txBox="1"/>
          <p:nvPr/>
        </p:nvSpPr>
        <p:spPr>
          <a:xfrm>
            <a:off x="8321040" y="3639311"/>
            <a:ext cx="3657600" cy="365760"/>
          </a:xfrm>
          <a:prstGeom prst="rect">
            <a:avLst/>
          </a:prstGeom>
          <a:noFill/>
        </p:spPr>
        <p:txBody>
          <a:bodyPr wrap="square">
            <a:spAutoFit/>
          </a:bodyPr>
          <a:lstStyle/>
          <a:p>
            <a:pPr algn="l"/>
            <a:r>
              <a:rPr sz="1300" b="1">
                <a:solidFill>
                  <a:srgbClr val="000000"/>
                </a:solidFill>
              </a:rPr>
              <a:t>Why Catch22 hurt:</a:t>
            </a:r>
          </a:p>
        </p:txBody>
      </p:sp>
      <p:sp>
        <p:nvSpPr>
          <p:cNvPr id="14" name="TextBox 13"/>
          <p:cNvSpPr txBox="1"/>
          <p:nvPr/>
        </p:nvSpPr>
        <p:spPr>
          <a:xfrm>
            <a:off x="8321040" y="4023360"/>
            <a:ext cx="3657600" cy="365760"/>
          </a:xfrm>
          <a:prstGeom prst="rect">
            <a:avLst/>
          </a:prstGeom>
          <a:noFill/>
        </p:spPr>
        <p:txBody>
          <a:bodyPr wrap="square">
            <a:spAutoFit/>
          </a:bodyPr>
          <a:lstStyle/>
          <a:p>
            <a:pPr algn="l"/>
            <a:r>
              <a:rPr sz="1300" b="0">
                <a:solidFill>
                  <a:srgbClr val="000000"/>
                </a:solidFill>
              </a:rPr>
              <a:t>Normalization removes</a:t>
            </a:r>
          </a:p>
        </p:txBody>
      </p:sp>
      <p:sp>
        <p:nvSpPr>
          <p:cNvPr id="15" name="TextBox 14"/>
          <p:cNvSpPr txBox="1"/>
          <p:nvPr/>
        </p:nvSpPr>
        <p:spPr>
          <a:xfrm>
            <a:off x="8321040" y="4407408"/>
            <a:ext cx="3657600" cy="365760"/>
          </a:xfrm>
          <a:prstGeom prst="rect">
            <a:avLst/>
          </a:prstGeom>
          <a:noFill/>
        </p:spPr>
        <p:txBody>
          <a:bodyPr wrap="square">
            <a:spAutoFit/>
          </a:bodyPr>
          <a:lstStyle/>
          <a:p>
            <a:pPr algn="l"/>
            <a:r>
              <a:rPr sz="1300" b="0">
                <a:solidFill>
                  <a:srgbClr val="000000"/>
                </a:solidFill>
              </a:rPr>
              <a:t>amplitude information</a:t>
            </a:r>
          </a:p>
        </p:txBody>
      </p:sp>
      <p:sp>
        <p:nvSpPr>
          <p:cNvPr id="16" name="TextBox 15"/>
          <p:cNvSpPr txBox="1"/>
          <p:nvPr/>
        </p:nvSpPr>
        <p:spPr>
          <a:xfrm>
            <a:off x="8321040" y="4791456"/>
            <a:ext cx="3657600" cy="365760"/>
          </a:xfrm>
          <a:prstGeom prst="rect">
            <a:avLst/>
          </a:prstGeom>
          <a:noFill/>
        </p:spPr>
        <p:txBody>
          <a:bodyPr wrap="square">
            <a:spAutoFit/>
          </a:bodyPr>
          <a:lstStyle/>
          <a:p>
            <a:pPr algn="l"/>
            <a:r>
              <a:rPr sz="1300" b="1">
                <a:solidFill>
                  <a:srgbClr val="000000"/>
                </a:solidFill>
              </a:rPr>
              <a:t>Why SHAP helped:</a:t>
            </a:r>
          </a:p>
        </p:txBody>
      </p:sp>
      <p:sp>
        <p:nvSpPr>
          <p:cNvPr id="17" name="TextBox 16"/>
          <p:cNvSpPr txBox="1"/>
          <p:nvPr/>
        </p:nvSpPr>
        <p:spPr>
          <a:xfrm>
            <a:off x="8321040" y="5175504"/>
            <a:ext cx="3657600" cy="365760"/>
          </a:xfrm>
          <a:prstGeom prst="rect">
            <a:avLst/>
          </a:prstGeom>
          <a:noFill/>
        </p:spPr>
        <p:txBody>
          <a:bodyPr wrap="square">
            <a:spAutoFit/>
          </a:bodyPr>
          <a:lstStyle/>
          <a:p>
            <a:pPr algn="l"/>
            <a:r>
              <a:rPr sz="1300" b="0">
                <a:solidFill>
                  <a:srgbClr val="000000"/>
                </a:solidFill>
              </a:rPr>
              <a:t>Kept diff_variance —</a:t>
            </a:r>
          </a:p>
        </p:txBody>
      </p:sp>
      <p:sp>
        <p:nvSpPr>
          <p:cNvPr id="18" name="TextBox 17"/>
          <p:cNvSpPr txBox="1"/>
          <p:nvPr/>
        </p:nvSpPr>
        <p:spPr>
          <a:xfrm>
            <a:off x="8321040" y="5559552"/>
            <a:ext cx="3657600" cy="365760"/>
          </a:xfrm>
          <a:prstGeom prst="rect">
            <a:avLst/>
          </a:prstGeom>
          <a:noFill/>
        </p:spPr>
        <p:txBody>
          <a:bodyPr wrap="square">
            <a:spAutoFit/>
          </a:bodyPr>
          <a:lstStyle/>
          <a:p>
            <a:pPr algn="l"/>
            <a:r>
              <a:rPr sz="1300" b="0">
                <a:solidFill>
                  <a:srgbClr val="000000"/>
                </a:solidFill>
              </a:rPr>
              <a:t>captures roughness</a:t>
            </a:r>
          </a:p>
        </p:txBody>
      </p:sp>
    </p:spTree>
    <p:extLst>
      <p:ext uri="{BB962C8B-B14F-4D97-AF65-F5344CB8AC3E}">
        <p14:creationId xmlns:p14="http://schemas.microsoft.com/office/powerpoint/2010/main" val="1927000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224CBC-2808-4E23-80B2-9E171CC29953}"/>
              </a:ext>
            </a:extLst>
          </p:cNvPr>
          <p:cNvSpPr>
            <a:spLocks noGrp="1"/>
          </p:cNvSpPr>
          <p:nvPr>
            <p:ph type="title"/>
          </p:nvPr>
        </p:nvSpPr>
        <p:spPr/>
        <p:txBody>
          <a:bodyPr wrap="square"/>
          <a:lstStyle/>
          <a:p>
            <a:pPr>
              <a:spcBef>
                <a:spcPts val="300"/>
              </a:spcBef>
            </a:pPr>
            <a:r>
              <a:rPr sz="3600" b="0">
                <a:solidFill>
                  <a:srgbClr val="00853E"/>
                </a:solidFill>
              </a:rPr>
              <a:t>Discussion</a:t>
            </a:r>
          </a:p>
        </p:txBody>
      </p:sp>
      <p:sp>
        <p:nvSpPr>
          <p:cNvPr id="3" name="Content Placeholder 2">
            <a:extLst>
              <a:ext uri="{FF2B5EF4-FFF2-40B4-BE49-F238E27FC236}">
                <a16:creationId xmlns:a16="http://schemas.microsoft.com/office/drawing/2014/main" id="{82042E1A-E850-4E77-ADD8-475691D00942}"/>
              </a:ext>
            </a:extLst>
          </p:cNvPr>
          <p:cNvSpPr>
            <a:spLocks noGrp="1"/>
          </p:cNvSpPr>
          <p:nvPr>
            <p:ph idx="1"/>
          </p:nvPr>
        </p:nvSpPr>
        <p:spPr/>
        <p:txBody>
          <a:bodyPr wrap="square"/>
          <a:lstStyle/>
          <a:p>
            <a:pPr>
              <a:spcBef>
                <a:spcPts val="300"/>
              </a:spcBef>
            </a:pPr>
            <a:r>
              <a:rPr sz="2100" b="1">
                <a:solidFill>
                  <a:srgbClr val="00853E"/>
                </a:solidFill>
              </a:rPr>
              <a:t>When Catch22 Works Best</a:t>
            </a:r>
          </a:p>
          <a:p>
            <a:pPr lvl="1">
              <a:spcBef>
                <a:spcPts val="300"/>
              </a:spcBef>
            </a:pPr>
            <a:r>
              <a:rPr sz="1800" b="0">
                <a:solidFill>
                  <a:srgbClr val="000000"/>
                </a:solidFill>
              </a:rPr>
              <a:t>Datasets where global statistics differ between classes (SyntheticControl, ECG200, TwoLeadECG)</a:t>
            </a:r>
          </a:p>
          <a:p>
            <a:pPr lvl="1">
              <a:spcBef>
                <a:spcPts val="300"/>
              </a:spcBef>
            </a:pPr>
            <a:r>
              <a:rPr sz="1800" b="0">
                <a:solidFill>
                  <a:srgbClr val="000000"/>
                </a:solidFill>
              </a:rPr>
              <a:t>Compresses 150+ time steps into 22 interpretable features; acts as regularization</a:t>
            </a:r>
          </a:p>
          <a:p>
            <a:pPr>
              <a:spcBef>
                <a:spcPts val="300"/>
              </a:spcBef>
            </a:pPr>
            <a:r>
              <a:rPr sz="2100" b="1">
                <a:solidFill>
                  <a:srgbClr val="00853E"/>
                </a:solidFill>
              </a:rPr>
              <a:t>When Raw Features Win</a:t>
            </a:r>
          </a:p>
          <a:p>
            <a:pPr lvl="1">
              <a:spcBef>
                <a:spcPts val="300"/>
              </a:spcBef>
            </a:pPr>
            <a:r>
              <a:rPr sz="1800" b="0">
                <a:solidFill>
                  <a:srgbClr val="000000"/>
                </a:solidFill>
              </a:rPr>
              <a:t>ItalyPowerDemand: class boundary is a sharp drop at one specific hour</a:t>
            </a:r>
          </a:p>
          <a:p>
            <a:pPr lvl="1">
              <a:spcBef>
                <a:spcPts val="300"/>
              </a:spcBef>
            </a:pPr>
            <a:r>
              <a:rPr sz="1800" b="0">
                <a:solidFill>
                  <a:srgbClr val="000000"/>
                </a:solidFill>
              </a:rPr>
              <a:t>Catch22 averages over the whole signal, missing local timing events</a:t>
            </a:r>
          </a:p>
          <a:p>
            <a:pPr>
              <a:spcBef>
                <a:spcPts val="300"/>
              </a:spcBef>
            </a:pPr>
            <a:r>
              <a:rPr sz="2100" b="1">
                <a:solidFill>
                  <a:srgbClr val="00853E"/>
                </a:solidFill>
              </a:rPr>
              <a:t>SHAP as a Design Tool</a:t>
            </a:r>
          </a:p>
          <a:p>
            <a:pPr lvl="1">
              <a:spcBef>
                <a:spcPts val="300"/>
              </a:spcBef>
            </a:pPr>
            <a:r>
              <a:rPr sz="1800" b="0">
                <a:solidFill>
                  <a:srgbClr val="000000"/>
                </a:solidFill>
              </a:rPr>
              <a:t>Removed 40–45% of features across all three tasks with zero accuracy loss</a:t>
            </a:r>
          </a:p>
          <a:p>
            <a:pPr lvl="1">
              <a:spcBef>
                <a:spcPts val="300"/>
              </a:spcBef>
            </a:pPr>
            <a:r>
              <a:rPr sz="1800" b="0">
                <a:solidFill>
                  <a:srgbClr val="000000"/>
                </a:solidFill>
              </a:rPr>
              <a:t>Faster inference, smaller model — important for edge deployment</a:t>
            </a:r>
          </a:p>
          <a:p>
            <a:pPr>
              <a:spcBef>
                <a:spcPts val="300"/>
              </a:spcBef>
            </a:pPr>
            <a:r>
              <a:rPr sz="1800" b="0">
                <a:solidFill>
                  <a:srgbClr val="444444"/>
                </a:solidFill>
              </a:rPr>
              <a:t>Limitation: WESAD-like data is simulated; real wearable data may differ</a:t>
            </a:r>
          </a:p>
        </p:txBody>
      </p:sp>
      <p:sp>
        <p:nvSpPr>
          <p:cNvPr id="4" name="Slide Number Placeholder 3">
            <a:extLst>
              <a:ext uri="{FF2B5EF4-FFF2-40B4-BE49-F238E27FC236}">
                <a16:creationId xmlns:a16="http://schemas.microsoft.com/office/drawing/2014/main" id="{4471D03B-ED1B-4F5E-B67B-27646B683320}"/>
              </a:ext>
            </a:extLst>
          </p:cNvPr>
          <p:cNvSpPr>
            <a:spLocks noGrp="1"/>
          </p:cNvSpPr>
          <p:nvPr>
            <p:ph type="sldNum" sz="quarter" idx="12"/>
          </p:nvPr>
        </p:nvSpPr>
        <p:spPr/>
        <p:txBody>
          <a:bodyPr/>
          <a:lstStyle/>
          <a:p>
            <a:fld id="{0A5CBF63-613C-4E8E-B1A0-D710C5F27341}" type="slidenum">
              <a:rPr lang="en-US" smtClean="0"/>
              <a:t>10</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829512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0A557-ABC3-498E-8D75-55910301470D}"/>
              </a:ext>
            </a:extLst>
          </p:cNvPr>
          <p:cNvSpPr>
            <a:spLocks noGrp="1"/>
          </p:cNvSpPr>
          <p:nvPr>
            <p:ph type="title"/>
          </p:nvPr>
        </p:nvSpPr>
        <p:spPr/>
        <p:txBody>
          <a:bodyPr wrap="square"/>
          <a:lstStyle/>
          <a:p>
            <a:pPr>
              <a:spcBef>
                <a:spcPts val="300"/>
              </a:spcBef>
            </a:pPr>
            <a:r>
              <a:rPr sz="3200" b="0">
                <a:solidFill>
                  <a:srgbClr val="00853E"/>
                </a:solidFill>
              </a:rPr>
              <a:t>Conclusion and Future Work</a:t>
            </a:r>
          </a:p>
        </p:txBody>
      </p:sp>
      <p:sp>
        <p:nvSpPr>
          <p:cNvPr id="3" name="Content Placeholder 2">
            <a:extLst>
              <a:ext uri="{FF2B5EF4-FFF2-40B4-BE49-F238E27FC236}">
                <a16:creationId xmlns:a16="http://schemas.microsoft.com/office/drawing/2014/main" id="{42BB6EC8-1378-436A-8E54-41C41CE22B90}"/>
              </a:ext>
            </a:extLst>
          </p:cNvPr>
          <p:cNvSpPr>
            <a:spLocks noGrp="1"/>
          </p:cNvSpPr>
          <p:nvPr>
            <p:ph idx="1"/>
          </p:nvPr>
        </p:nvSpPr>
        <p:spPr/>
        <p:txBody>
          <a:bodyPr wrap="square"/>
          <a:lstStyle/>
          <a:p>
            <a:pPr>
              <a:spcBef>
                <a:spcPts val="300"/>
              </a:spcBef>
            </a:pPr>
            <a:r>
              <a:rPr sz="2100" b="1">
                <a:solidFill>
                  <a:srgbClr val="00853E"/>
                </a:solidFill>
              </a:rPr>
              <a:t>Key Conclusions</a:t>
            </a:r>
          </a:p>
          <a:p>
            <a:pPr lvl="1">
              <a:spcBef>
                <a:spcPts val="300"/>
              </a:spcBef>
            </a:pPr>
            <a:r>
              <a:rPr sz="1700" b="0">
                <a:solidFill>
                  <a:srgbClr val="000000"/>
                </a:solidFill>
              </a:rPr>
              <a:t>Catch22 + GradientBoosting beats raw features on 3/5 UCR datasets (best: +9.3% SyntheticControl)</a:t>
            </a:r>
          </a:p>
          <a:p>
            <a:pPr lvl="1">
              <a:spcBef>
                <a:spcPts val="300"/>
              </a:spcBef>
            </a:pPr>
            <a:r>
              <a:rPr sz="1700" b="0">
                <a:solidFill>
                  <a:srgbClr val="000000"/>
                </a:solidFill>
              </a:rPr>
              <a:t>Lag + Rolling Statistics reduce forecasting MSE by 62%; SHAP pruning achieves best MSE of 0.4734</a:t>
            </a:r>
          </a:p>
          <a:p>
            <a:pPr lvl="1">
              <a:spcBef>
                <a:spcPts val="300"/>
              </a:spcBef>
            </a:pPr>
            <a:r>
              <a:rPr sz="1700" b="0">
                <a:solidFill>
                  <a:srgbClr val="000000"/>
                </a:solidFill>
              </a:rPr>
              <a:t>SHAP pruning removes 40–45% of features across all tasks with zero accuracy loss</a:t>
            </a:r>
          </a:p>
          <a:p>
            <a:pPr lvl="1">
              <a:spcBef>
                <a:spcPts val="300"/>
              </a:spcBef>
            </a:pPr>
            <a:r>
              <a:rPr sz="1700" b="0">
                <a:solidFill>
                  <a:srgbClr val="000000"/>
                </a:solidFill>
              </a:rPr>
              <a:t>Catch22 fails when class differences are local timing events, not global patterns</a:t>
            </a:r>
          </a:p>
          <a:p>
            <a:pPr>
              <a:spcBef>
                <a:spcPts val="300"/>
              </a:spcBef>
            </a:pPr>
            <a:r>
              <a:rPr sz="2100" b="1">
                <a:solidFill>
                  <a:srgbClr val="00853E"/>
                </a:solidFill>
              </a:rPr>
              <a:t>Future Work</a:t>
            </a:r>
          </a:p>
          <a:p>
            <a:pPr lvl="1">
              <a:spcBef>
                <a:spcPts val="300"/>
              </a:spcBef>
            </a:pPr>
            <a:r>
              <a:rPr sz="1700" b="0">
                <a:solidFill>
                  <a:srgbClr val="000000"/>
                </a:solidFill>
              </a:rPr>
              <a:t>Build a lighter Catch22 variant with 10–15 features focused on what SHAP keeps most</a:t>
            </a:r>
          </a:p>
          <a:p>
            <a:pPr lvl="1">
              <a:spcBef>
                <a:spcPts val="300"/>
              </a:spcBef>
            </a:pPr>
            <a:r>
              <a:rPr sz="1700" b="0">
                <a:solidFill>
                  <a:srgbClr val="000000"/>
                </a:solidFill>
              </a:rPr>
              <a:t>Validate the anomaly detection pipeline on the real WESAD wearable dataset</a:t>
            </a:r>
          </a:p>
          <a:p>
            <a:pPr lvl="1">
              <a:spcBef>
                <a:spcPts val="300"/>
              </a:spcBef>
            </a:pPr>
            <a:r>
              <a:rPr sz="1700" b="0">
                <a:solidFill>
                  <a:srgbClr val="000000"/>
                </a:solidFill>
              </a:rPr>
              <a:t>Explore LLM-assisted feature suggestion based on dataset metadata</a:t>
            </a:r>
          </a:p>
        </p:txBody>
      </p:sp>
      <p:sp>
        <p:nvSpPr>
          <p:cNvPr id="4" name="Slide Number Placeholder 3">
            <a:extLst>
              <a:ext uri="{FF2B5EF4-FFF2-40B4-BE49-F238E27FC236}">
                <a16:creationId xmlns:a16="http://schemas.microsoft.com/office/drawing/2014/main" id="{4F615013-5B10-4E1F-8C90-F488589DEB38}"/>
              </a:ext>
            </a:extLst>
          </p:cNvPr>
          <p:cNvSpPr>
            <a:spLocks noGrp="1"/>
          </p:cNvSpPr>
          <p:nvPr>
            <p:ph type="sldNum" sz="quarter" idx="12"/>
          </p:nvPr>
        </p:nvSpPr>
        <p:spPr/>
        <p:txBody>
          <a:bodyPr/>
          <a:lstStyle/>
          <a:p>
            <a:fld id="{0A5CBF63-613C-4E8E-B1A0-D710C5F27341}" type="slidenum">
              <a:rPr lang="en-US" smtClean="0"/>
              <a:t>11</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7243648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09994-B480-4FAC-AC64-328DC51C16B8}"/>
              </a:ext>
            </a:extLst>
          </p:cNvPr>
          <p:cNvSpPr>
            <a:spLocks noGrp="1"/>
          </p:cNvSpPr>
          <p:nvPr>
            <p:ph type="title"/>
          </p:nvPr>
        </p:nvSpPr>
        <p:spPr/>
        <p:txBody>
          <a:bodyPr wrap="square"/>
          <a:lstStyle/>
          <a:p>
            <a:pPr>
              <a:spcBef>
                <a:spcPts val="300"/>
              </a:spcBef>
            </a:pPr>
            <a:r>
              <a:rPr sz="3600" b="0">
                <a:solidFill>
                  <a:srgbClr val="00853E"/>
                </a:solidFill>
              </a:rPr>
              <a:t>References</a:t>
            </a:r>
          </a:p>
        </p:txBody>
      </p:sp>
      <p:sp>
        <p:nvSpPr>
          <p:cNvPr id="3" name="Content Placeholder 2">
            <a:extLst>
              <a:ext uri="{FF2B5EF4-FFF2-40B4-BE49-F238E27FC236}">
                <a16:creationId xmlns:a16="http://schemas.microsoft.com/office/drawing/2014/main" id="{A9B3D05C-2E96-4D9F-A497-D4E5DF41CB7D}"/>
              </a:ext>
            </a:extLst>
          </p:cNvPr>
          <p:cNvSpPr>
            <a:spLocks noGrp="1"/>
          </p:cNvSpPr>
          <p:nvPr>
            <p:ph idx="1"/>
          </p:nvPr>
        </p:nvSpPr>
        <p:spPr/>
        <p:txBody>
          <a:bodyPr wrap="square"/>
          <a:lstStyle/>
          <a:p>
            <a:pPr>
              <a:spcBef>
                <a:spcPts val="300"/>
              </a:spcBef>
            </a:pPr>
            <a:r>
              <a:rPr sz="1300" b="0">
                <a:solidFill>
                  <a:srgbClr val="000000"/>
                </a:solidFill>
              </a:rPr>
              <a:t>[1] H. Badi, G. Forestier, J. Weber, "COCALITE: A Hybrid Approach for Time Series Classification Using Catch22 and LITE," IEEE BigData, 2024, pp. 5234–5243.</a:t>
            </a:r>
          </a:p>
          <a:p>
            <a:pPr>
              <a:spcBef>
                <a:spcPts val="300"/>
              </a:spcBef>
            </a:pPr>
            <a:r>
              <a:rPr sz="1300" b="0">
                <a:solidFill>
                  <a:srgbClr val="000000"/>
                </a:solidFill>
              </a:rPr>
              <a:t>[2] M. D'Aversa, F. Giannini, M. Scardapane, "SPLiT: Spatio-Temporal Linear Model Trees for Multi-Step Time Series Forecasting," IEEE BigData, 2024, pp. 3412–3421.</a:t>
            </a:r>
          </a:p>
          <a:p>
            <a:pPr>
              <a:spcBef>
                <a:spcPts val="300"/>
              </a:spcBef>
            </a:pPr>
            <a:r>
              <a:rPr sz="1300" b="0">
                <a:solidFill>
                  <a:srgbClr val="000000"/>
                </a:solidFill>
              </a:rPr>
              <a:t>[3] L. Valerio, A. Passarella, M. Conti, "Unsupervised Anomaly Detection in Wearable PPG Data via Catch22 Features," IEEE SENSORS, 2024, pp. 1–4.</a:t>
            </a:r>
          </a:p>
          <a:p>
            <a:pPr>
              <a:spcBef>
                <a:spcPts val="300"/>
              </a:spcBef>
            </a:pPr>
            <a:r>
              <a:rPr sz="1300" b="0">
                <a:solidFill>
                  <a:srgbClr val="000000"/>
                </a:solidFill>
              </a:rPr>
              <a:t>[4] T. Okadome, J. Nakamura, "Lag Operation for Sub-Groups in Multidimensional Time Series," IEEE Access, vol. 12, pp. 15432–15445, 2024.</a:t>
            </a:r>
          </a:p>
          <a:p>
            <a:pPr>
              <a:spcBef>
                <a:spcPts val="300"/>
              </a:spcBef>
            </a:pPr>
            <a:r>
              <a:rPr sz="1300" b="0">
                <a:solidFill>
                  <a:srgbClr val="000000"/>
                </a:solidFill>
              </a:rPr>
              <a:t>[5] O. Petrosian, D. Wang, S. Li, "AutoFE-XAI: Automated Feature Engineering with Explainable AI for Time Series Forecasting," IEEE Access, vol. 13, pp. 2109–2120, 2025.</a:t>
            </a:r>
          </a:p>
          <a:p>
            <a:pPr>
              <a:spcBef>
                <a:spcPts val="300"/>
              </a:spcBef>
            </a:pPr>
            <a:r>
              <a:rPr sz="1300" b="0">
                <a:solidFill>
                  <a:srgbClr val="000000"/>
                </a:solidFill>
              </a:rPr>
              <a:t>[6] C. H. Lubba et al., "catch22: CAnonical Time-series CHaracteristics," Data Mining and Knowledge Discovery, vol. 33, no. 6, pp. 1821–1852, 2019.</a:t>
            </a:r>
          </a:p>
          <a:p>
            <a:pPr>
              <a:spcBef>
                <a:spcPts val="300"/>
              </a:spcBef>
            </a:pPr>
            <a:r>
              <a:rPr sz="1300" b="0">
                <a:solidFill>
                  <a:srgbClr val="000000"/>
                </a:solidFill>
              </a:rPr>
              <a:t>[7] H. A. Dau et al., "The UCR Time Series Archive," IEEE/CAA Journal of Automatica Sinica, vol. 6, no. 6, pp. 1293–1305, 2019.</a:t>
            </a:r>
          </a:p>
          <a:p>
            <a:pPr>
              <a:spcBef>
                <a:spcPts val="300"/>
              </a:spcBef>
            </a:pPr>
            <a:r>
              <a:rPr sz="1300" b="0">
                <a:solidFill>
                  <a:srgbClr val="000000"/>
                </a:solidFill>
              </a:rPr>
              <a:t>[8] H. Zhou et al., "Informer: Beyond Efficient Transformer for Long Sequence Time-Series Forecasting," AAAI, 2021, pp. 11106–11115.</a:t>
            </a:r>
          </a:p>
          <a:p>
            <a:pPr>
              <a:spcBef>
                <a:spcPts val="300"/>
              </a:spcBef>
            </a:pPr>
            <a:r>
              <a:rPr sz="1300" b="0">
                <a:solidFill>
                  <a:srgbClr val="000000"/>
                </a:solidFill>
              </a:rPr>
              <a:t>[9] P. Schmidt et al., "Introducing WESAD, a Multimodal Dataset for Wearable Stress and Affect Detection," ACM ICMI, 2018, pp. 400–408.</a:t>
            </a:r>
          </a:p>
        </p:txBody>
      </p:sp>
      <p:sp>
        <p:nvSpPr>
          <p:cNvPr id="4" name="Slide Number Placeholder 3">
            <a:extLst>
              <a:ext uri="{FF2B5EF4-FFF2-40B4-BE49-F238E27FC236}">
                <a16:creationId xmlns:a16="http://schemas.microsoft.com/office/drawing/2014/main" id="{B7178E31-C4A1-457D-8329-E48C46A06169}"/>
              </a:ext>
            </a:extLst>
          </p:cNvPr>
          <p:cNvSpPr>
            <a:spLocks noGrp="1"/>
          </p:cNvSpPr>
          <p:nvPr>
            <p:ph type="sldNum" sz="quarter" idx="12"/>
          </p:nvPr>
        </p:nvSpPr>
        <p:spPr/>
        <p:txBody>
          <a:bodyPr/>
          <a:lstStyle/>
          <a:p>
            <a:fld id="{0A5CBF63-613C-4E8E-B1A0-D710C5F27341}" type="slidenum">
              <a:rPr lang="en-US" smtClean="0"/>
              <a:t>12</a:t>
            </a:fld>
            <a:endParaRPr lang="en-US"/>
          </a:p>
        </p:txBody>
      </p:sp>
      <p:sp>
        <p:nvSpPr>
          <p:cNvPr id="5" name="Rectangle 4"/>
          <p:cNvSpPr/>
          <p:nvPr/>
        </p:nvSpPr>
        <p:spPr>
          <a:xfrm>
            <a:off x="0" y="1444752"/>
            <a:ext cx="12188952" cy="50292"/>
          </a:xfrm>
          <a:prstGeom prst="rect">
            <a:avLst/>
          </a:prstGeom>
          <a:solidFill>
            <a:srgbClr val="008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7515726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B94B9-376A-4457-BFB2-B85BAEC19CAF}"/>
              </a:ext>
            </a:extLst>
          </p:cNvPr>
          <p:cNvSpPr>
            <a:spLocks noGrp="1"/>
          </p:cNvSpPr>
          <p:nvPr>
            <p:ph type="title"/>
          </p:nvPr>
        </p:nvSpPr>
        <p:spPr/>
        <p:txBody>
          <a:bodyPr/>
          <a:lstStyle/>
          <a:p>
            <a:r>
              <a:rPr lang="en-US" dirty="0"/>
              <a:t>End</a:t>
            </a:r>
          </a:p>
        </p:txBody>
      </p:sp>
      <p:sp>
        <p:nvSpPr>
          <p:cNvPr id="3" name="Content Placeholder 2">
            <a:extLst>
              <a:ext uri="{FF2B5EF4-FFF2-40B4-BE49-F238E27FC236}">
                <a16:creationId xmlns:a16="http://schemas.microsoft.com/office/drawing/2014/main" id="{09389926-2F28-4261-98C7-EBEE37734DC8}"/>
              </a:ext>
            </a:extLst>
          </p:cNvPr>
          <p:cNvSpPr>
            <a:spLocks noGrp="1"/>
          </p:cNvSpPr>
          <p:nvPr>
            <p:ph idx="1"/>
          </p:nvPr>
        </p:nvSpPr>
        <p:spPr/>
        <p:txBody>
          <a:bodyPr/>
          <a:lstStyle/>
          <a:p>
            <a:r>
              <a:rPr lang="en-US" dirty="0">
                <a:highlight>
                  <a:srgbClr val="FFFF00"/>
                </a:highlight>
              </a:rPr>
              <a:t>This should be the end of your slide presentation</a:t>
            </a:r>
          </a:p>
        </p:txBody>
      </p:sp>
      <p:sp>
        <p:nvSpPr>
          <p:cNvPr id="4" name="Slide Number Placeholder 3">
            <a:extLst>
              <a:ext uri="{FF2B5EF4-FFF2-40B4-BE49-F238E27FC236}">
                <a16:creationId xmlns:a16="http://schemas.microsoft.com/office/drawing/2014/main" id="{66A9EFFA-09BB-4BC2-8A9B-647310BD2272}"/>
              </a:ext>
            </a:extLst>
          </p:cNvPr>
          <p:cNvSpPr>
            <a:spLocks noGrp="1"/>
          </p:cNvSpPr>
          <p:nvPr>
            <p:ph type="sldNum" sz="quarter" idx="12"/>
          </p:nvPr>
        </p:nvSpPr>
        <p:spPr/>
        <p:txBody>
          <a:bodyPr/>
          <a:lstStyle/>
          <a:p>
            <a:fld id="{0A5CBF63-613C-4E8E-B1A0-D710C5F27341}" type="slidenum">
              <a:rPr lang="en-US" smtClean="0"/>
              <a:t>13</a:t>
            </a:fld>
            <a:endParaRPr lang="en-US"/>
          </a:p>
        </p:txBody>
      </p:sp>
    </p:spTree>
    <p:extLst>
      <p:ext uri="{BB962C8B-B14F-4D97-AF65-F5344CB8AC3E}">
        <p14:creationId xmlns:p14="http://schemas.microsoft.com/office/powerpoint/2010/main" val="35318755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E5E19-0F1B-45B3-ADAB-278B33B9FFB8}"/>
              </a:ext>
            </a:extLst>
          </p:cNvPr>
          <p:cNvSpPr>
            <a:spLocks noGrp="1"/>
          </p:cNvSpPr>
          <p:nvPr>
            <p:ph type="title"/>
          </p:nvPr>
        </p:nvSpPr>
        <p:spPr/>
        <p:txBody>
          <a:bodyPr/>
          <a:lstStyle/>
          <a:p>
            <a:r>
              <a:rPr lang="en-US" dirty="0"/>
              <a:t>Additional Presentation Tips</a:t>
            </a:r>
          </a:p>
        </p:txBody>
      </p:sp>
      <p:sp>
        <p:nvSpPr>
          <p:cNvPr id="3" name="Content Placeholder 2">
            <a:extLst>
              <a:ext uri="{FF2B5EF4-FFF2-40B4-BE49-F238E27FC236}">
                <a16:creationId xmlns:a16="http://schemas.microsoft.com/office/drawing/2014/main" id="{780007F2-EDE5-45A3-84D8-561E4C805FE8}"/>
              </a:ext>
            </a:extLst>
          </p:cNvPr>
          <p:cNvSpPr>
            <a:spLocks noGrp="1"/>
          </p:cNvSpPr>
          <p:nvPr>
            <p:ph idx="1"/>
          </p:nvPr>
        </p:nvSpPr>
        <p:spPr/>
        <p:txBody>
          <a:bodyPr>
            <a:normAutofit/>
          </a:bodyPr>
          <a:lstStyle/>
          <a:p>
            <a:r>
              <a:rPr lang="en-US" dirty="0"/>
              <a:t>Slide Design: Stick to this template </a:t>
            </a:r>
            <a:r>
              <a:rPr lang="en-US" b="1" dirty="0"/>
              <a:t>ONLY</a:t>
            </a:r>
            <a:r>
              <a:rPr lang="en-US" dirty="0"/>
              <a:t>. Avoid clutter; each slide should convey a single idea or a closely related set of points.</a:t>
            </a:r>
          </a:p>
          <a:p>
            <a:r>
              <a:rPr lang="en-US" dirty="0"/>
              <a:t>Limit text on each slide; use bullet points and visuals to enhance clarity.</a:t>
            </a:r>
          </a:p>
          <a:p>
            <a:r>
              <a:rPr lang="en-US" dirty="0"/>
              <a:t>Include diagrams, flowcharts, or tables where applicable.</a:t>
            </a:r>
          </a:p>
          <a:p>
            <a:r>
              <a:rPr lang="en-US" dirty="0"/>
              <a:t>Maintain a consistent theme and font size throughout the presentation.</a:t>
            </a:r>
          </a:p>
          <a:p>
            <a:r>
              <a:rPr lang="en-US" dirty="0"/>
              <a:t>Aim for a presentation length of 5-10 minutes.</a:t>
            </a:r>
          </a:p>
        </p:txBody>
      </p:sp>
      <p:sp>
        <p:nvSpPr>
          <p:cNvPr id="4" name="Slide Number Placeholder 3">
            <a:extLst>
              <a:ext uri="{FF2B5EF4-FFF2-40B4-BE49-F238E27FC236}">
                <a16:creationId xmlns:a16="http://schemas.microsoft.com/office/drawing/2014/main" id="{68F32A74-275B-4B17-269E-020951C91AC5}"/>
              </a:ext>
            </a:extLst>
          </p:cNvPr>
          <p:cNvSpPr>
            <a:spLocks noGrp="1"/>
          </p:cNvSpPr>
          <p:nvPr>
            <p:ph type="sldNum" sz="quarter" idx="12"/>
          </p:nvPr>
        </p:nvSpPr>
        <p:spPr/>
        <p:txBody>
          <a:bodyPr/>
          <a:lstStyle/>
          <a:p>
            <a:fld id="{B6F15528-21DE-4FAA-801E-634DDDAF4B2B}" type="slidenum">
              <a:rPr lang="en-US" smtClean="0"/>
              <a:pPr/>
              <a:t>14</a:t>
            </a:fld>
            <a:endParaRPr lang="en-US"/>
          </a:p>
        </p:txBody>
      </p:sp>
    </p:spTree>
    <p:extLst>
      <p:ext uri="{BB962C8B-B14F-4D97-AF65-F5344CB8AC3E}">
        <p14:creationId xmlns:p14="http://schemas.microsoft.com/office/powerpoint/2010/main" val="31064034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5D4AE-EA2E-43C3-A019-FC0268A961D2}"/>
              </a:ext>
            </a:extLst>
          </p:cNvPr>
          <p:cNvSpPr>
            <a:spLocks noGrp="1"/>
          </p:cNvSpPr>
          <p:nvPr>
            <p:ph type="title"/>
          </p:nvPr>
        </p:nvSpPr>
        <p:spPr/>
        <p:txBody>
          <a:bodyPr/>
          <a:lstStyle/>
          <a:p>
            <a:r>
              <a:rPr lang="en-US" dirty="0"/>
              <a:t>Part 2: Live Demo of Implementation: Setup</a:t>
            </a:r>
          </a:p>
        </p:txBody>
      </p:sp>
      <p:sp>
        <p:nvSpPr>
          <p:cNvPr id="3" name="Content Placeholder 2">
            <a:extLst>
              <a:ext uri="{FF2B5EF4-FFF2-40B4-BE49-F238E27FC236}">
                <a16:creationId xmlns:a16="http://schemas.microsoft.com/office/drawing/2014/main" id="{25764FDE-E427-493D-B7AE-9CAB3A3A6ECA}"/>
              </a:ext>
            </a:extLst>
          </p:cNvPr>
          <p:cNvSpPr>
            <a:spLocks noGrp="1"/>
          </p:cNvSpPr>
          <p:nvPr>
            <p:ph idx="1"/>
          </p:nvPr>
        </p:nvSpPr>
        <p:spPr/>
        <p:txBody>
          <a:bodyPr/>
          <a:lstStyle/>
          <a:p>
            <a:r>
              <a:rPr lang="en-US" dirty="0"/>
              <a:t>Prepare a Jupyter Notebook or other coding environment (e.g., Google Colab, PyCharm).</a:t>
            </a:r>
          </a:p>
          <a:p>
            <a:r>
              <a:rPr lang="en-US" dirty="0"/>
              <a:t>Ensure all dependencies are installed and tested before the demo.</a:t>
            </a:r>
          </a:p>
        </p:txBody>
      </p:sp>
      <p:sp>
        <p:nvSpPr>
          <p:cNvPr id="4" name="Slide Number Placeholder 3">
            <a:extLst>
              <a:ext uri="{FF2B5EF4-FFF2-40B4-BE49-F238E27FC236}">
                <a16:creationId xmlns:a16="http://schemas.microsoft.com/office/drawing/2014/main" id="{062A178F-5455-4170-89B7-7CE2A57146C7}"/>
              </a:ext>
            </a:extLst>
          </p:cNvPr>
          <p:cNvSpPr>
            <a:spLocks noGrp="1"/>
          </p:cNvSpPr>
          <p:nvPr>
            <p:ph type="sldNum" sz="quarter" idx="12"/>
          </p:nvPr>
        </p:nvSpPr>
        <p:spPr/>
        <p:txBody>
          <a:bodyPr/>
          <a:lstStyle/>
          <a:p>
            <a:fld id="{0A5CBF63-613C-4E8E-B1A0-D710C5F27341}" type="slidenum">
              <a:rPr lang="en-US" smtClean="0"/>
              <a:t>15</a:t>
            </a:fld>
            <a:endParaRPr lang="en-US"/>
          </a:p>
        </p:txBody>
      </p:sp>
    </p:spTree>
    <p:extLst>
      <p:ext uri="{BB962C8B-B14F-4D97-AF65-F5344CB8AC3E}">
        <p14:creationId xmlns:p14="http://schemas.microsoft.com/office/powerpoint/2010/main" val="5857122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2B1D4-76FB-0746-5479-EC3D509DC2F2}"/>
              </a:ext>
            </a:extLst>
          </p:cNvPr>
          <p:cNvSpPr>
            <a:spLocks noGrp="1"/>
          </p:cNvSpPr>
          <p:nvPr>
            <p:ph type="title"/>
          </p:nvPr>
        </p:nvSpPr>
        <p:spPr/>
        <p:txBody>
          <a:bodyPr/>
          <a:lstStyle/>
          <a:p>
            <a:r>
              <a:rPr lang="en-US" dirty="0"/>
              <a:t>Flow of the Demo</a:t>
            </a:r>
          </a:p>
        </p:txBody>
      </p:sp>
      <p:sp>
        <p:nvSpPr>
          <p:cNvPr id="3" name="Content Placeholder 2">
            <a:extLst>
              <a:ext uri="{FF2B5EF4-FFF2-40B4-BE49-F238E27FC236}">
                <a16:creationId xmlns:a16="http://schemas.microsoft.com/office/drawing/2014/main" id="{A66B7B23-539B-B766-3F7F-C8755A8C5E7C}"/>
              </a:ext>
            </a:extLst>
          </p:cNvPr>
          <p:cNvSpPr>
            <a:spLocks noGrp="1"/>
          </p:cNvSpPr>
          <p:nvPr>
            <p:ph idx="1"/>
          </p:nvPr>
        </p:nvSpPr>
        <p:spPr/>
        <p:txBody>
          <a:bodyPr/>
          <a:lstStyle/>
          <a:p>
            <a:r>
              <a:rPr lang="en-US" dirty="0"/>
              <a:t>Dataset Exploration: Briefly show the raw dataset and preprocessing steps.</a:t>
            </a:r>
          </a:p>
          <a:p>
            <a:r>
              <a:rPr lang="en-US" dirty="0"/>
              <a:t>Feature Engineering: Demonstrate the implementation of one or two feature engineering techniques. Include live code execution or pre-recorded segments for computationally intensive steps.</a:t>
            </a:r>
          </a:p>
          <a:p>
            <a:r>
              <a:rPr lang="en-US" dirty="0"/>
              <a:t>Model Evaluation: Run the models and display metrics or visualizations comparing results before and after feature engineering.</a:t>
            </a:r>
          </a:p>
          <a:p>
            <a:r>
              <a:rPr lang="en-US" dirty="0"/>
              <a:t>Automated Feature Engineering: If applicable, demonstrate the use of </a:t>
            </a:r>
            <a:r>
              <a:rPr lang="en-US" dirty="0" err="1"/>
              <a:t>AutoFE</a:t>
            </a:r>
            <a:r>
              <a:rPr lang="en-US" dirty="0"/>
              <a:t> tools and compare results.</a:t>
            </a:r>
          </a:p>
        </p:txBody>
      </p:sp>
      <p:sp>
        <p:nvSpPr>
          <p:cNvPr id="4" name="Slide Number Placeholder 3">
            <a:extLst>
              <a:ext uri="{FF2B5EF4-FFF2-40B4-BE49-F238E27FC236}">
                <a16:creationId xmlns:a16="http://schemas.microsoft.com/office/drawing/2014/main" id="{1E3D41AE-78B7-7DB6-D5FA-75A613ABD1D9}"/>
              </a:ext>
            </a:extLst>
          </p:cNvPr>
          <p:cNvSpPr>
            <a:spLocks noGrp="1"/>
          </p:cNvSpPr>
          <p:nvPr>
            <p:ph type="sldNum" sz="quarter" idx="12"/>
          </p:nvPr>
        </p:nvSpPr>
        <p:spPr/>
        <p:txBody>
          <a:bodyPr/>
          <a:lstStyle/>
          <a:p>
            <a:fld id="{0A5CBF63-613C-4E8E-B1A0-D710C5F27341}" type="slidenum">
              <a:rPr lang="en-US" smtClean="0"/>
              <a:t>16</a:t>
            </a:fld>
            <a:endParaRPr lang="en-US"/>
          </a:p>
        </p:txBody>
      </p:sp>
    </p:spTree>
    <p:extLst>
      <p:ext uri="{BB962C8B-B14F-4D97-AF65-F5344CB8AC3E}">
        <p14:creationId xmlns:p14="http://schemas.microsoft.com/office/powerpoint/2010/main" val="23433598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F701BC-BD78-4D46-984E-7210A7D2AB83}"/>
              </a:ext>
            </a:extLst>
          </p:cNvPr>
          <p:cNvSpPr>
            <a:spLocks noGrp="1"/>
          </p:cNvSpPr>
          <p:nvPr>
            <p:ph type="title"/>
          </p:nvPr>
        </p:nvSpPr>
        <p:spPr/>
        <p:txBody>
          <a:bodyPr/>
          <a:lstStyle/>
          <a:p>
            <a:r>
              <a:rPr lang="en-US" dirty="0"/>
              <a:t>Interactivity</a:t>
            </a:r>
          </a:p>
        </p:txBody>
      </p:sp>
      <p:sp>
        <p:nvSpPr>
          <p:cNvPr id="3" name="Content Placeholder 2">
            <a:extLst>
              <a:ext uri="{FF2B5EF4-FFF2-40B4-BE49-F238E27FC236}">
                <a16:creationId xmlns:a16="http://schemas.microsoft.com/office/drawing/2014/main" id="{DB232A12-2315-4792-B862-0CAF7466193A}"/>
              </a:ext>
            </a:extLst>
          </p:cNvPr>
          <p:cNvSpPr>
            <a:spLocks noGrp="1"/>
          </p:cNvSpPr>
          <p:nvPr>
            <p:ph idx="1"/>
          </p:nvPr>
        </p:nvSpPr>
        <p:spPr/>
        <p:txBody>
          <a:bodyPr/>
          <a:lstStyle/>
          <a:p>
            <a:r>
              <a:rPr lang="en-US" dirty="0"/>
              <a:t>Highlight key parts of the code and explain the logic behind them.</a:t>
            </a:r>
          </a:p>
          <a:p>
            <a:r>
              <a:rPr lang="en-US" dirty="0"/>
              <a:t>Use visualizations (e.g., plots, tables) to make results easy to understand.</a:t>
            </a:r>
          </a:p>
        </p:txBody>
      </p:sp>
      <p:sp>
        <p:nvSpPr>
          <p:cNvPr id="4" name="Slide Number Placeholder 3">
            <a:extLst>
              <a:ext uri="{FF2B5EF4-FFF2-40B4-BE49-F238E27FC236}">
                <a16:creationId xmlns:a16="http://schemas.microsoft.com/office/drawing/2014/main" id="{4316D897-CA62-41B6-BE7A-EDD415538083}"/>
              </a:ext>
            </a:extLst>
          </p:cNvPr>
          <p:cNvSpPr>
            <a:spLocks noGrp="1"/>
          </p:cNvSpPr>
          <p:nvPr>
            <p:ph type="sldNum" sz="quarter" idx="12"/>
          </p:nvPr>
        </p:nvSpPr>
        <p:spPr/>
        <p:txBody>
          <a:bodyPr/>
          <a:lstStyle/>
          <a:p>
            <a:fld id="{0A5CBF63-613C-4E8E-B1A0-D710C5F27341}" type="slidenum">
              <a:rPr lang="en-US" smtClean="0"/>
              <a:t>17</a:t>
            </a:fld>
            <a:endParaRPr lang="en-US"/>
          </a:p>
        </p:txBody>
      </p:sp>
    </p:spTree>
    <p:extLst>
      <p:ext uri="{BB962C8B-B14F-4D97-AF65-F5344CB8AC3E}">
        <p14:creationId xmlns:p14="http://schemas.microsoft.com/office/powerpoint/2010/main" val="15414642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F701BC-BD78-4D46-984E-7210A7D2AB83}"/>
              </a:ext>
            </a:extLst>
          </p:cNvPr>
          <p:cNvSpPr>
            <a:spLocks noGrp="1"/>
          </p:cNvSpPr>
          <p:nvPr>
            <p:ph type="title"/>
          </p:nvPr>
        </p:nvSpPr>
        <p:spPr/>
        <p:txBody>
          <a:bodyPr/>
          <a:lstStyle/>
          <a:p>
            <a:r>
              <a:rPr lang="en-US" dirty="0"/>
              <a:t>Tips for the Demo</a:t>
            </a:r>
          </a:p>
        </p:txBody>
      </p:sp>
      <p:sp>
        <p:nvSpPr>
          <p:cNvPr id="3" name="Content Placeholder 2">
            <a:extLst>
              <a:ext uri="{FF2B5EF4-FFF2-40B4-BE49-F238E27FC236}">
                <a16:creationId xmlns:a16="http://schemas.microsoft.com/office/drawing/2014/main" id="{DB232A12-2315-4792-B862-0CAF7466193A}"/>
              </a:ext>
            </a:extLst>
          </p:cNvPr>
          <p:cNvSpPr>
            <a:spLocks noGrp="1"/>
          </p:cNvSpPr>
          <p:nvPr>
            <p:ph idx="1"/>
          </p:nvPr>
        </p:nvSpPr>
        <p:spPr/>
        <p:txBody>
          <a:bodyPr>
            <a:normAutofit lnSpcReduction="10000"/>
          </a:bodyPr>
          <a:lstStyle/>
          <a:p>
            <a:r>
              <a:rPr lang="en-US" dirty="0"/>
              <a:t>Use concise and well-organized slides to complement the live demo.</a:t>
            </a:r>
          </a:p>
          <a:p>
            <a:r>
              <a:rPr lang="en-US" dirty="0"/>
              <a:t>Avoid technical jargon; explain concepts clearly for a general audience.</a:t>
            </a:r>
          </a:p>
          <a:p>
            <a:r>
              <a:rPr lang="en-US" dirty="0"/>
              <a:t>Test the demo environment multiple times to prevent unexpected issues.</a:t>
            </a:r>
          </a:p>
          <a:p>
            <a:r>
              <a:rPr lang="en-US" dirty="0"/>
              <a:t>Prepare backup screenshots or videos in case of technical difficulties.</a:t>
            </a:r>
          </a:p>
          <a:p>
            <a:r>
              <a:rPr lang="en-US" dirty="0"/>
              <a:t>Aim for a demo length of 5-10 minutes.</a:t>
            </a:r>
          </a:p>
          <a:p>
            <a:r>
              <a:rPr lang="en-US" dirty="0">
                <a:highlight>
                  <a:srgbClr val="FFFF00"/>
                </a:highlight>
              </a:rPr>
              <a:t>If the demo is longer than 9 minutes, record a video and play it at a faster speed while providing a live explanation to keep the audience engaged.</a:t>
            </a:r>
          </a:p>
          <a:p>
            <a:endParaRPr lang="en-US" dirty="0"/>
          </a:p>
        </p:txBody>
      </p:sp>
      <p:sp>
        <p:nvSpPr>
          <p:cNvPr id="4" name="Slide Number Placeholder 3">
            <a:extLst>
              <a:ext uri="{FF2B5EF4-FFF2-40B4-BE49-F238E27FC236}">
                <a16:creationId xmlns:a16="http://schemas.microsoft.com/office/drawing/2014/main" id="{4316D897-CA62-41B6-BE7A-EDD415538083}"/>
              </a:ext>
            </a:extLst>
          </p:cNvPr>
          <p:cNvSpPr>
            <a:spLocks noGrp="1"/>
          </p:cNvSpPr>
          <p:nvPr>
            <p:ph type="sldNum" sz="quarter" idx="12"/>
          </p:nvPr>
        </p:nvSpPr>
        <p:spPr/>
        <p:txBody>
          <a:bodyPr/>
          <a:lstStyle/>
          <a:p>
            <a:fld id="{0A5CBF63-613C-4E8E-B1A0-D710C5F27341}" type="slidenum">
              <a:rPr lang="en-US" smtClean="0"/>
              <a:t>18</a:t>
            </a:fld>
            <a:endParaRPr lang="en-US"/>
          </a:p>
        </p:txBody>
      </p:sp>
    </p:spTree>
    <p:extLst>
      <p:ext uri="{BB962C8B-B14F-4D97-AF65-F5344CB8AC3E}">
        <p14:creationId xmlns:p14="http://schemas.microsoft.com/office/powerpoint/2010/main" val="23891573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CBB2D-720D-4D76-9BB3-D242DCDD5E88}"/>
              </a:ext>
            </a:extLst>
          </p:cNvPr>
          <p:cNvSpPr>
            <a:spLocks noGrp="1"/>
          </p:cNvSpPr>
          <p:nvPr>
            <p:ph type="title"/>
          </p:nvPr>
        </p:nvSpPr>
        <p:spPr/>
        <p:txBody>
          <a:bodyPr/>
          <a:lstStyle/>
          <a:p>
            <a:r>
              <a:rPr lang="en-US" dirty="0"/>
              <a:t>Feedback</a:t>
            </a:r>
          </a:p>
        </p:txBody>
      </p:sp>
      <p:sp>
        <p:nvSpPr>
          <p:cNvPr id="3" name="Content Placeholder 2">
            <a:extLst>
              <a:ext uri="{FF2B5EF4-FFF2-40B4-BE49-F238E27FC236}">
                <a16:creationId xmlns:a16="http://schemas.microsoft.com/office/drawing/2014/main" id="{6CBC6E0D-8AA7-476E-890D-737388BF4D65}"/>
              </a:ext>
            </a:extLst>
          </p:cNvPr>
          <p:cNvSpPr>
            <a:spLocks noGrp="1"/>
          </p:cNvSpPr>
          <p:nvPr>
            <p:ph idx="1"/>
          </p:nvPr>
        </p:nvSpPr>
        <p:spPr/>
        <p:txBody>
          <a:bodyPr/>
          <a:lstStyle/>
          <a:p>
            <a:r>
              <a:rPr lang="en-US" dirty="0"/>
              <a:t>Feedback Reports  </a:t>
            </a:r>
          </a:p>
          <a:p>
            <a:pPr lvl="1"/>
            <a:r>
              <a:rPr lang="en-US" dirty="0"/>
              <a:t>Submit feedback reports for other groups’ presentations on the same day (maximum 500 words total for two presentations). The number of reports required will be announced at the beginning of each day.</a:t>
            </a:r>
          </a:p>
          <a:p>
            <a:pPr lvl="1"/>
            <a:r>
              <a:rPr lang="en-US" dirty="0"/>
              <a:t>Each feedback report is worth 10 points and will be counted toward the Project 2 Report. </a:t>
            </a:r>
          </a:p>
        </p:txBody>
      </p:sp>
      <p:sp>
        <p:nvSpPr>
          <p:cNvPr id="4" name="Slide Number Placeholder 3">
            <a:extLst>
              <a:ext uri="{FF2B5EF4-FFF2-40B4-BE49-F238E27FC236}">
                <a16:creationId xmlns:a16="http://schemas.microsoft.com/office/drawing/2014/main" id="{A93E8F82-2892-4964-8869-1F6F66D03324}"/>
              </a:ext>
            </a:extLst>
          </p:cNvPr>
          <p:cNvSpPr>
            <a:spLocks noGrp="1"/>
          </p:cNvSpPr>
          <p:nvPr>
            <p:ph type="sldNum" sz="quarter" idx="12"/>
          </p:nvPr>
        </p:nvSpPr>
        <p:spPr/>
        <p:txBody>
          <a:bodyPr/>
          <a:lstStyle/>
          <a:p>
            <a:fld id="{0A5CBF63-613C-4E8E-B1A0-D710C5F27341}" type="slidenum">
              <a:rPr lang="en-US" smtClean="0"/>
              <a:t>19</a:t>
            </a:fld>
            <a:endParaRPr lang="en-US"/>
          </a:p>
        </p:txBody>
      </p:sp>
    </p:spTree>
    <p:extLst>
      <p:ext uri="{BB962C8B-B14F-4D97-AF65-F5344CB8AC3E}">
        <p14:creationId xmlns:p14="http://schemas.microsoft.com/office/powerpoint/2010/main" val="263206607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37f4b8a2-ad4f-41b5-9a91-284d2cc38f56}" enabled="1" method="Standard" siteId="{70de1992-07c6-480f-a318-a1afcba03983}" contentBits="0" removed="0"/>
</clbl:labelList>
</file>

<file path=docProps/app.xml><?xml version="1.0" encoding="utf-8"?>
<Properties xmlns="http://schemas.openxmlformats.org/officeDocument/2006/extended-properties" xmlns:vt="http://schemas.openxmlformats.org/officeDocument/2006/docPropsVTypes">
  <TotalTime>1048</TotalTime>
  <Words>779</Words>
  <Application>Microsoft Office PowerPoint</Application>
  <PresentationFormat>Widescreen</PresentationFormat>
  <Paragraphs>103</Paragraphs>
  <Slides>19</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Times New Roman</vt:lpstr>
      <vt:lpstr>Office Theme</vt:lpstr>
      <vt:lpstr>Group #: Your Project Title</vt:lpstr>
      <vt:lpstr>Outline(Update Required)</vt:lpstr>
      <vt:lpstr>Recap of the Project 1 Proposal</vt:lpstr>
      <vt:lpstr>Recap of the Project 1 Proposal (cont. ) </vt:lpstr>
      <vt:lpstr>Feature Engineering Techniques</vt:lpstr>
      <vt:lpstr>Feature Engineering Techniques (cont. ) </vt:lpstr>
      <vt:lpstr>Machine Learning Models</vt:lpstr>
      <vt:lpstr>Machine Learning Models (cont. ) </vt:lpstr>
      <vt:lpstr>Results and Analysis</vt:lpstr>
      <vt:lpstr>Discussion</vt:lpstr>
      <vt:lpstr>Conclusion</vt:lpstr>
      <vt:lpstr>References</vt:lpstr>
      <vt:lpstr>End</vt:lpstr>
      <vt:lpstr>Additional Presentation Tips</vt:lpstr>
      <vt:lpstr>Part 2: Live Demo of Implementation: Setup</vt:lpstr>
      <vt:lpstr>Flow of the Demo</vt:lpstr>
      <vt:lpstr>Interactivity</vt:lpstr>
      <vt:lpstr>Tips for the Demo</vt:lpstr>
      <vt:lpstr>Feedback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Basics of Algorithm</dc:title>
  <dc:creator>Li, Yuan</dc:creator>
  <cp:lastModifiedBy>Li, Yuan</cp:lastModifiedBy>
  <cp:revision>116</cp:revision>
  <dcterms:created xsi:type="dcterms:W3CDTF">2023-05-20T16:26:16Z</dcterms:created>
  <dcterms:modified xsi:type="dcterms:W3CDTF">2026-04-07T16:32:38Z</dcterms:modified>
</cp:coreProperties>
</file>