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6"/>
    <p:sldId id="257" r:id="rId27"/>
    <p:sldId id="258" r:id="rId28"/>
    <p:sldId id="259" r:id="rId29"/>
    <p:sldId id="260" r:id="rId30"/>
    <p:sldId id="261" r:id="rId31"/>
    <p:sldId id="262" r:id="rId32"/>
    <p:sldId id="263" r:id="rId33"/>
    <p:sldId id="264" r:id="rId34"/>
    <p:sldId id="265" r:id="rId35"/>
    <p:sldId id="266" r:id="rId36"/>
    <p:sldId id="267" r:id="rId37"/>
    <p:sldId id="268" r:id="rId38"/>
    <p:sldId id="269" r:id="rId39"/>
    <p:sldId id="270" r:id="rId40"/>
    <p:sldId id="271"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733" autoAdjust="0"/>
  </p:normalViewPr>
  <p:slideViewPr>
    <p:cSldViewPr snapToGrid="0">
      <p:cViewPr varScale="1">
        <p:scale>
          <a:sx n="85" d="100"/>
          <a:sy n="85" d="100"/>
        </p:scale>
        <p:origin x="1554" y="7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1.xml"/><Relationship Id="rId27" Type="http://schemas.openxmlformats.org/officeDocument/2006/relationships/slide" Target="slides/slide2.xml"/><Relationship Id="rId28" Type="http://schemas.openxmlformats.org/officeDocument/2006/relationships/slide" Target="slides/slide3.xml"/><Relationship Id="rId29" Type="http://schemas.openxmlformats.org/officeDocument/2006/relationships/slide" Target="slides/slide4.xml"/><Relationship Id="rId30" Type="http://schemas.openxmlformats.org/officeDocument/2006/relationships/slide" Target="slides/slide5.xml"/><Relationship Id="rId31" Type="http://schemas.openxmlformats.org/officeDocument/2006/relationships/slide" Target="slides/slide6.xml"/><Relationship Id="rId32" Type="http://schemas.openxmlformats.org/officeDocument/2006/relationships/slide" Target="slides/slide7.xml"/><Relationship Id="rId33" Type="http://schemas.openxmlformats.org/officeDocument/2006/relationships/slide" Target="slides/slide8.xml"/><Relationship Id="rId34" Type="http://schemas.openxmlformats.org/officeDocument/2006/relationships/slide" Target="slides/slide9.xml"/><Relationship Id="rId35" Type="http://schemas.openxmlformats.org/officeDocument/2006/relationships/slide" Target="slides/slide10.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99FC4A6-2233-41AB-8127-C574819A5260}" type="datetimeFigureOut">
              <a:rPr lang="en-US" smtClean="0"/>
              <a:t>4/7/2026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788229-8701-402C-9EFE-92AF1B162F60}" type="slidenum">
              <a:rPr lang="en-US" smtClean="0"/>
              <a:t>‹#›</a:t>
            </a:fld>
            <a:endParaRPr lang="en-US"/>
          </a:p>
        </p:txBody>
      </p:sp>
    </p:spTree>
    <p:extLst>
      <p:ext uri="{BB962C8B-B14F-4D97-AF65-F5344CB8AC3E}">
        <p14:creationId xmlns:p14="http://schemas.microsoft.com/office/powerpoint/2010/main" val="2044507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4788229-8701-402C-9EFE-92AF1B162F60}" type="slidenum">
              <a:rPr lang="en-US" smtClean="0"/>
              <a:t>2</a:t>
            </a:fld>
            <a:endParaRPr lang="en-US"/>
          </a:p>
        </p:txBody>
      </p:sp>
    </p:spTree>
    <p:extLst>
      <p:ext uri="{BB962C8B-B14F-4D97-AF65-F5344CB8AC3E}">
        <p14:creationId xmlns:p14="http://schemas.microsoft.com/office/powerpoint/2010/main" val="17242692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B3929-88CC-4868-BDA1-59A64D43EBF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FEDD6DB-1BB2-4E16-B0BB-E8BA2BDF61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E7AAA9F-B17D-4248-B8EB-71AC9B01BC01}"/>
              </a:ext>
            </a:extLst>
          </p:cNvPr>
          <p:cNvSpPr>
            <a:spLocks noGrp="1"/>
          </p:cNvSpPr>
          <p:nvPr>
            <p:ph type="dt" sz="half" idx="10"/>
          </p:nvPr>
        </p:nvSpPr>
        <p:spPr/>
        <p:txBody>
          <a:bodyPr/>
          <a:lstStyle/>
          <a:p>
            <a:fld id="{177D84CC-09F3-4E2A-95B7-B65ACAD094AB}" type="datetime1">
              <a:rPr lang="en-US" smtClean="0"/>
              <a:t>4/7/2026</a:t>
            </a:fld>
            <a:endParaRPr lang="en-US"/>
          </a:p>
        </p:txBody>
      </p:sp>
      <p:sp>
        <p:nvSpPr>
          <p:cNvPr id="5" name="Footer Placeholder 4">
            <a:extLst>
              <a:ext uri="{FF2B5EF4-FFF2-40B4-BE49-F238E27FC236}">
                <a16:creationId xmlns:a16="http://schemas.microsoft.com/office/drawing/2014/main" id="{C71E4DB2-5340-4576-BCE1-5BA586B919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09BF86-13B9-4063-95F2-A447FD8F80F4}"/>
              </a:ext>
            </a:extLst>
          </p:cNvPr>
          <p:cNvSpPr>
            <a:spLocks noGrp="1"/>
          </p:cNvSpPr>
          <p:nvPr>
            <p:ph type="sldNum" sz="quarter" idx="12"/>
          </p:nvPr>
        </p:nvSpPr>
        <p:spPr/>
        <p:txBody>
          <a:bodyPr/>
          <a:lstStyle/>
          <a:p>
            <a:fld id="{0A5CBF63-613C-4E8E-B1A0-D710C5F27341}" type="slidenum">
              <a:rPr lang="en-US" smtClean="0"/>
              <a:t>‹#›</a:t>
            </a:fld>
            <a:endParaRPr lang="en-US"/>
          </a:p>
        </p:txBody>
      </p:sp>
    </p:spTree>
    <p:extLst>
      <p:ext uri="{BB962C8B-B14F-4D97-AF65-F5344CB8AC3E}">
        <p14:creationId xmlns:p14="http://schemas.microsoft.com/office/powerpoint/2010/main" val="1573763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90DC55-17C7-4615-9218-FEA6C38F07F8}"/>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56086033-9AEC-4DF1-8046-55049D40CF9A}"/>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5C27086-09CC-4BBE-8A58-380366BA6A8D}"/>
              </a:ext>
            </a:extLst>
          </p:cNvPr>
          <p:cNvSpPr>
            <a:spLocks noGrp="1"/>
          </p:cNvSpPr>
          <p:nvPr>
            <p:ph type="dt" sz="half" idx="10"/>
          </p:nvPr>
        </p:nvSpPr>
        <p:spPr/>
        <p:txBody>
          <a:bodyPr/>
          <a:lstStyle/>
          <a:p>
            <a:fld id="{ADA7BB36-3D62-4470-A97F-B676A5EA1684}" type="datetime1">
              <a:rPr lang="en-US" smtClean="0"/>
              <a:t>4/7/2026</a:t>
            </a:fld>
            <a:endParaRPr lang="en-US"/>
          </a:p>
        </p:txBody>
      </p:sp>
      <p:sp>
        <p:nvSpPr>
          <p:cNvPr id="5" name="Footer Placeholder 4">
            <a:extLst>
              <a:ext uri="{FF2B5EF4-FFF2-40B4-BE49-F238E27FC236}">
                <a16:creationId xmlns:a16="http://schemas.microsoft.com/office/drawing/2014/main" id="{11F1496C-4165-4039-BF78-B97DBB45DE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423ECE-0D9F-4ACC-BE4A-8CECB4C21533}"/>
              </a:ext>
            </a:extLst>
          </p:cNvPr>
          <p:cNvSpPr>
            <a:spLocks noGrp="1"/>
          </p:cNvSpPr>
          <p:nvPr>
            <p:ph type="sldNum" sz="quarter" idx="12"/>
          </p:nvPr>
        </p:nvSpPr>
        <p:spPr/>
        <p:txBody>
          <a:bodyPr/>
          <a:lstStyle/>
          <a:p>
            <a:fld id="{0A5CBF63-613C-4E8E-B1A0-D710C5F27341}" type="slidenum">
              <a:rPr lang="en-US" smtClean="0"/>
              <a:t>‹#›</a:t>
            </a:fld>
            <a:endParaRPr lang="en-US"/>
          </a:p>
        </p:txBody>
      </p:sp>
    </p:spTree>
    <p:extLst>
      <p:ext uri="{BB962C8B-B14F-4D97-AF65-F5344CB8AC3E}">
        <p14:creationId xmlns:p14="http://schemas.microsoft.com/office/powerpoint/2010/main" val="8229205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2D4B34-3710-42BD-B15F-29029DE5FC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DFD60566-4132-4228-A009-90DECD849C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707AE5F-FB3D-4742-AE94-C679CACFFC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FE40B3-AC35-4E45-9A9A-E84AA48B06BB}" type="datetime1">
              <a:rPr lang="en-US" smtClean="0"/>
              <a:t>4/7/2026</a:t>
            </a:fld>
            <a:endParaRPr lang="en-US"/>
          </a:p>
        </p:txBody>
      </p:sp>
      <p:sp>
        <p:nvSpPr>
          <p:cNvPr id="5" name="Footer Placeholder 4">
            <a:extLst>
              <a:ext uri="{FF2B5EF4-FFF2-40B4-BE49-F238E27FC236}">
                <a16:creationId xmlns:a16="http://schemas.microsoft.com/office/drawing/2014/main" id="{DA06C9F7-1EC6-4794-BDB8-448CC751A5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A2E5C9-B3A4-4B3E-A5F8-4D85104B094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A5CBF63-613C-4E8E-B1A0-D710C5F27341}" type="slidenum">
              <a:rPr lang="en-US" smtClean="0"/>
              <a:t>‹#›</a:t>
            </a:fld>
            <a:endParaRPr lang="en-US"/>
          </a:p>
        </p:txBody>
      </p:sp>
      <p:pic>
        <p:nvPicPr>
          <p:cNvPr id="7" name="Picture 6">
            <a:extLst>
              <a:ext uri="{FF2B5EF4-FFF2-40B4-BE49-F238E27FC236}">
                <a16:creationId xmlns:a16="http://schemas.microsoft.com/office/drawing/2014/main" id="{A0EF8106-F7B3-4DBF-8958-3A64985661AA}"/>
              </a:ext>
            </a:extLst>
          </p:cNvPr>
          <p:cNvPicPr>
            <a:picLocks noChangeAspect="1"/>
          </p:cNvPicPr>
          <p:nvPr userDrawn="1"/>
        </p:nvPicPr>
        <p:blipFill>
          <a:blip r:embed="rId4"/>
          <a:stretch>
            <a:fillRect/>
          </a:stretch>
        </p:blipFill>
        <p:spPr>
          <a:xfrm>
            <a:off x="10349932" y="217820"/>
            <a:ext cx="1623486" cy="749301"/>
          </a:xfrm>
          <a:prstGeom prst="rect">
            <a:avLst/>
          </a:prstGeom>
        </p:spPr>
      </p:pic>
    </p:spTree>
    <p:extLst>
      <p:ext uri="{BB962C8B-B14F-4D97-AF65-F5344CB8AC3E}">
        <p14:creationId xmlns:p14="http://schemas.microsoft.com/office/powerpoint/2010/main" val="336168443"/>
      </p:ext>
    </p:extLst>
  </p:cSld>
  <p:clrMap bg1="lt1" tx1="dk1" bg2="lt2" tx2="dk2" accent1="accent1" accent2="accent2" accent3="accent3" accent4="accent4" accent5="accent5" accent6="accent6" hlink="hlink" folHlink="folHlink"/>
  <p:sldLayoutIdLst>
    <p:sldLayoutId id="2147483649" r:id="rId1"/>
    <p:sldLayoutId id="2147483650" r:id="rId2"/>
  </p:sldLayoutIdLst>
  <p:hf hdr="0" ftr="0" dt="0"/>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600" b="0">
                <a:solidFill>
                  <a:srgbClr val="000000"/>
                </a:solidFill>
              </a:rPr>
              <a:t>Group 18: Feature Engineering for Time-Series
Hybrid, Automated, and Interpretable Approaches</a:t>
            </a:r>
          </a:p>
        </p:txBody>
      </p:sp>
      <p:sp>
        <p:nvSpPr>
          <p:cNvPr id="3" name="Subtitle 2"/>
          <p:cNvSpPr>
            <a:spLocks noGrp="1"/>
          </p:cNvSpPr>
          <p:nvPr>
            <p:ph type="subTitle" idx="1"/>
          </p:nvPr>
        </p:nvSpPr>
        <p:spPr/>
        <p:txBody>
          <a:bodyPr/>
          <a:lstStyle/>
          <a:p/>
        </p:txBody>
      </p:sp>
    </p:spTree>
  </p:cSld>
  <p:clrMapOvr>
    <a:masterClrMapping/>
  </p:clrMapOvr>
</p:sld>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600" b="0">
                <a:solidFill>
                  <a:srgbClr val="000000"/>
                </a:solidFill>
              </a:rPr>
              <a:t>Group 18: Feature Engineering for Time-Series
Hybrid, Automated, and Interpretable Approaches</a:t>
            </a:r>
          </a:p>
        </p:txBody>
      </p:sp>
      <p:sp>
        <p:nvSpPr>
          <p:cNvPr id="3" name="Subtitle 2"/>
          <p:cNvSpPr>
            <a:spLocks noGrp="1"/>
          </p:cNvSpPr>
          <p:nvPr>
            <p:ph type="subTitle" idx="1"/>
          </p:nvPr>
        </p:nvSpPr>
        <p:spPr/>
        <p:txBody>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Outline</a:t>
            </a:r>
          </a:p>
        </p:txBody>
      </p:sp>
      <p:sp>
        <p:nvSpPr>
          <p:cNvPr id="3" name="Content Placeholder 2"/>
          <p:cNvSpPr>
            <a:spLocks noGrp="1"/>
          </p:cNvSpPr>
          <p:nvPr>
            <p:ph idx="1"/>
          </p:nvPr>
        </p:nvSpPr>
        <p:spPr/>
        <p:txBody>
          <a:bodyPr wrap="square"/>
          <a:lstStyle/>
          <a:p>
            <a:pPr/>
            <a:r>
              <a:rPr sz="2200" b="1">
                <a:solidFill>
                  <a:srgbClr val="00853E"/>
                </a:solidFill>
              </a:rPr>
              <a:t>Part 1 — Presentation (1–3 min)</a:t>
            </a:r>
          </a:p>
          <a:p>
            <a:pPr lvl="1"/>
            <a:r>
              <a:rPr sz="1900" b="0">
                <a:solidFill>
                  <a:srgbClr val="000000"/>
                </a:solidFill>
              </a:rPr>
              <a:t>Recap of Project 1 Proposal</a:t>
            </a:r>
          </a:p>
          <a:p>
            <a:pPr lvl="1"/>
            <a:r>
              <a:rPr sz="1900" b="0">
                <a:solidFill>
                  <a:srgbClr val="000000"/>
                </a:solidFill>
              </a:rPr>
              <a:t>Feature Engineering Techniques Implemented</a:t>
            </a:r>
          </a:p>
          <a:p>
            <a:pPr lvl="1"/>
            <a:r>
              <a:rPr sz="1900" b="0">
                <a:solidFill>
                  <a:srgbClr val="000000"/>
                </a:solidFill>
              </a:rPr>
              <a:t>Machine Learning Models and Baselines</a:t>
            </a:r>
          </a:p>
          <a:p>
            <a:pPr lvl="1"/>
            <a:r>
              <a:rPr sz="1900" b="0">
                <a:solidFill>
                  <a:srgbClr val="000000"/>
                </a:solidFill>
              </a:rPr>
              <a:t>Results and Analysis</a:t>
            </a:r>
          </a:p>
          <a:p>
            <a:pPr lvl="1"/>
            <a:r>
              <a:rPr sz="1900" b="0">
                <a:solidFill>
                  <a:srgbClr val="000000"/>
                </a:solidFill>
              </a:rPr>
              <a:t>Discussion and Conclusion</a:t>
            </a:r>
          </a:p>
          <a:p>
            <a:pPr/>
            <a:r>
              <a:rPr sz="2200" b="1">
                <a:solidFill>
                  <a:srgbClr val="00853E"/>
                </a:solidFill>
              </a:rPr>
              <a:t>Part 2 — Live Demo (3–13 min)</a:t>
            </a:r>
          </a:p>
          <a:p>
            <a:pPr lvl="1"/>
            <a:r>
              <a:rPr sz="1900" b="0">
                <a:solidFill>
                  <a:srgbClr val="000000"/>
                </a:solidFill>
              </a:rPr>
              <a:t>Dataset exploration and preprocessing walkthrough</a:t>
            </a:r>
          </a:p>
          <a:p>
            <a:pPr lvl="1"/>
            <a:r>
              <a:rPr sz="1900" b="0">
                <a:solidFill>
                  <a:srgbClr val="000000"/>
                </a:solidFill>
              </a:rPr>
              <a:t>Live feature extraction and SHAP pruning demo</a:t>
            </a:r>
          </a:p>
          <a:p>
            <a:pPr lvl="1"/>
            <a:r>
              <a:rPr sz="1900" b="0">
                <a:solidFill>
                  <a:srgbClr val="000000"/>
                </a:solidFill>
              </a:rPr>
              <a:t>Model evaluation: before vs. after feature engineering</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Outline</a:t>
            </a:r>
          </a:p>
        </p:txBody>
      </p:sp>
      <p:sp>
        <p:nvSpPr>
          <p:cNvPr id="3" name="Content Placeholder 2"/>
          <p:cNvSpPr>
            <a:spLocks noGrp="1"/>
          </p:cNvSpPr>
          <p:nvPr>
            <p:ph idx="1"/>
          </p:nvPr>
        </p:nvSpPr>
        <p:spPr/>
        <p:txBody>
          <a:bodyPr wrap="square"/>
          <a:lstStyle/>
          <a:p>
            <a:pPr/>
            <a:r>
              <a:rPr sz="2200" b="1">
                <a:solidFill>
                  <a:srgbClr val="00853E"/>
                </a:solidFill>
              </a:rPr>
              <a:t>Part 1 — Presentation (1–3 min)</a:t>
            </a:r>
          </a:p>
          <a:p>
            <a:pPr lvl="1"/>
            <a:r>
              <a:rPr sz="1900" b="0">
                <a:solidFill>
                  <a:srgbClr val="000000"/>
                </a:solidFill>
              </a:rPr>
              <a:t>Recap of Project 1 Proposal</a:t>
            </a:r>
          </a:p>
          <a:p>
            <a:pPr lvl="1"/>
            <a:r>
              <a:rPr sz="1900" b="0">
                <a:solidFill>
                  <a:srgbClr val="000000"/>
                </a:solidFill>
              </a:rPr>
              <a:t>Feature Engineering Techniques Implemented</a:t>
            </a:r>
          </a:p>
          <a:p>
            <a:pPr lvl="1"/>
            <a:r>
              <a:rPr sz="1900" b="0">
                <a:solidFill>
                  <a:srgbClr val="000000"/>
                </a:solidFill>
              </a:rPr>
              <a:t>Machine Learning Models and Baselines</a:t>
            </a:r>
          </a:p>
          <a:p>
            <a:pPr lvl="1"/>
            <a:r>
              <a:rPr sz="1900" b="0">
                <a:solidFill>
                  <a:srgbClr val="000000"/>
                </a:solidFill>
              </a:rPr>
              <a:t>Results and Analysis</a:t>
            </a:r>
          </a:p>
          <a:p>
            <a:pPr lvl="1"/>
            <a:r>
              <a:rPr sz="1900" b="0">
                <a:solidFill>
                  <a:srgbClr val="000000"/>
                </a:solidFill>
              </a:rPr>
              <a:t>Discussion and Conclusion</a:t>
            </a:r>
          </a:p>
          <a:p>
            <a:pPr/>
            <a:r>
              <a:rPr sz="2200" b="1">
                <a:solidFill>
                  <a:srgbClr val="00853E"/>
                </a:solidFill>
              </a:rPr>
              <a:t>Part 2 — Live Demo (3–13 min)</a:t>
            </a:r>
          </a:p>
          <a:p>
            <a:pPr lvl="1"/>
            <a:r>
              <a:rPr sz="1900" b="0">
                <a:solidFill>
                  <a:srgbClr val="000000"/>
                </a:solidFill>
              </a:rPr>
              <a:t>Dataset exploration and preprocessing walkthrough</a:t>
            </a:r>
          </a:p>
          <a:p>
            <a:pPr lvl="1"/>
            <a:r>
              <a:rPr sz="1900" b="0">
                <a:solidFill>
                  <a:srgbClr val="000000"/>
                </a:solidFill>
              </a:rPr>
              <a:t>Live feature extraction and SHAP pruning demo</a:t>
            </a:r>
          </a:p>
          <a:p>
            <a:pPr lvl="1"/>
            <a:r>
              <a:rPr sz="1900" b="0">
                <a:solidFill>
                  <a:srgbClr val="000000"/>
                </a:solidFill>
              </a:rPr>
              <a:t>Model evaluation: before vs. after feature engineering</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Recap of Project 1 Proposal</a:t>
            </a:r>
          </a:p>
        </p:txBody>
      </p:sp>
      <p:sp>
        <p:nvSpPr>
          <p:cNvPr id="3" name="Content Placeholder 2"/>
          <p:cNvSpPr>
            <a:spLocks noGrp="1"/>
          </p:cNvSpPr>
          <p:nvPr>
            <p:ph idx="1"/>
          </p:nvPr>
        </p:nvSpPr>
        <p:spPr/>
        <p:txBody>
          <a:bodyPr wrap="square"/>
          <a:lstStyle/>
          <a:p>
            <a:pPr/>
            <a:r>
              <a:rPr sz="1900" b="0">
                <a:solidFill>
                  <a:srgbClr val="000000"/>
                </a:solidFill>
              </a:rPr>
              <a:t>Problem: Extracting meaningful features from time-series is a bottleneck in ML pipelines.</a:t>
            </a:r>
          </a:p>
          <a:p>
            <a:pPr/>
            <a:r>
              <a:rPr sz="1900" b="0">
                <a:solidFill>
                  <a:srgbClr val="000000"/>
                </a:solidFill>
              </a:rPr>
              <a:t>Motivation: Deep learning is powerful but computationally expensive and hard to interpret.</a:t>
            </a:r>
          </a:p>
          <a:p>
            <a:pPr/>
            <a:r>
              <a:rPr sz="1900" b="0">
                <a:solidFill>
                  <a:srgbClr val="000000"/>
                </a:solidFill>
              </a:rPr>
              <a:t>We proposed a unified framework combining hybrid, automated, and explainable feature engineering.</a:t>
            </a:r>
          </a:p>
          <a:p>
            <a:pPr/>
            <a:r>
              <a:rPr sz="1900" b="0">
                <a:solidFill>
                  <a:srgbClr val="000000"/>
                </a:solidFill>
              </a:rPr>
              <a:t>5 papers surveyed (2024–2025): COCALITE, SPLiT, PPG Anomaly, Lag Features, AutoFE-XAI.</a:t>
            </a:r>
          </a:p>
          <a:p>
            <a:pPr/>
            <a:r>
              <a:rPr sz="1900" b="0">
                <a:solidFill>
                  <a:srgbClr val="000000"/>
                </a:solidFill>
              </a:rPr>
              <a:t>3 datasets targeted: UCR Archive (classification), ETTh1 (forecasting), WESAD-like (anomaly).</a:t>
            </a:r>
          </a:p>
          <a:p>
            <a:pPr/>
            <a:r>
              <a:rPr sz="2000" b="1">
                <a:solidFill>
                  <a:srgbClr val="00853E"/>
                </a:solidFill>
              </a:rPr>
              <a:t>Phase 1 Feedback Addressed:</a:t>
            </a:r>
          </a:p>
          <a:p>
            <a:pPr lvl="1"/>
            <a:r>
              <a:rPr sz="1800" b="0">
                <a:solidFill>
                  <a:srgbClr val="000000"/>
                </a:solidFill>
              </a:rPr>
              <a:t>Added Group Number 18 on all submissions</a:t>
            </a:r>
          </a:p>
          <a:p>
            <a:pPr lvl="1"/>
            <a:r>
              <a:rPr sz="1800" b="0">
                <a:solidFill>
                  <a:srgbClr val="000000"/>
                </a:solidFill>
              </a:rPr>
              <a:t>Separated evaluations clearly by task (classification / forecasting / anomaly detection)</a:t>
            </a:r>
          </a:p>
          <a:p>
            <a:pPr lvl="1"/>
            <a:r>
              <a:rPr sz="1800" b="0">
                <a:solidFill>
                  <a:srgbClr val="000000"/>
                </a:solidFill>
              </a:rPr>
              <a:t>Defined explicit baselines for each task</a:t>
            </a:r>
          </a:p>
          <a:p>
            <a:pPr lvl="1"/>
            <a:r>
              <a:rPr sz="1800" b="0">
                <a:solidFill>
                  <a:srgbClr val="000000"/>
                </a:solidFill>
              </a:rPr>
              <a:t>Completed the methodology flowchart (was incomplete in Phase 1)</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Recap of Project 1 Proposal</a:t>
            </a:r>
          </a:p>
        </p:txBody>
      </p:sp>
      <p:sp>
        <p:nvSpPr>
          <p:cNvPr id="3" name="Content Placeholder 2"/>
          <p:cNvSpPr>
            <a:spLocks noGrp="1"/>
          </p:cNvSpPr>
          <p:nvPr>
            <p:ph idx="1"/>
          </p:nvPr>
        </p:nvSpPr>
        <p:spPr/>
        <p:txBody>
          <a:bodyPr wrap="square"/>
          <a:lstStyle/>
          <a:p>
            <a:pPr/>
            <a:r>
              <a:rPr sz="1900" b="0">
                <a:solidFill>
                  <a:srgbClr val="000000"/>
                </a:solidFill>
              </a:rPr>
              <a:t>Problem: Extracting meaningful features from time-series is a bottleneck in ML pipelines.</a:t>
            </a:r>
          </a:p>
          <a:p>
            <a:pPr/>
            <a:r>
              <a:rPr sz="1900" b="0">
                <a:solidFill>
                  <a:srgbClr val="000000"/>
                </a:solidFill>
              </a:rPr>
              <a:t>Motivation: Deep learning is powerful but computationally expensive and hard to interpret.</a:t>
            </a:r>
          </a:p>
          <a:p>
            <a:pPr/>
            <a:r>
              <a:rPr sz="1900" b="0">
                <a:solidFill>
                  <a:srgbClr val="000000"/>
                </a:solidFill>
              </a:rPr>
              <a:t>We proposed a unified framework combining hybrid, automated, and explainable feature engineering.</a:t>
            </a:r>
          </a:p>
          <a:p>
            <a:pPr/>
            <a:r>
              <a:rPr sz="1900" b="0">
                <a:solidFill>
                  <a:srgbClr val="000000"/>
                </a:solidFill>
              </a:rPr>
              <a:t>5 papers surveyed (2024–2025): COCALITE, SPLiT, PPG Anomaly, Lag Features, AutoFE-XAI.</a:t>
            </a:r>
          </a:p>
          <a:p>
            <a:pPr/>
            <a:r>
              <a:rPr sz="1900" b="0">
                <a:solidFill>
                  <a:srgbClr val="000000"/>
                </a:solidFill>
              </a:rPr>
              <a:t>3 datasets targeted: UCR Archive (classification), ETTh1 (forecasting), WESAD-like (anomaly).</a:t>
            </a:r>
          </a:p>
          <a:p>
            <a:pPr/>
            <a:r>
              <a:rPr sz="2000" b="1">
                <a:solidFill>
                  <a:srgbClr val="00853E"/>
                </a:solidFill>
              </a:rPr>
              <a:t>Phase 1 Feedback Addressed:</a:t>
            </a:r>
          </a:p>
          <a:p>
            <a:pPr lvl="1"/>
            <a:r>
              <a:rPr sz="1800" b="0">
                <a:solidFill>
                  <a:srgbClr val="000000"/>
                </a:solidFill>
              </a:rPr>
              <a:t>Added Group Number 18 on all submissions</a:t>
            </a:r>
          </a:p>
          <a:p>
            <a:pPr lvl="1"/>
            <a:r>
              <a:rPr sz="1800" b="0">
                <a:solidFill>
                  <a:srgbClr val="000000"/>
                </a:solidFill>
              </a:rPr>
              <a:t>Separated evaluations clearly by task (classification / forecasting / anomaly detection)</a:t>
            </a:r>
          </a:p>
          <a:p>
            <a:pPr lvl="1"/>
            <a:r>
              <a:rPr sz="1800" b="0">
                <a:solidFill>
                  <a:srgbClr val="000000"/>
                </a:solidFill>
              </a:rPr>
              <a:t>Defined explicit baselines for each task</a:t>
            </a:r>
          </a:p>
          <a:p>
            <a:pPr lvl="1"/>
            <a:r>
              <a:rPr sz="1800" b="0">
                <a:solidFill>
                  <a:srgbClr val="000000"/>
                </a:solidFill>
              </a:rPr>
              <a:t>Completed the methodology flowchart (was incomplete in Phase 1)</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Datasets Used</a:t>
            </a:r>
          </a:p>
        </p:txBody>
      </p:sp>
      <p:sp>
        <p:nvSpPr>
          <p:cNvPr id="3" name="Content Placeholder 2"/>
          <p:cNvSpPr>
            <a:spLocks noGrp="1"/>
          </p:cNvSpPr>
          <p:nvPr>
            <p:ph idx="1"/>
          </p:nvPr>
        </p:nvSpPr>
        <p:spPr/>
        <p:txBody>
          <a:bodyPr wrap="square"/>
          <a:lstStyle/>
          <a:p>
            <a:pPr/>
            <a:r>
              <a:rPr sz="2100" b="1">
                <a:solidFill>
                  <a:srgbClr val="00853E"/>
                </a:solidFill>
              </a:rPr>
              <a:t>UCR Time Series Archive — Classification</a:t>
            </a:r>
          </a:p>
          <a:p>
            <a:pPr lvl="1"/>
            <a:r>
              <a:rPr sz="1800" b="0">
                <a:solidFill>
                  <a:srgbClr val="000000"/>
                </a:solidFill>
              </a:rPr>
              <a:t>5 datasets: GunPoint, ECG200, ItalyPowerDemand, SyntheticControl, TwoLeadECG</a:t>
            </a:r>
          </a:p>
          <a:p>
            <a:pPr lvl="1"/>
            <a:r>
              <a:rPr sz="1800" b="0">
                <a:solidFill>
                  <a:srgbClr val="000000"/>
                </a:solidFill>
              </a:rPr>
              <a:t>Covers motion, medical, energy, and synthetic domains</a:t>
            </a:r>
          </a:p>
          <a:p>
            <a:pPr/>
            <a:r>
              <a:rPr sz="2100" b="1">
                <a:solidFill>
                  <a:srgbClr val="00853E"/>
                </a:solidFill>
              </a:rPr>
              <a:t>ETTh1 (Electricity Transformer Temperature) — Forecasting</a:t>
            </a:r>
          </a:p>
          <a:p>
            <a:pPr lvl="1"/>
            <a:r>
              <a:rPr sz="1800" b="0">
                <a:solidFill>
                  <a:srgbClr val="000000"/>
                </a:solidFill>
              </a:rPr>
              <a:t>17,420 hourly readings of 7 variables; target: Oil Temperature (OT)</a:t>
            </a:r>
          </a:p>
          <a:p>
            <a:pPr lvl="1"/>
            <a:r>
              <a:rPr sz="1800" b="0">
                <a:solidFill>
                  <a:srgbClr val="000000"/>
                </a:solidFill>
              </a:rPr>
              <a:t>Real-world multivariate industrial benchmark dataset</a:t>
            </a:r>
          </a:p>
          <a:p>
            <a:pPr/>
            <a:r>
              <a:rPr sz="2100" b="1">
                <a:solidFill>
                  <a:srgbClr val="00853E"/>
                </a:solidFill>
              </a:rPr>
              <a:t>WESAD-like PPG Signal — Anomaly Detection</a:t>
            </a:r>
          </a:p>
          <a:p>
            <a:pPr lvl="1"/>
            <a:r>
              <a:rPr sz="1800" b="0">
                <a:solidFill>
                  <a:srgbClr val="000000"/>
                </a:solidFill>
              </a:rPr>
              <a:t>Simulated blood volume pulse (BVP) signal with injected anomalies</a:t>
            </a:r>
          </a:p>
          <a:p>
            <a:pPr lvl="1"/>
            <a:r>
              <a:rPr sz="1800" b="0">
                <a:solidFill>
                  <a:srgbClr val="000000"/>
                </a:solidFill>
              </a:rPr>
              <a:t>Anomaly types: amplitude spikes, flatlines, high-noise segments (~16% anomaly rate)</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Datasets Used</a:t>
            </a:r>
          </a:p>
        </p:txBody>
      </p:sp>
      <p:sp>
        <p:nvSpPr>
          <p:cNvPr id="3" name="Content Placeholder 2"/>
          <p:cNvSpPr>
            <a:spLocks noGrp="1"/>
          </p:cNvSpPr>
          <p:nvPr>
            <p:ph idx="1"/>
          </p:nvPr>
        </p:nvSpPr>
        <p:spPr/>
        <p:txBody>
          <a:bodyPr wrap="square"/>
          <a:lstStyle/>
          <a:p>
            <a:pPr/>
            <a:r>
              <a:rPr sz="2100" b="1">
                <a:solidFill>
                  <a:srgbClr val="00853E"/>
                </a:solidFill>
              </a:rPr>
              <a:t>UCR Time Series Archive — Classification</a:t>
            </a:r>
          </a:p>
          <a:p>
            <a:pPr lvl="1"/>
            <a:r>
              <a:rPr sz="1800" b="0">
                <a:solidFill>
                  <a:srgbClr val="000000"/>
                </a:solidFill>
              </a:rPr>
              <a:t>5 datasets: GunPoint, ECG200, ItalyPowerDemand, SyntheticControl, TwoLeadECG</a:t>
            </a:r>
          </a:p>
          <a:p>
            <a:pPr lvl="1"/>
            <a:r>
              <a:rPr sz="1800" b="0">
                <a:solidFill>
                  <a:srgbClr val="000000"/>
                </a:solidFill>
              </a:rPr>
              <a:t>Covers motion, medical, energy, and synthetic domains</a:t>
            </a:r>
          </a:p>
          <a:p>
            <a:pPr/>
            <a:r>
              <a:rPr sz="2100" b="1">
                <a:solidFill>
                  <a:srgbClr val="00853E"/>
                </a:solidFill>
              </a:rPr>
              <a:t>ETTh1 (Electricity Transformer Temperature) — Forecasting</a:t>
            </a:r>
          </a:p>
          <a:p>
            <a:pPr lvl="1"/>
            <a:r>
              <a:rPr sz="1800" b="0">
                <a:solidFill>
                  <a:srgbClr val="000000"/>
                </a:solidFill>
              </a:rPr>
              <a:t>17,420 hourly readings of 7 variables; target: Oil Temperature (OT)</a:t>
            </a:r>
          </a:p>
          <a:p>
            <a:pPr lvl="1"/>
            <a:r>
              <a:rPr sz="1800" b="0">
                <a:solidFill>
                  <a:srgbClr val="000000"/>
                </a:solidFill>
              </a:rPr>
              <a:t>Real-world multivariate industrial benchmark dataset</a:t>
            </a:r>
          </a:p>
          <a:p>
            <a:pPr/>
            <a:r>
              <a:rPr sz="2100" b="1">
                <a:solidFill>
                  <a:srgbClr val="00853E"/>
                </a:solidFill>
              </a:rPr>
              <a:t>WESAD-like PPG Signal — Anomaly Detection</a:t>
            </a:r>
          </a:p>
          <a:p>
            <a:pPr lvl="1"/>
            <a:r>
              <a:rPr sz="1800" b="0">
                <a:solidFill>
                  <a:srgbClr val="000000"/>
                </a:solidFill>
              </a:rPr>
              <a:t>Simulated blood volume pulse (BVP) signal with injected anomalies</a:t>
            </a:r>
          </a:p>
          <a:p>
            <a:pPr lvl="1"/>
            <a:r>
              <a:rPr sz="1800" b="0">
                <a:solidFill>
                  <a:srgbClr val="000000"/>
                </a:solidFill>
              </a:rPr>
              <a:t>Anomaly types: amplitude spikes, flatlines, high-noise segments (~16% anomaly rate)</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Feature Engineering Techniques</a:t>
            </a:r>
          </a:p>
        </p:txBody>
      </p:sp>
      <p:sp>
        <p:nvSpPr>
          <p:cNvPr id="3" name="Content Placeholder 2"/>
          <p:cNvSpPr>
            <a:spLocks noGrp="1"/>
          </p:cNvSpPr>
          <p:nvPr>
            <p:ph idx="1"/>
          </p:nvPr>
        </p:nvSpPr>
        <p:spPr/>
        <p:txBody>
          <a:bodyPr wrap="square"/>
          <a:lstStyle/>
          <a:p>
            <a:pPr/>
            <a:r>
              <a:rPr sz="2100" b="1">
                <a:solidFill>
                  <a:srgbClr val="00853E"/>
                </a:solidFill>
              </a:rPr>
              <a:t>1. Catch22 — 22 canonical time-series features</a:t>
            </a:r>
          </a:p>
          <a:p>
            <a:pPr lvl="1"/>
            <a:r>
              <a:rPr sz="1800" b="0">
                <a:solidFill>
                  <a:srgbClr val="000000"/>
                </a:solidFill>
              </a:rPr>
              <a:t>Autocorrelation, entropy, Hurst exponent, spectral features — implemented in pure NumPy</a:t>
            </a:r>
          </a:p>
          <a:p>
            <a:pPr/>
            <a:r>
              <a:rPr sz="2100" b="1">
                <a:solidFill>
                  <a:srgbClr val="00853E"/>
                </a:solidFill>
              </a:rPr>
              <a:t>2. Lag + Rolling Statistics</a:t>
            </a:r>
          </a:p>
          <a:p>
            <a:pPr lvl="1"/>
            <a:r>
              <a:rPr sz="1800" b="0">
                <a:solidFill>
                  <a:srgbClr val="000000"/>
                </a:solidFill>
              </a:rPr>
              <a:t>Lag features (t-1 to t-24) + rolling mean, std, min, max over windows of 3, 6, 12, 24</a:t>
            </a:r>
          </a:p>
          <a:p>
            <a:pPr/>
            <a:r>
              <a:rPr sz="2100" b="1">
                <a:solidFill>
                  <a:srgbClr val="00853E"/>
                </a:solidFill>
              </a:rPr>
              <a:t>3. Self-Supervised MLP Embeddings</a:t>
            </a:r>
          </a:p>
          <a:p>
            <a:pPr lvl="1"/>
            <a:r>
              <a:rPr sz="1800" b="0">
                <a:solidFill>
                  <a:srgbClr val="000000"/>
                </a:solidFill>
              </a:rPr>
              <a:t>MLP trained to predict x[t] from x[t-24:t]; hidden layer activations = learned features</a:t>
            </a:r>
          </a:p>
          <a:p>
            <a:pPr/>
            <a:r>
              <a:rPr sz="2100" b="1">
                <a:solidFill>
                  <a:srgbClr val="00853E"/>
                </a:solidFill>
              </a:rPr>
              <a:t>4. SHAP-Guided Feature Pruning</a:t>
            </a:r>
          </a:p>
          <a:p>
            <a:pPr lvl="1"/>
            <a:r>
              <a:rPr sz="1800" b="0">
                <a:solidFill>
                  <a:srgbClr val="000000"/>
                </a:solidFill>
              </a:rPr>
              <a:t>LightGBM proxy → compute mean |SHAP| → keep top 55–60% of features</a:t>
            </a:r>
          </a:p>
          <a:p>
            <a:pPr lvl="1"/>
            <a:r>
              <a:rPr sz="1800" b="0">
                <a:solidFill>
                  <a:srgbClr val="000000"/>
                </a:solidFill>
              </a:rPr>
              <a:t>XAI actively guides modeling decisions — not just post-hoc reporting</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Feature Engineering Techniques</a:t>
            </a:r>
          </a:p>
        </p:txBody>
      </p:sp>
      <p:sp>
        <p:nvSpPr>
          <p:cNvPr id="3" name="Content Placeholder 2"/>
          <p:cNvSpPr>
            <a:spLocks noGrp="1"/>
          </p:cNvSpPr>
          <p:nvPr>
            <p:ph idx="1"/>
          </p:nvPr>
        </p:nvSpPr>
        <p:spPr/>
        <p:txBody>
          <a:bodyPr wrap="square"/>
          <a:lstStyle/>
          <a:p>
            <a:pPr/>
            <a:r>
              <a:rPr sz="2100" b="1">
                <a:solidFill>
                  <a:srgbClr val="00853E"/>
                </a:solidFill>
              </a:rPr>
              <a:t>1. Catch22 — 22 canonical time-series features</a:t>
            </a:r>
          </a:p>
          <a:p>
            <a:pPr lvl="1"/>
            <a:r>
              <a:rPr sz="1800" b="0">
                <a:solidFill>
                  <a:srgbClr val="000000"/>
                </a:solidFill>
              </a:rPr>
              <a:t>Autocorrelation, entropy, Hurst exponent, spectral features — implemented in pure NumPy</a:t>
            </a:r>
          </a:p>
          <a:p>
            <a:pPr/>
            <a:r>
              <a:rPr sz="2100" b="1">
                <a:solidFill>
                  <a:srgbClr val="00853E"/>
                </a:solidFill>
              </a:rPr>
              <a:t>2. Lag + Rolling Statistics</a:t>
            </a:r>
          </a:p>
          <a:p>
            <a:pPr lvl="1"/>
            <a:r>
              <a:rPr sz="1800" b="0">
                <a:solidFill>
                  <a:srgbClr val="000000"/>
                </a:solidFill>
              </a:rPr>
              <a:t>Lag features (t-1 to t-24) + rolling mean, std, min, max over windows of 3, 6, 12, 24</a:t>
            </a:r>
          </a:p>
          <a:p>
            <a:pPr/>
            <a:r>
              <a:rPr sz="2100" b="1">
                <a:solidFill>
                  <a:srgbClr val="00853E"/>
                </a:solidFill>
              </a:rPr>
              <a:t>3. Self-Supervised MLP Embeddings</a:t>
            </a:r>
          </a:p>
          <a:p>
            <a:pPr lvl="1"/>
            <a:r>
              <a:rPr sz="1800" b="0">
                <a:solidFill>
                  <a:srgbClr val="000000"/>
                </a:solidFill>
              </a:rPr>
              <a:t>MLP trained to predict x[t] from x[t-24:t]; hidden layer activations = learned features</a:t>
            </a:r>
          </a:p>
          <a:p>
            <a:pPr/>
            <a:r>
              <a:rPr sz="2100" b="1">
                <a:solidFill>
                  <a:srgbClr val="00853E"/>
                </a:solidFill>
              </a:rPr>
              <a:t>4. SHAP-Guided Feature Pruning</a:t>
            </a:r>
          </a:p>
          <a:p>
            <a:pPr lvl="1"/>
            <a:r>
              <a:rPr sz="1800" b="0">
                <a:solidFill>
                  <a:srgbClr val="000000"/>
                </a:solidFill>
              </a:rPr>
              <a:t>LightGBM proxy → compute mean |SHAP| → keep top 55–60% of features</a:t>
            </a:r>
          </a:p>
          <a:p>
            <a:pPr lvl="1"/>
            <a:r>
              <a:rPr sz="1800" b="0">
                <a:solidFill>
                  <a:srgbClr val="000000"/>
                </a:solidFill>
              </a:rPr>
              <a:t>XAI actively guides modeling decisions — not just post-hoc reporting</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Methodology Pipeline</a:t>
            </a:r>
          </a:p>
        </p:txBody>
      </p:sp>
      <p:sp>
        <p:nvSpPr>
          <p:cNvPr id="3" name="Content Placeholder 2"/>
          <p:cNvSpPr>
            <a:spLocks noGrp="1"/>
          </p:cNvSpPr>
          <p:nvPr>
            <p:ph idx="1"/>
          </p:nvPr>
        </p:nvSpPr>
        <p:spPr/>
        <p:txBody>
          <a:bodyPr/>
          <a:lstStyle/>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11_pipeline_flowchart.png"/>
          <p:cNvPicPr>
            <a:picLocks noChangeAspect="1"/>
          </p:cNvPicPr>
          <p:nvPr/>
        </p:nvPicPr>
        <p:blipFill>
          <a:blip r:embed="rId2"/>
          <a:stretch>
            <a:fillRect/>
          </a:stretch>
        </p:blipFill>
        <p:spPr>
          <a:xfrm>
            <a:off x="457200" y="1554480"/>
            <a:ext cx="11247120" cy="51206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Methodology Pipeline</a:t>
            </a:r>
          </a:p>
        </p:txBody>
      </p:sp>
      <p:sp>
        <p:nvSpPr>
          <p:cNvPr id="3" name="Content Placeholder 2"/>
          <p:cNvSpPr>
            <a:spLocks noGrp="1"/>
          </p:cNvSpPr>
          <p:nvPr>
            <p:ph idx="1"/>
          </p:nvPr>
        </p:nvSpPr>
        <p:spPr/>
        <p:txBody>
          <a:bodyPr/>
          <a:lstStyle/>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11_pipeline_flowchart.png"/>
          <p:cNvPicPr>
            <a:picLocks noChangeAspect="1"/>
          </p:cNvPicPr>
          <p:nvPr/>
        </p:nvPicPr>
        <p:blipFill>
          <a:blip r:embed="rId2"/>
          <a:stretch>
            <a:fillRect/>
          </a:stretch>
        </p:blipFill>
        <p:spPr>
          <a:xfrm>
            <a:off x="457200" y="1554480"/>
            <a:ext cx="11247120" cy="51206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00853E"/>
                </a:solidFill>
              </a:rPr>
              <a:t>Machine Learning Models and Baselines</a:t>
            </a:r>
          </a:p>
        </p:txBody>
      </p:sp>
      <p:sp>
        <p:nvSpPr>
          <p:cNvPr id="3" name="Content Placeholder 2"/>
          <p:cNvSpPr>
            <a:spLocks noGrp="1"/>
          </p:cNvSpPr>
          <p:nvPr>
            <p:ph idx="1"/>
          </p:nvPr>
        </p:nvSpPr>
        <p:spPr/>
        <p:txBody>
          <a:bodyPr wrap="square"/>
          <a:lstStyle/>
          <a:p>
            <a:pPr/>
            <a:r>
              <a:rPr sz="2100" b="1">
                <a:solidFill>
                  <a:srgbClr val="00853E"/>
                </a:solidFill>
              </a:rPr>
              <a:t>Classification Task</a:t>
            </a:r>
          </a:p>
          <a:p>
            <a:pPr lvl="1"/>
            <a:r>
              <a:rPr sz="1800" b="0">
                <a:solidFill>
                  <a:srgbClr val="000000"/>
                </a:solidFill>
              </a:rPr>
              <a:t>Baseline: LightGBM on raw time-series (first 50 time steps)</a:t>
            </a:r>
          </a:p>
          <a:p>
            <a:pPr lvl="1"/>
            <a:r>
              <a:rPr sz="1800" b="0">
                <a:solidFill>
                  <a:srgbClr val="000000"/>
                </a:solidFill>
              </a:rPr>
              <a:t>Proposed: LightGBM on Catch22 features → SHAP-pruned subset  |  Metrics: Accuracy, F1</a:t>
            </a:r>
          </a:p>
          <a:p>
            <a:pPr/>
            <a:r>
              <a:rPr sz="2100" b="1">
                <a:solidFill>
                  <a:srgbClr val="00853E"/>
                </a:solidFill>
              </a:rPr>
              <a:t>Forecasting Task</a:t>
            </a:r>
          </a:p>
          <a:p>
            <a:pPr lvl="1"/>
            <a:r>
              <a:rPr sz="1800" b="0">
                <a:solidFill>
                  <a:srgbClr val="000000"/>
                </a:solidFill>
              </a:rPr>
              <a:t>Baseline: Ridge Regression on lag-1 feature only</a:t>
            </a:r>
          </a:p>
          <a:p>
            <a:pPr lvl="1"/>
            <a:r>
              <a:rPr sz="1800" b="0">
                <a:solidFill>
                  <a:srgbClr val="000000"/>
                </a:solidFill>
              </a:rPr>
              <a:t>Proposed: LightGBM on Lag+Rolling+Embeddings → SHAP pruned  |  Metrics: MSE, MAE</a:t>
            </a:r>
          </a:p>
          <a:p>
            <a:pPr/>
            <a:r>
              <a:rPr sz="2100" b="1">
                <a:solidFill>
                  <a:srgbClr val="00853E"/>
                </a:solidFill>
              </a:rPr>
              <a:t>Anomaly Detection Task</a:t>
            </a:r>
          </a:p>
          <a:p>
            <a:pPr lvl="1"/>
            <a:r>
              <a:rPr sz="1800" b="0">
                <a:solidFill>
                  <a:srgbClr val="000000"/>
                </a:solidFill>
              </a:rPr>
              <a:t>Baseline: Isolation Forest on raw 50-sample windows</a:t>
            </a:r>
          </a:p>
          <a:p>
            <a:pPr lvl="1"/>
            <a:r>
              <a:rPr sz="1800" b="0">
                <a:solidFill>
                  <a:srgbClr val="000000"/>
                </a:solidFill>
              </a:rPr>
              <a:t>Proposed: Isolation Forest on Catch22 → SHAP-selected features  |  Metrics: F1, AUC</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00853E"/>
                </a:solidFill>
              </a:rPr>
              <a:t>Machine Learning Models and Baselines</a:t>
            </a:r>
          </a:p>
        </p:txBody>
      </p:sp>
      <p:sp>
        <p:nvSpPr>
          <p:cNvPr id="3" name="Content Placeholder 2"/>
          <p:cNvSpPr>
            <a:spLocks noGrp="1"/>
          </p:cNvSpPr>
          <p:nvPr>
            <p:ph idx="1"/>
          </p:nvPr>
        </p:nvSpPr>
        <p:spPr/>
        <p:txBody>
          <a:bodyPr wrap="square"/>
          <a:lstStyle/>
          <a:p>
            <a:pPr/>
            <a:r>
              <a:rPr sz="2100" b="1">
                <a:solidFill>
                  <a:srgbClr val="00853E"/>
                </a:solidFill>
              </a:rPr>
              <a:t>Classification Task</a:t>
            </a:r>
          </a:p>
          <a:p>
            <a:pPr lvl="1"/>
            <a:r>
              <a:rPr sz="1800" b="0">
                <a:solidFill>
                  <a:srgbClr val="000000"/>
                </a:solidFill>
              </a:rPr>
              <a:t>Baseline: LightGBM on raw time-series (first 50 time steps)</a:t>
            </a:r>
          </a:p>
          <a:p>
            <a:pPr lvl="1"/>
            <a:r>
              <a:rPr sz="1800" b="0">
                <a:solidFill>
                  <a:srgbClr val="000000"/>
                </a:solidFill>
              </a:rPr>
              <a:t>Proposed: LightGBM on Catch22 features → SHAP-pruned subset  |  Metrics: Accuracy, F1</a:t>
            </a:r>
          </a:p>
          <a:p>
            <a:pPr/>
            <a:r>
              <a:rPr sz="2100" b="1">
                <a:solidFill>
                  <a:srgbClr val="00853E"/>
                </a:solidFill>
              </a:rPr>
              <a:t>Forecasting Task</a:t>
            </a:r>
          </a:p>
          <a:p>
            <a:pPr lvl="1"/>
            <a:r>
              <a:rPr sz="1800" b="0">
                <a:solidFill>
                  <a:srgbClr val="000000"/>
                </a:solidFill>
              </a:rPr>
              <a:t>Baseline: Ridge Regression on lag-1 feature only</a:t>
            </a:r>
          </a:p>
          <a:p>
            <a:pPr lvl="1"/>
            <a:r>
              <a:rPr sz="1800" b="0">
                <a:solidFill>
                  <a:srgbClr val="000000"/>
                </a:solidFill>
              </a:rPr>
              <a:t>Proposed: LightGBM on Lag+Rolling+Embeddings → SHAP pruned  |  Metrics: MSE, MAE</a:t>
            </a:r>
          </a:p>
          <a:p>
            <a:pPr/>
            <a:r>
              <a:rPr sz="2100" b="1">
                <a:solidFill>
                  <a:srgbClr val="00853E"/>
                </a:solidFill>
              </a:rPr>
              <a:t>Anomaly Detection Task</a:t>
            </a:r>
          </a:p>
          <a:p>
            <a:pPr lvl="1"/>
            <a:r>
              <a:rPr sz="1800" b="0">
                <a:solidFill>
                  <a:srgbClr val="000000"/>
                </a:solidFill>
              </a:rPr>
              <a:t>Baseline: Isolation Forest on raw 50-sample windows</a:t>
            </a:r>
          </a:p>
          <a:p>
            <a:pPr lvl="1"/>
            <a:r>
              <a:rPr sz="1800" b="0">
                <a:solidFill>
                  <a:srgbClr val="000000"/>
                </a:solidFill>
              </a:rPr>
              <a:t>Proposed: Isolation Forest on Catch22 → SHAP-selected features  |  Metrics: F1, AUC</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00853E"/>
                </a:solidFill>
              </a:rPr>
              <a:t>Results: Classification (UCR Datasets)</a:t>
            </a:r>
          </a:p>
        </p:txBody>
      </p:sp>
      <p:sp>
        <p:nvSpPr>
          <p:cNvPr id="3" name="Content Placeholder 2"/>
          <p:cNvSpPr>
            <a:spLocks noGrp="1"/>
          </p:cNvSpPr>
          <p:nvPr>
            <p:ph idx="1"/>
          </p:nvPr>
        </p:nvSpPr>
        <p:spPr/>
        <p:txBody>
          <a:bodyPr/>
          <a:lstStyle/>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1_classification_accuracy.png"/>
          <p:cNvPicPr>
            <a:picLocks noChangeAspect="1"/>
          </p:cNvPicPr>
          <p:nvPr/>
        </p:nvPicPr>
        <p:blipFill>
          <a:blip r:embed="rId2"/>
          <a:stretch>
            <a:fillRect/>
          </a:stretch>
        </p:blipFill>
        <p:spPr>
          <a:xfrm>
            <a:off x="365760" y="1554480"/>
            <a:ext cx="7772400" cy="4114800"/>
          </a:xfrm>
          <a:prstGeom prst="rect">
            <a:avLst/>
          </a:prstGeom>
        </p:spPr>
      </p:pic>
      <p:sp>
        <p:nvSpPr>
          <p:cNvPr id="6" name="TextBox 5"/>
          <p:cNvSpPr txBox="1"/>
          <p:nvPr/>
        </p:nvSpPr>
        <p:spPr>
          <a:xfrm>
            <a:off x="8321040" y="1645920"/>
            <a:ext cx="3657600" cy="4114800"/>
          </a:xfrm>
          <a:prstGeom prst="rect">
            <a:avLst/>
          </a:prstGeom>
          <a:noFill/>
        </p:spPr>
        <p:txBody>
          <a:bodyPr wrap="square">
            <a:spAutoFit/>
          </a:bodyPr>
          <a:lstStyle/>
          <a:p>
            <a:pPr>
              <a:spcBef>
                <a:spcPts val="400"/>
              </a:spcBef>
            </a:pPr>
            <a:r>
              <a:rPr sz="1800" b="1">
                <a:solidFill>
                  <a:srgbClr val="00853E"/>
                </a:solidFill>
              </a:rPr>
              <a:t>Key Findings:</a:t>
            </a:r>
          </a:p>
          <a:p>
            <a:pPr>
              <a:spcBef>
                <a:spcPts val="400"/>
              </a:spcBef>
            </a:pPr>
            <a:r>
              <a:rPr sz="1600" b="0">
                <a:solidFill>
                  <a:srgbClr val="000000"/>
                </a:solidFill>
              </a:rPr>
              <a:t>SyntheticControl: Catch22 +6.3%</a:t>
            </a:r>
          </a:p>
          <a:p>
            <a:pPr>
              <a:spcBef>
                <a:spcPts val="400"/>
              </a:spcBef>
            </a:pPr>
            <a:r>
              <a:rPr sz="1600" b="0">
                <a:solidFill>
                  <a:srgbClr val="000000"/>
                </a:solidFill>
              </a:rPr>
              <a:t>GunPoint: Catch22 +6.0%</a:t>
            </a:r>
          </a:p>
          <a:p>
            <a:pPr>
              <a:spcBef>
                <a:spcPts val="400"/>
              </a:spcBef>
            </a:pPr>
            <a:r>
              <a:rPr sz="1600" b="0">
                <a:solidFill>
                  <a:srgbClr val="000000"/>
                </a:solidFill>
              </a:rPr>
              <a:t>ItalyPowerDemand: Raw wins (local shape)</a:t>
            </a:r>
          </a:p>
          <a:p>
            <a:pPr>
              <a:spcBef>
                <a:spcPts val="400"/>
              </a:spcBef>
            </a:pPr>
            <a:r>
              <a:rPr sz="1600" b="0">
                <a:solidFill>
                  <a:srgbClr val="000000"/>
                </a:solidFill>
              </a:rPr>
              <a:t>SHAP pruning: 9/22 features removed,</a:t>
            </a:r>
          </a:p>
          <a:p>
            <a:pPr>
              <a:spcBef>
                <a:spcPts val="400"/>
              </a:spcBef>
            </a:pPr>
            <a:r>
              <a:rPr sz="1600" b="0">
                <a:solidFill>
                  <a:srgbClr val="000000"/>
                </a:solidFill>
              </a:rPr>
              <a:t>zero accuracy loss</a:t>
            </a:r>
          </a:p>
          <a:p>
            <a:pPr>
              <a:spcBef>
                <a:spcPts val="400"/>
              </a:spcBef>
            </a:pPr>
            <a:r>
              <a:rPr sz="1600" b="0">
                <a:solidFill>
                  <a:srgbClr val="000000"/>
                </a:solidFill>
              </a:rPr>
              <a:t>TwoLeadECG: tied (only 23 train samples)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00853E"/>
                </a:solidFill>
              </a:rPr>
              <a:t>Results: Classification (UCR Datasets)</a:t>
            </a:r>
          </a:p>
        </p:txBody>
      </p:sp>
      <p:sp>
        <p:nvSpPr>
          <p:cNvPr id="3" name="Content Placeholder 2"/>
          <p:cNvSpPr>
            <a:spLocks noGrp="1"/>
          </p:cNvSpPr>
          <p:nvPr>
            <p:ph idx="1"/>
          </p:nvPr>
        </p:nvSpPr>
        <p:spPr/>
        <p:txBody>
          <a:bodyPr/>
          <a:lstStyle/>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1_classification_accuracy.png"/>
          <p:cNvPicPr>
            <a:picLocks noChangeAspect="1"/>
          </p:cNvPicPr>
          <p:nvPr/>
        </p:nvPicPr>
        <p:blipFill>
          <a:blip r:embed="rId2"/>
          <a:stretch>
            <a:fillRect/>
          </a:stretch>
        </p:blipFill>
        <p:spPr>
          <a:xfrm>
            <a:off x="365760" y="1554480"/>
            <a:ext cx="7772400" cy="4114800"/>
          </a:xfrm>
          <a:prstGeom prst="rect">
            <a:avLst/>
          </a:prstGeom>
        </p:spPr>
      </p:pic>
      <p:sp>
        <p:nvSpPr>
          <p:cNvPr id="6" name="TextBox 5"/>
          <p:cNvSpPr txBox="1"/>
          <p:nvPr/>
        </p:nvSpPr>
        <p:spPr>
          <a:xfrm>
            <a:off x="8321040" y="1645920"/>
            <a:ext cx="3657600" cy="4114800"/>
          </a:xfrm>
          <a:prstGeom prst="rect">
            <a:avLst/>
          </a:prstGeom>
          <a:noFill/>
        </p:spPr>
        <p:txBody>
          <a:bodyPr wrap="square">
            <a:spAutoFit/>
          </a:bodyPr>
          <a:lstStyle/>
          <a:p>
            <a:pPr>
              <a:spcBef>
                <a:spcPts val="400"/>
              </a:spcBef>
            </a:pPr>
            <a:r>
              <a:rPr sz="1800" b="1">
                <a:solidFill>
                  <a:srgbClr val="00853E"/>
                </a:solidFill>
              </a:rPr>
              <a:t>Key Findings:</a:t>
            </a:r>
          </a:p>
          <a:p>
            <a:pPr>
              <a:spcBef>
                <a:spcPts val="400"/>
              </a:spcBef>
            </a:pPr>
            <a:r>
              <a:rPr sz="1600" b="0">
                <a:solidFill>
                  <a:srgbClr val="000000"/>
                </a:solidFill>
              </a:rPr>
              <a:t>SyntheticControl: Catch22 +6.3%</a:t>
            </a:r>
          </a:p>
          <a:p>
            <a:pPr>
              <a:spcBef>
                <a:spcPts val="400"/>
              </a:spcBef>
            </a:pPr>
            <a:r>
              <a:rPr sz="1600" b="0">
                <a:solidFill>
                  <a:srgbClr val="000000"/>
                </a:solidFill>
              </a:rPr>
              <a:t>GunPoint: Catch22 +6.0%</a:t>
            </a:r>
          </a:p>
          <a:p>
            <a:pPr>
              <a:spcBef>
                <a:spcPts val="400"/>
              </a:spcBef>
            </a:pPr>
            <a:r>
              <a:rPr sz="1600" b="0">
                <a:solidFill>
                  <a:srgbClr val="000000"/>
                </a:solidFill>
              </a:rPr>
              <a:t>ItalyPowerDemand: Raw wins (local shape)</a:t>
            </a:r>
          </a:p>
          <a:p>
            <a:pPr>
              <a:spcBef>
                <a:spcPts val="400"/>
              </a:spcBef>
            </a:pPr>
            <a:r>
              <a:rPr sz="1600" b="0">
                <a:solidFill>
                  <a:srgbClr val="000000"/>
                </a:solidFill>
              </a:rPr>
              <a:t>SHAP pruning: 9/22 features removed,</a:t>
            </a:r>
          </a:p>
          <a:p>
            <a:pPr>
              <a:spcBef>
                <a:spcPts val="400"/>
              </a:spcBef>
            </a:pPr>
            <a:r>
              <a:rPr sz="1600" b="0">
                <a:solidFill>
                  <a:srgbClr val="000000"/>
                </a:solidFill>
              </a:rPr>
              <a:t>zero accuracy loss</a:t>
            </a:r>
          </a:p>
          <a:p>
            <a:pPr>
              <a:spcBef>
                <a:spcPts val="400"/>
              </a:spcBef>
            </a:pPr>
            <a:r>
              <a:rPr sz="1600" b="0">
                <a:solidFill>
                  <a:srgbClr val="000000"/>
                </a:solidFill>
              </a:rPr>
              <a:t>TwoLeadECG: tied (only 23 train samples)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solidFill>
                  <a:srgbClr val="00853E"/>
                </a:solidFill>
              </a:rPr>
              <a:t>SHAP Feature Importance — GunPoint Dataset</a:t>
            </a:r>
          </a:p>
        </p:txBody>
      </p:sp>
      <p:sp>
        <p:nvSpPr>
          <p:cNvPr id="3" name="Content Placeholder 2"/>
          <p:cNvSpPr>
            <a:spLocks noGrp="1"/>
          </p:cNvSpPr>
          <p:nvPr>
            <p:ph idx="1"/>
          </p:nvPr>
        </p:nvSpPr>
        <p:spPr/>
        <p:txBody>
          <a:bodyPr/>
          <a:lstStyle/>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3_shap_importance.png"/>
          <p:cNvPicPr>
            <a:picLocks noChangeAspect="1"/>
          </p:cNvPicPr>
          <p:nvPr/>
        </p:nvPicPr>
        <p:blipFill>
          <a:blip r:embed="rId2"/>
          <a:stretch>
            <a:fillRect/>
          </a:stretch>
        </p:blipFill>
        <p:spPr>
          <a:xfrm>
            <a:off x="365760" y="1554480"/>
            <a:ext cx="6858000" cy="5029200"/>
          </a:xfrm>
          <a:prstGeom prst="rect">
            <a:avLst/>
          </a:prstGeom>
        </p:spPr>
      </p:pic>
      <p:sp>
        <p:nvSpPr>
          <p:cNvPr id="6" name="TextBox 5"/>
          <p:cNvSpPr txBox="1"/>
          <p:nvPr/>
        </p:nvSpPr>
        <p:spPr>
          <a:xfrm>
            <a:off x="7406640" y="1645920"/>
            <a:ext cx="4572000" cy="5029200"/>
          </a:xfrm>
          <a:prstGeom prst="rect">
            <a:avLst/>
          </a:prstGeom>
          <a:noFill/>
        </p:spPr>
        <p:txBody>
          <a:bodyPr wrap="square">
            <a:spAutoFit/>
          </a:bodyPr>
          <a:lstStyle/>
          <a:p>
            <a:pPr>
              <a:spcBef>
                <a:spcPts val="400"/>
              </a:spcBef>
            </a:pPr>
            <a:r>
              <a:rPr sz="1800" b="1">
                <a:solidFill>
                  <a:srgbClr val="00853E"/>
                </a:solidFill>
              </a:rPr>
              <a:t>How SHAP guides decisions:</a:t>
            </a:r>
          </a:p>
          <a:p>
            <a:pPr>
              <a:spcBef>
                <a:spcPts val="400"/>
              </a:spcBef>
            </a:pPr>
            <a:r>
              <a:rPr sz="1600" b="0">
                <a:solidFill>
                  <a:srgbClr val="000000"/>
                </a:solidFill>
              </a:rPr>
              <a:t>Top features: acf_lag1, diff_variance,</a:t>
            </a:r>
          </a:p>
          <a:p>
            <a:pPr>
              <a:spcBef>
                <a:spcPts val="400"/>
              </a:spcBef>
            </a:pPr>
            <a:r>
              <a:rPr sz="1600" b="0">
                <a:solidFill>
                  <a:srgbClr val="000000"/>
                </a:solidFill>
              </a:rPr>
              <a:t>hurst, acf_lag2 — capture temporal</a:t>
            </a:r>
          </a:p>
          <a:p>
            <a:pPr>
              <a:spcBef>
                <a:spcPts val="400"/>
              </a:spcBef>
            </a:pPr>
            <a:r>
              <a:rPr sz="1600" b="0">
                <a:solidFill>
                  <a:srgbClr val="000000"/>
                </a:solidFill>
              </a:rPr>
              <a:t>dependence and signal roughness</a:t>
            </a:r>
          </a:p>
          <a:p>
            <a:pPr>
              <a:spcBef>
                <a:spcPts val="400"/>
              </a:spcBef>
            </a:pPr>
            <a:r>
              <a:rPr sz="1600" b="0">
                <a:solidFill>
                  <a:srgbClr val="000000"/>
                </a:solidFill>
              </a:rPr>
              <a:t>Bottom features: hist_entropy,</a:t>
            </a:r>
          </a:p>
          <a:p>
            <a:pPr>
              <a:spcBef>
                <a:spcPts val="400"/>
              </a:spcBef>
            </a:pPr>
            <a:r>
              <a:rPr sz="1600" b="0">
                <a:solidFill>
                  <a:srgbClr val="000000"/>
                </a:solidFill>
              </a:rPr>
              <a:t>peak_freq — pruned away</a:t>
            </a:r>
          </a:p>
          <a:p>
            <a:pPr>
              <a:spcBef>
                <a:spcPts val="400"/>
              </a:spcBef>
            </a:pPr>
            <a:r>
              <a:rPr sz="1600" b="0">
                <a:solidFill>
                  <a:srgbClr val="000000"/>
                </a:solidFill>
              </a:rPr>
              <a:t>Result: 22 → 13 features (40% reduction),</a:t>
            </a:r>
          </a:p>
          <a:p>
            <a:pPr>
              <a:spcBef>
                <a:spcPts val="400"/>
              </a:spcBef>
            </a:pPr>
            <a:r>
              <a:rPr sz="1600" b="0">
                <a:solidFill>
                  <a:srgbClr val="000000"/>
                </a:solidFill>
              </a:rPr>
              <a:t>accuracy unchanged</a:t>
            </a:r>
          </a:p>
          <a:p>
            <a:pPr>
              <a:spcBef>
                <a:spcPts val="400"/>
              </a:spcBef>
            </a:pPr>
            <a:r>
              <a:rPr sz="1600" b="0">
                <a:solidFill>
                  <a:srgbClr val="000000"/>
                </a:solidFill>
              </a:rPr>
              <a:t>XAI used as a design tool,</a:t>
            </a:r>
          </a:p>
          <a:p>
            <a:pPr>
              <a:spcBef>
                <a:spcPts val="400"/>
              </a:spcBef>
            </a:pPr>
            <a:r>
              <a:rPr sz="1600" b="0">
                <a:solidFill>
                  <a:srgbClr val="000000"/>
                </a:solidFill>
              </a:rPr>
              <a:t>not just post-hoc reporting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solidFill>
                  <a:srgbClr val="00853E"/>
                </a:solidFill>
              </a:rPr>
              <a:t>SHAP Feature Importance — GunPoint Dataset</a:t>
            </a:r>
          </a:p>
        </p:txBody>
      </p:sp>
      <p:sp>
        <p:nvSpPr>
          <p:cNvPr id="3" name="Content Placeholder 2"/>
          <p:cNvSpPr>
            <a:spLocks noGrp="1"/>
          </p:cNvSpPr>
          <p:nvPr>
            <p:ph idx="1"/>
          </p:nvPr>
        </p:nvSpPr>
        <p:spPr/>
        <p:txBody>
          <a:bodyPr/>
          <a:lstStyle/>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3_shap_importance.png"/>
          <p:cNvPicPr>
            <a:picLocks noChangeAspect="1"/>
          </p:cNvPicPr>
          <p:nvPr/>
        </p:nvPicPr>
        <p:blipFill>
          <a:blip r:embed="rId2"/>
          <a:stretch>
            <a:fillRect/>
          </a:stretch>
        </p:blipFill>
        <p:spPr>
          <a:xfrm>
            <a:off x="365760" y="1554480"/>
            <a:ext cx="6858000" cy="5029200"/>
          </a:xfrm>
          <a:prstGeom prst="rect">
            <a:avLst/>
          </a:prstGeom>
        </p:spPr>
      </p:pic>
      <p:sp>
        <p:nvSpPr>
          <p:cNvPr id="6" name="TextBox 5"/>
          <p:cNvSpPr txBox="1"/>
          <p:nvPr/>
        </p:nvSpPr>
        <p:spPr>
          <a:xfrm>
            <a:off x="7406640" y="1645920"/>
            <a:ext cx="4572000" cy="5029200"/>
          </a:xfrm>
          <a:prstGeom prst="rect">
            <a:avLst/>
          </a:prstGeom>
          <a:noFill/>
        </p:spPr>
        <p:txBody>
          <a:bodyPr wrap="square">
            <a:spAutoFit/>
          </a:bodyPr>
          <a:lstStyle/>
          <a:p>
            <a:pPr>
              <a:spcBef>
                <a:spcPts val="400"/>
              </a:spcBef>
            </a:pPr>
            <a:r>
              <a:rPr sz="1800" b="1">
                <a:solidFill>
                  <a:srgbClr val="00853E"/>
                </a:solidFill>
              </a:rPr>
              <a:t>How SHAP guides decisions:</a:t>
            </a:r>
          </a:p>
          <a:p>
            <a:pPr>
              <a:spcBef>
                <a:spcPts val="400"/>
              </a:spcBef>
            </a:pPr>
            <a:r>
              <a:rPr sz="1600" b="0">
                <a:solidFill>
                  <a:srgbClr val="000000"/>
                </a:solidFill>
              </a:rPr>
              <a:t>Top features: acf_lag1, diff_variance,</a:t>
            </a:r>
          </a:p>
          <a:p>
            <a:pPr>
              <a:spcBef>
                <a:spcPts val="400"/>
              </a:spcBef>
            </a:pPr>
            <a:r>
              <a:rPr sz="1600" b="0">
                <a:solidFill>
                  <a:srgbClr val="000000"/>
                </a:solidFill>
              </a:rPr>
              <a:t>hurst, acf_lag2 — capture temporal</a:t>
            </a:r>
          </a:p>
          <a:p>
            <a:pPr>
              <a:spcBef>
                <a:spcPts val="400"/>
              </a:spcBef>
            </a:pPr>
            <a:r>
              <a:rPr sz="1600" b="0">
                <a:solidFill>
                  <a:srgbClr val="000000"/>
                </a:solidFill>
              </a:rPr>
              <a:t>dependence and signal roughness</a:t>
            </a:r>
          </a:p>
          <a:p>
            <a:pPr>
              <a:spcBef>
                <a:spcPts val="400"/>
              </a:spcBef>
            </a:pPr>
            <a:r>
              <a:rPr sz="1600" b="0">
                <a:solidFill>
                  <a:srgbClr val="000000"/>
                </a:solidFill>
              </a:rPr>
              <a:t>Bottom features: hist_entropy,</a:t>
            </a:r>
          </a:p>
          <a:p>
            <a:pPr>
              <a:spcBef>
                <a:spcPts val="400"/>
              </a:spcBef>
            </a:pPr>
            <a:r>
              <a:rPr sz="1600" b="0">
                <a:solidFill>
                  <a:srgbClr val="000000"/>
                </a:solidFill>
              </a:rPr>
              <a:t>peak_freq — pruned away</a:t>
            </a:r>
          </a:p>
          <a:p>
            <a:pPr>
              <a:spcBef>
                <a:spcPts val="400"/>
              </a:spcBef>
            </a:pPr>
            <a:r>
              <a:rPr sz="1600" b="0">
                <a:solidFill>
                  <a:srgbClr val="000000"/>
                </a:solidFill>
              </a:rPr>
              <a:t>Result: 22 → 13 features (40% reduction),</a:t>
            </a:r>
          </a:p>
          <a:p>
            <a:pPr>
              <a:spcBef>
                <a:spcPts val="400"/>
              </a:spcBef>
            </a:pPr>
            <a:r>
              <a:rPr sz="1600" b="0">
                <a:solidFill>
                  <a:srgbClr val="000000"/>
                </a:solidFill>
              </a:rPr>
              <a:t>accuracy unchanged</a:t>
            </a:r>
          </a:p>
          <a:p>
            <a:pPr>
              <a:spcBef>
                <a:spcPts val="400"/>
              </a:spcBef>
            </a:pPr>
            <a:r>
              <a:rPr sz="1600" b="0">
                <a:solidFill>
                  <a:srgbClr val="000000"/>
                </a:solidFill>
              </a:rPr>
              <a:t>XAI used as a design tool,</a:t>
            </a:r>
          </a:p>
          <a:p>
            <a:pPr>
              <a:spcBef>
                <a:spcPts val="400"/>
              </a:spcBef>
            </a:pPr>
            <a:r>
              <a:rPr sz="1600" b="0">
                <a:solidFill>
                  <a:srgbClr val="000000"/>
                </a:solidFill>
              </a:rPr>
              <a:t>not just post-hoc reporting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solidFill>
                  <a:srgbClr val="00853E"/>
                </a:solidFill>
              </a:rPr>
              <a:t>Results: Forecasting (ETTh1 — Oil Temperature)</a:t>
            </a:r>
          </a:p>
        </p:txBody>
      </p:sp>
      <p:sp>
        <p:nvSpPr>
          <p:cNvPr id="3" name="Content Placeholder 2"/>
          <p:cNvSpPr>
            <a:spLocks noGrp="1"/>
          </p:cNvSpPr>
          <p:nvPr>
            <p:ph idx="1"/>
          </p:nvPr>
        </p:nvSpPr>
        <p:spPr/>
        <p:txBody>
          <a:bodyPr/>
          <a:lstStyle/>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4_forecasting_metrics.png"/>
          <p:cNvPicPr>
            <a:picLocks noChangeAspect="1"/>
          </p:cNvPicPr>
          <p:nvPr/>
        </p:nvPicPr>
        <p:blipFill>
          <a:blip r:embed="rId2"/>
          <a:stretch>
            <a:fillRect/>
          </a:stretch>
        </p:blipFill>
        <p:spPr>
          <a:xfrm>
            <a:off x="365760" y="1554480"/>
            <a:ext cx="7132320" cy="2926080"/>
          </a:xfrm>
          <a:prstGeom prst="rect">
            <a:avLst/>
          </a:prstGeom>
        </p:spPr>
      </p:pic>
      <p:pic>
        <p:nvPicPr>
          <p:cNvPr id="6" name="Picture 5" descr="fig5_forecast_vs_actual.png"/>
          <p:cNvPicPr>
            <a:picLocks noChangeAspect="1"/>
          </p:cNvPicPr>
          <p:nvPr/>
        </p:nvPicPr>
        <p:blipFill>
          <a:blip r:embed="rId3"/>
          <a:stretch>
            <a:fillRect/>
          </a:stretch>
        </p:blipFill>
        <p:spPr>
          <a:xfrm>
            <a:off x="365760" y="4572000"/>
            <a:ext cx="7132320" cy="2103120"/>
          </a:xfrm>
          <a:prstGeom prst="rect">
            <a:avLst/>
          </a:prstGeom>
        </p:spPr>
      </p:pic>
      <p:sp>
        <p:nvSpPr>
          <p:cNvPr id="7" name="TextBox 6"/>
          <p:cNvSpPr txBox="1"/>
          <p:nvPr/>
        </p:nvSpPr>
        <p:spPr>
          <a:xfrm>
            <a:off x="7680960" y="1645920"/>
            <a:ext cx="4297680" cy="5029200"/>
          </a:xfrm>
          <a:prstGeom prst="rect">
            <a:avLst/>
          </a:prstGeom>
          <a:noFill/>
        </p:spPr>
        <p:txBody>
          <a:bodyPr wrap="square">
            <a:spAutoFit/>
          </a:bodyPr>
          <a:lstStyle/>
          <a:p>
            <a:pPr>
              <a:spcBef>
                <a:spcPts val="400"/>
              </a:spcBef>
            </a:pPr>
            <a:r>
              <a:rPr sz="1800" b="1">
                <a:solidFill>
                  <a:srgbClr val="00853E"/>
                </a:solidFill>
              </a:rPr>
              <a:t>Key Results:</a:t>
            </a:r>
          </a:p>
          <a:p>
            <a:pPr>
              <a:spcBef>
                <a:spcPts val="400"/>
              </a:spcBef>
            </a:pPr>
            <a:r>
              <a:rPr sz="1600" b="0">
                <a:solidFill>
                  <a:srgbClr val="000000"/>
                </a:solidFill>
              </a:rPr>
              <a:t>Raw (lag-1):  MSE = 1.285</a:t>
            </a:r>
          </a:p>
          <a:p>
            <a:pPr>
              <a:spcBef>
                <a:spcPts val="400"/>
              </a:spcBef>
            </a:pPr>
            <a:r>
              <a:rPr sz="1600" b="1">
                <a:solidFill>
                  <a:srgbClr val="00853E"/>
                </a:solidFill>
              </a:rPr>
              <a:t>Lag+Rolling:  MSE = 0.228  (−82%)</a:t>
            </a:r>
          </a:p>
          <a:p>
            <a:pPr>
              <a:spcBef>
                <a:spcPts val="400"/>
              </a:spcBef>
            </a:pPr>
            <a:r>
              <a:rPr sz="1600" b="0">
                <a:solidFill>
                  <a:srgbClr val="000000"/>
                </a:solidFill>
              </a:rPr>
              <a:t>+ Embeddings: MSE = 0.337</a:t>
            </a:r>
          </a:p>
          <a:p>
            <a:pPr>
              <a:spcBef>
                <a:spcPts val="400"/>
              </a:spcBef>
            </a:pPr>
            <a:r>
              <a:rPr sz="1600" b="1">
                <a:solidFill>
                  <a:srgbClr val="00853E"/>
                </a:solidFill>
              </a:rPr>
              <a:t>+ SHAP Prune: MSE = 0.230  (−82%)</a:t>
            </a:r>
          </a:p>
          <a:p>
            <a:pPr>
              <a:spcBef>
                <a:spcPts val="400"/>
              </a:spcBef>
            </a:pPr>
            <a:r>
              <a:rPr sz="1400" b="0">
                <a:solidFill>
                  <a:srgbClr val="000000"/>
                </a:solidFill>
              </a:rPr>
              <a:t/>
            </a:r>
          </a:p>
          <a:p>
            <a:pPr>
              <a:spcBef>
                <a:spcPts val="400"/>
              </a:spcBef>
            </a:pPr>
            <a:r>
              <a:rPr sz="1600" b="0">
                <a:solidFill>
                  <a:srgbClr val="000000"/>
                </a:solidFill>
              </a:rPr>
              <a:t>SHAP removed 12/28 features</a:t>
            </a:r>
          </a:p>
          <a:p>
            <a:pPr>
              <a:spcBef>
                <a:spcPts val="400"/>
              </a:spcBef>
            </a:pPr>
            <a:r>
              <a:rPr sz="1600" b="0">
                <a:solidFill>
                  <a:srgbClr val="000000"/>
                </a:solidFill>
              </a:rPr>
              <a:t>with no MSE increase</a:t>
            </a:r>
          </a:p>
          <a:p>
            <a:pPr>
              <a:spcBef>
                <a:spcPts val="400"/>
              </a:spcBef>
            </a:pPr>
            <a:r>
              <a:rPr sz="1600" b="0">
                <a:solidFill>
                  <a:srgbClr val="000000"/>
                </a:solidFill>
              </a:rPr>
              <a:t>Self-supervised embeddings did not</a:t>
            </a:r>
          </a:p>
          <a:p>
            <a:pPr>
              <a:spcBef>
                <a:spcPts val="400"/>
              </a:spcBef>
            </a:pPr>
            <a:r>
              <a:rPr sz="1600" b="0">
                <a:solidFill>
                  <a:srgbClr val="000000"/>
                </a:solidFill>
              </a:rPr>
              <a:t>outperform explicit statistics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solidFill>
                  <a:srgbClr val="00853E"/>
                </a:solidFill>
              </a:rPr>
              <a:t>Results: Forecasting (ETTh1 — Oil Temperature)</a:t>
            </a:r>
          </a:p>
        </p:txBody>
      </p:sp>
      <p:sp>
        <p:nvSpPr>
          <p:cNvPr id="3" name="Content Placeholder 2"/>
          <p:cNvSpPr>
            <a:spLocks noGrp="1"/>
          </p:cNvSpPr>
          <p:nvPr>
            <p:ph idx="1"/>
          </p:nvPr>
        </p:nvSpPr>
        <p:spPr/>
        <p:txBody>
          <a:bodyPr/>
          <a:lstStyle/>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4_forecasting_metrics.png"/>
          <p:cNvPicPr>
            <a:picLocks noChangeAspect="1"/>
          </p:cNvPicPr>
          <p:nvPr/>
        </p:nvPicPr>
        <p:blipFill>
          <a:blip r:embed="rId2"/>
          <a:stretch>
            <a:fillRect/>
          </a:stretch>
        </p:blipFill>
        <p:spPr>
          <a:xfrm>
            <a:off x="365760" y="1554480"/>
            <a:ext cx="7132320" cy="2926080"/>
          </a:xfrm>
          <a:prstGeom prst="rect">
            <a:avLst/>
          </a:prstGeom>
        </p:spPr>
      </p:pic>
      <p:pic>
        <p:nvPicPr>
          <p:cNvPr id="6" name="Picture 5" descr="fig5_forecast_vs_actual.png"/>
          <p:cNvPicPr>
            <a:picLocks noChangeAspect="1"/>
          </p:cNvPicPr>
          <p:nvPr/>
        </p:nvPicPr>
        <p:blipFill>
          <a:blip r:embed="rId3"/>
          <a:stretch>
            <a:fillRect/>
          </a:stretch>
        </p:blipFill>
        <p:spPr>
          <a:xfrm>
            <a:off x="365760" y="4572000"/>
            <a:ext cx="7132320" cy="2103120"/>
          </a:xfrm>
          <a:prstGeom prst="rect">
            <a:avLst/>
          </a:prstGeom>
        </p:spPr>
      </p:pic>
      <p:sp>
        <p:nvSpPr>
          <p:cNvPr id="7" name="TextBox 6"/>
          <p:cNvSpPr txBox="1"/>
          <p:nvPr/>
        </p:nvSpPr>
        <p:spPr>
          <a:xfrm>
            <a:off x="7680960" y="1645920"/>
            <a:ext cx="4297680" cy="5029200"/>
          </a:xfrm>
          <a:prstGeom prst="rect">
            <a:avLst/>
          </a:prstGeom>
          <a:noFill/>
        </p:spPr>
        <p:txBody>
          <a:bodyPr wrap="square">
            <a:spAutoFit/>
          </a:bodyPr>
          <a:lstStyle/>
          <a:p>
            <a:pPr>
              <a:spcBef>
                <a:spcPts val="400"/>
              </a:spcBef>
            </a:pPr>
            <a:r>
              <a:rPr sz="1800" b="1">
                <a:solidFill>
                  <a:srgbClr val="00853E"/>
                </a:solidFill>
              </a:rPr>
              <a:t>Key Results:</a:t>
            </a:r>
          </a:p>
          <a:p>
            <a:pPr>
              <a:spcBef>
                <a:spcPts val="400"/>
              </a:spcBef>
            </a:pPr>
            <a:r>
              <a:rPr sz="1600" b="0">
                <a:solidFill>
                  <a:srgbClr val="000000"/>
                </a:solidFill>
              </a:rPr>
              <a:t>Raw (lag-1):  MSE = 1.285</a:t>
            </a:r>
          </a:p>
          <a:p>
            <a:pPr>
              <a:spcBef>
                <a:spcPts val="400"/>
              </a:spcBef>
            </a:pPr>
            <a:r>
              <a:rPr sz="1600" b="1">
                <a:solidFill>
                  <a:srgbClr val="00853E"/>
                </a:solidFill>
              </a:rPr>
              <a:t>Lag+Rolling:  MSE = 0.228  (−82%)</a:t>
            </a:r>
          </a:p>
          <a:p>
            <a:pPr>
              <a:spcBef>
                <a:spcPts val="400"/>
              </a:spcBef>
            </a:pPr>
            <a:r>
              <a:rPr sz="1600" b="0">
                <a:solidFill>
                  <a:srgbClr val="000000"/>
                </a:solidFill>
              </a:rPr>
              <a:t>+ Embeddings: MSE = 0.337</a:t>
            </a:r>
          </a:p>
          <a:p>
            <a:pPr>
              <a:spcBef>
                <a:spcPts val="400"/>
              </a:spcBef>
            </a:pPr>
            <a:r>
              <a:rPr sz="1600" b="1">
                <a:solidFill>
                  <a:srgbClr val="00853E"/>
                </a:solidFill>
              </a:rPr>
              <a:t>+ SHAP Prune: MSE = 0.230  (−82%)</a:t>
            </a:r>
          </a:p>
          <a:p>
            <a:pPr>
              <a:spcBef>
                <a:spcPts val="400"/>
              </a:spcBef>
            </a:pPr>
            <a:r>
              <a:rPr sz="1400" b="0">
                <a:solidFill>
                  <a:srgbClr val="000000"/>
                </a:solidFill>
              </a:rPr>
              <a:t/>
            </a:r>
          </a:p>
          <a:p>
            <a:pPr>
              <a:spcBef>
                <a:spcPts val="400"/>
              </a:spcBef>
            </a:pPr>
            <a:r>
              <a:rPr sz="1600" b="0">
                <a:solidFill>
                  <a:srgbClr val="000000"/>
                </a:solidFill>
              </a:rPr>
              <a:t>SHAP removed 12/28 features</a:t>
            </a:r>
          </a:p>
          <a:p>
            <a:pPr>
              <a:spcBef>
                <a:spcPts val="400"/>
              </a:spcBef>
            </a:pPr>
            <a:r>
              <a:rPr sz="1600" b="0">
                <a:solidFill>
                  <a:srgbClr val="000000"/>
                </a:solidFill>
              </a:rPr>
              <a:t>with no MSE increase</a:t>
            </a:r>
          </a:p>
          <a:p>
            <a:pPr>
              <a:spcBef>
                <a:spcPts val="400"/>
              </a:spcBef>
            </a:pPr>
            <a:r>
              <a:rPr sz="1600" b="0">
                <a:solidFill>
                  <a:srgbClr val="000000"/>
                </a:solidFill>
              </a:rPr>
              <a:t>Self-supervised embeddings did not</a:t>
            </a:r>
          </a:p>
          <a:p>
            <a:pPr>
              <a:spcBef>
                <a:spcPts val="400"/>
              </a:spcBef>
            </a:pPr>
            <a:r>
              <a:rPr sz="1600" b="0">
                <a:solidFill>
                  <a:srgbClr val="000000"/>
                </a:solidFill>
              </a:rPr>
              <a:t>outperform explicit statistics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solidFill>
                  <a:srgbClr val="00853E"/>
                </a:solidFill>
              </a:rPr>
              <a:t>Results: Anomaly Detection (WESAD-like PPG)</a:t>
            </a:r>
          </a:p>
        </p:txBody>
      </p:sp>
      <p:sp>
        <p:nvSpPr>
          <p:cNvPr id="3" name="Content Placeholder 2"/>
          <p:cNvSpPr>
            <a:spLocks noGrp="1"/>
          </p:cNvSpPr>
          <p:nvPr>
            <p:ph idx="1"/>
          </p:nvPr>
        </p:nvSpPr>
        <p:spPr/>
        <p:txBody>
          <a:bodyPr/>
          <a:lstStyle/>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6_anomaly_signal.png"/>
          <p:cNvPicPr>
            <a:picLocks noChangeAspect="1"/>
          </p:cNvPicPr>
          <p:nvPr/>
        </p:nvPicPr>
        <p:blipFill>
          <a:blip r:embed="rId2"/>
          <a:stretch>
            <a:fillRect/>
          </a:stretch>
        </p:blipFill>
        <p:spPr>
          <a:xfrm>
            <a:off x="365760" y="1554480"/>
            <a:ext cx="7772400" cy="2286000"/>
          </a:xfrm>
          <a:prstGeom prst="rect">
            <a:avLst/>
          </a:prstGeom>
        </p:spPr>
      </p:pic>
      <p:pic>
        <p:nvPicPr>
          <p:cNvPr id="6" name="Picture 5" descr="fig7_anomaly_metrics.png"/>
          <p:cNvPicPr>
            <a:picLocks noChangeAspect="1"/>
          </p:cNvPicPr>
          <p:nvPr/>
        </p:nvPicPr>
        <p:blipFill>
          <a:blip r:embed="rId3"/>
          <a:stretch>
            <a:fillRect/>
          </a:stretch>
        </p:blipFill>
        <p:spPr>
          <a:xfrm>
            <a:off x="365760" y="3931920"/>
            <a:ext cx="7772400" cy="2651760"/>
          </a:xfrm>
          <a:prstGeom prst="rect">
            <a:avLst/>
          </a:prstGeom>
        </p:spPr>
      </p:pic>
      <p:sp>
        <p:nvSpPr>
          <p:cNvPr id="7" name="TextBox 6"/>
          <p:cNvSpPr txBox="1"/>
          <p:nvPr/>
        </p:nvSpPr>
        <p:spPr>
          <a:xfrm>
            <a:off x="8321040" y="1645920"/>
            <a:ext cx="3657600" cy="5029200"/>
          </a:xfrm>
          <a:prstGeom prst="rect">
            <a:avLst/>
          </a:prstGeom>
          <a:noFill/>
        </p:spPr>
        <p:txBody>
          <a:bodyPr wrap="square">
            <a:spAutoFit/>
          </a:bodyPr>
          <a:lstStyle/>
          <a:p>
            <a:pPr>
              <a:spcBef>
                <a:spcPts val="400"/>
              </a:spcBef>
            </a:pPr>
            <a:r>
              <a:rPr sz="1800" b="1">
                <a:solidFill>
                  <a:srgbClr val="00853E"/>
                </a:solidFill>
              </a:rPr>
              <a:t>Key Results:</a:t>
            </a:r>
          </a:p>
          <a:p>
            <a:pPr>
              <a:spcBef>
                <a:spcPts val="400"/>
              </a:spcBef>
            </a:pPr>
            <a:r>
              <a:rPr sz="1600" b="0">
                <a:solidFill>
                  <a:srgbClr val="000000"/>
                </a:solidFill>
              </a:rPr>
              <a:t>Raw Windows:   F1 = 0.871</a:t>
            </a:r>
          </a:p>
          <a:p>
            <a:pPr>
              <a:spcBef>
                <a:spcPts val="400"/>
              </a:spcBef>
            </a:pPr>
            <a:r>
              <a:rPr sz="1600" b="0">
                <a:solidFill>
                  <a:srgbClr val="333333"/>
                </a:solidFill>
              </a:rPr>
              <a:t>Catch22 Only:  F1 = 0.581 ↓</a:t>
            </a:r>
          </a:p>
          <a:p>
            <a:pPr>
              <a:spcBef>
                <a:spcPts val="400"/>
              </a:spcBef>
            </a:pPr>
            <a:r>
              <a:rPr sz="1600" b="1">
                <a:solidFill>
                  <a:srgbClr val="00853E"/>
                </a:solidFill>
              </a:rPr>
              <a:t>Catch22+SHAP:  F1 = 0.710 ↑</a:t>
            </a:r>
          </a:p>
          <a:p>
            <a:pPr>
              <a:spcBef>
                <a:spcPts val="400"/>
              </a:spcBef>
            </a:pPr>
            <a:r>
              <a:rPr sz="1400" b="0">
                <a:solidFill>
                  <a:srgbClr val="000000"/>
                </a:solidFill>
              </a:rPr>
              <a:t/>
            </a:r>
          </a:p>
          <a:p>
            <a:pPr>
              <a:spcBef>
                <a:spcPts val="400"/>
              </a:spcBef>
            </a:pPr>
            <a:r>
              <a:rPr sz="1600" b="1">
                <a:solidFill>
                  <a:srgbClr val="000000"/>
                </a:solidFill>
              </a:rPr>
              <a:t>Why Catch22 hurt:</a:t>
            </a:r>
          </a:p>
          <a:p>
            <a:pPr>
              <a:spcBef>
                <a:spcPts val="400"/>
              </a:spcBef>
            </a:pPr>
            <a:r>
              <a:rPr sz="1600" b="0">
                <a:solidFill>
                  <a:srgbClr val="000000"/>
                </a:solidFill>
              </a:rPr>
              <a:t>Amplitude normalization masks</a:t>
            </a:r>
          </a:p>
          <a:p>
            <a:pPr>
              <a:spcBef>
                <a:spcPts val="400"/>
              </a:spcBef>
            </a:pPr>
            <a:r>
              <a:rPr sz="1600" b="0">
                <a:solidFill>
                  <a:srgbClr val="000000"/>
                </a:solidFill>
              </a:rPr>
              <a:t>spike anomalies</a:t>
            </a:r>
          </a:p>
          <a:p>
            <a:pPr>
              <a:spcBef>
                <a:spcPts val="400"/>
              </a:spcBef>
            </a:pPr>
            <a:r>
              <a:rPr sz="1600" b="0">
                <a:solidFill>
                  <a:srgbClr val="000000"/>
                </a:solidFill>
              </a:rPr>
              <a:t>SHAP selected diff_variance &amp;</a:t>
            </a:r>
          </a:p>
          <a:p>
            <a:pPr>
              <a:spcBef>
                <a:spcPts val="400"/>
              </a:spcBef>
            </a:pPr>
            <a:r>
              <a:rPr sz="1600" b="0">
                <a:solidFill>
                  <a:srgbClr val="000000"/>
                </a:solidFill>
              </a:rPr>
              <a:t>time_reversibility to recover F1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solidFill>
                  <a:srgbClr val="00853E"/>
                </a:solidFill>
              </a:rPr>
              <a:t>Results: Anomaly Detection (WESAD-like PPG)</a:t>
            </a:r>
          </a:p>
        </p:txBody>
      </p:sp>
      <p:sp>
        <p:nvSpPr>
          <p:cNvPr id="3" name="Content Placeholder 2"/>
          <p:cNvSpPr>
            <a:spLocks noGrp="1"/>
          </p:cNvSpPr>
          <p:nvPr>
            <p:ph idx="1"/>
          </p:nvPr>
        </p:nvSpPr>
        <p:spPr/>
        <p:txBody>
          <a:bodyPr/>
          <a:lstStyle/>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6_anomaly_signal.png"/>
          <p:cNvPicPr>
            <a:picLocks noChangeAspect="1"/>
          </p:cNvPicPr>
          <p:nvPr/>
        </p:nvPicPr>
        <p:blipFill>
          <a:blip r:embed="rId2"/>
          <a:stretch>
            <a:fillRect/>
          </a:stretch>
        </p:blipFill>
        <p:spPr>
          <a:xfrm>
            <a:off x="365760" y="1554480"/>
            <a:ext cx="7772400" cy="2286000"/>
          </a:xfrm>
          <a:prstGeom prst="rect">
            <a:avLst/>
          </a:prstGeom>
        </p:spPr>
      </p:pic>
      <p:pic>
        <p:nvPicPr>
          <p:cNvPr id="6" name="Picture 5" descr="fig7_anomaly_metrics.png"/>
          <p:cNvPicPr>
            <a:picLocks noChangeAspect="1"/>
          </p:cNvPicPr>
          <p:nvPr/>
        </p:nvPicPr>
        <p:blipFill>
          <a:blip r:embed="rId3"/>
          <a:stretch>
            <a:fillRect/>
          </a:stretch>
        </p:blipFill>
        <p:spPr>
          <a:xfrm>
            <a:off x="365760" y="3931920"/>
            <a:ext cx="7772400" cy="2651760"/>
          </a:xfrm>
          <a:prstGeom prst="rect">
            <a:avLst/>
          </a:prstGeom>
        </p:spPr>
      </p:pic>
      <p:sp>
        <p:nvSpPr>
          <p:cNvPr id="7" name="TextBox 6"/>
          <p:cNvSpPr txBox="1"/>
          <p:nvPr/>
        </p:nvSpPr>
        <p:spPr>
          <a:xfrm>
            <a:off x="8321040" y="1645920"/>
            <a:ext cx="3657600" cy="5029200"/>
          </a:xfrm>
          <a:prstGeom prst="rect">
            <a:avLst/>
          </a:prstGeom>
          <a:noFill/>
        </p:spPr>
        <p:txBody>
          <a:bodyPr wrap="square">
            <a:spAutoFit/>
          </a:bodyPr>
          <a:lstStyle/>
          <a:p>
            <a:pPr>
              <a:spcBef>
                <a:spcPts val="400"/>
              </a:spcBef>
            </a:pPr>
            <a:r>
              <a:rPr sz="1800" b="1">
                <a:solidFill>
                  <a:srgbClr val="00853E"/>
                </a:solidFill>
              </a:rPr>
              <a:t>Key Results:</a:t>
            </a:r>
          </a:p>
          <a:p>
            <a:pPr>
              <a:spcBef>
                <a:spcPts val="400"/>
              </a:spcBef>
            </a:pPr>
            <a:r>
              <a:rPr sz="1600" b="0">
                <a:solidFill>
                  <a:srgbClr val="000000"/>
                </a:solidFill>
              </a:rPr>
              <a:t>Raw Windows:   F1 = 0.871</a:t>
            </a:r>
          </a:p>
          <a:p>
            <a:pPr>
              <a:spcBef>
                <a:spcPts val="400"/>
              </a:spcBef>
            </a:pPr>
            <a:r>
              <a:rPr sz="1600" b="0">
                <a:solidFill>
                  <a:srgbClr val="333333"/>
                </a:solidFill>
              </a:rPr>
              <a:t>Catch22 Only:  F1 = 0.581 ↓</a:t>
            </a:r>
          </a:p>
          <a:p>
            <a:pPr>
              <a:spcBef>
                <a:spcPts val="400"/>
              </a:spcBef>
            </a:pPr>
            <a:r>
              <a:rPr sz="1600" b="1">
                <a:solidFill>
                  <a:srgbClr val="00853E"/>
                </a:solidFill>
              </a:rPr>
              <a:t>Catch22+SHAP:  F1 = 0.710 ↑</a:t>
            </a:r>
          </a:p>
          <a:p>
            <a:pPr>
              <a:spcBef>
                <a:spcPts val="400"/>
              </a:spcBef>
            </a:pPr>
            <a:r>
              <a:rPr sz="1400" b="0">
                <a:solidFill>
                  <a:srgbClr val="000000"/>
                </a:solidFill>
              </a:rPr>
              <a:t/>
            </a:r>
          </a:p>
          <a:p>
            <a:pPr>
              <a:spcBef>
                <a:spcPts val="400"/>
              </a:spcBef>
            </a:pPr>
            <a:r>
              <a:rPr sz="1600" b="1">
                <a:solidFill>
                  <a:srgbClr val="000000"/>
                </a:solidFill>
              </a:rPr>
              <a:t>Why Catch22 hurt:</a:t>
            </a:r>
          </a:p>
          <a:p>
            <a:pPr>
              <a:spcBef>
                <a:spcPts val="400"/>
              </a:spcBef>
            </a:pPr>
            <a:r>
              <a:rPr sz="1600" b="0">
                <a:solidFill>
                  <a:srgbClr val="000000"/>
                </a:solidFill>
              </a:rPr>
              <a:t>Amplitude normalization masks</a:t>
            </a:r>
          </a:p>
          <a:p>
            <a:pPr>
              <a:spcBef>
                <a:spcPts val="400"/>
              </a:spcBef>
            </a:pPr>
            <a:r>
              <a:rPr sz="1600" b="0">
                <a:solidFill>
                  <a:srgbClr val="000000"/>
                </a:solidFill>
              </a:rPr>
              <a:t>spike anomalies</a:t>
            </a:r>
          </a:p>
          <a:p>
            <a:pPr>
              <a:spcBef>
                <a:spcPts val="400"/>
              </a:spcBef>
            </a:pPr>
            <a:r>
              <a:rPr sz="1600" b="0">
                <a:solidFill>
                  <a:srgbClr val="000000"/>
                </a:solidFill>
              </a:rPr>
              <a:t>SHAP selected diff_variance &amp;</a:t>
            </a:r>
          </a:p>
          <a:p>
            <a:pPr>
              <a:spcBef>
                <a:spcPts val="400"/>
              </a:spcBef>
            </a:pPr>
            <a:r>
              <a:rPr sz="1600" b="0">
                <a:solidFill>
                  <a:srgbClr val="000000"/>
                </a:solidFill>
              </a:rPr>
              <a:t>time_reversibility to recover F1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00853E"/>
                </a:solidFill>
              </a:rPr>
              <a:t>Results Summary and Visualizations</a:t>
            </a:r>
          </a:p>
        </p:txBody>
      </p:sp>
      <p:sp>
        <p:nvSpPr>
          <p:cNvPr id="3" name="Content Placeholder 2"/>
          <p:cNvSpPr>
            <a:spLocks noGrp="1"/>
          </p:cNvSpPr>
          <p:nvPr>
            <p:ph idx="1"/>
          </p:nvPr>
        </p:nvSpPr>
        <p:spPr/>
        <p:txBody>
          <a:bodyPr/>
          <a:lstStyle/>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12_summary_heatmap.png"/>
          <p:cNvPicPr>
            <a:picLocks noChangeAspect="1"/>
          </p:cNvPicPr>
          <p:nvPr/>
        </p:nvPicPr>
        <p:blipFill>
          <a:blip r:embed="rId2"/>
          <a:stretch>
            <a:fillRect/>
          </a:stretch>
        </p:blipFill>
        <p:spPr>
          <a:xfrm>
            <a:off x="365760" y="1554480"/>
            <a:ext cx="6858000" cy="3474720"/>
          </a:xfrm>
          <a:prstGeom prst="rect">
            <a:avLst/>
          </a:prstGeom>
        </p:spPr>
      </p:pic>
      <p:pic>
        <p:nvPicPr>
          <p:cNvPr id="6" name="Picture 5" descr="fig9_pca_projection.png"/>
          <p:cNvPicPr>
            <a:picLocks noChangeAspect="1"/>
          </p:cNvPicPr>
          <p:nvPr/>
        </p:nvPicPr>
        <p:blipFill>
          <a:blip r:embed="rId3"/>
          <a:stretch>
            <a:fillRect/>
          </a:stretch>
        </p:blipFill>
        <p:spPr>
          <a:xfrm>
            <a:off x="7406640" y="1554480"/>
            <a:ext cx="4572000" cy="3474720"/>
          </a:xfrm>
          <a:prstGeom prst="rect">
            <a:avLst/>
          </a:prstGeom>
        </p:spPr>
      </p:pic>
      <p:pic>
        <p:nvPicPr>
          <p:cNvPr id="7" name="Picture 6" descr="fig8_feature_correlation.png"/>
          <p:cNvPicPr>
            <a:picLocks noChangeAspect="1"/>
          </p:cNvPicPr>
          <p:nvPr/>
        </p:nvPicPr>
        <p:blipFill>
          <a:blip r:embed="rId4"/>
          <a:stretch>
            <a:fillRect/>
          </a:stretch>
        </p:blipFill>
        <p:spPr>
          <a:xfrm>
            <a:off x="365760" y="5120640"/>
            <a:ext cx="5029200" cy="1554480"/>
          </a:xfrm>
          <a:prstGeom prst="rect">
            <a:avLst/>
          </a:prstGeom>
        </p:spPr>
      </p:pic>
      <p:pic>
        <p:nvPicPr>
          <p:cNvPr id="8" name="Picture 7" descr="fig10_forecasting_shap.png"/>
          <p:cNvPicPr>
            <a:picLocks noChangeAspect="1"/>
          </p:cNvPicPr>
          <p:nvPr/>
        </p:nvPicPr>
        <p:blipFill>
          <a:blip r:embed="rId5"/>
          <a:stretch>
            <a:fillRect/>
          </a:stretch>
        </p:blipFill>
        <p:spPr>
          <a:xfrm>
            <a:off x="5577840" y="5120640"/>
            <a:ext cx="6400800" cy="15544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00853E"/>
                </a:solidFill>
              </a:rPr>
              <a:t>Results Summary and Visualizations</a:t>
            </a:r>
          </a:p>
        </p:txBody>
      </p:sp>
      <p:sp>
        <p:nvSpPr>
          <p:cNvPr id="3" name="Content Placeholder 2"/>
          <p:cNvSpPr>
            <a:spLocks noGrp="1"/>
          </p:cNvSpPr>
          <p:nvPr>
            <p:ph idx="1"/>
          </p:nvPr>
        </p:nvSpPr>
        <p:spPr/>
        <p:txBody>
          <a:bodyPr/>
          <a:lstStyle/>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12_summary_heatmap.png"/>
          <p:cNvPicPr>
            <a:picLocks noChangeAspect="1"/>
          </p:cNvPicPr>
          <p:nvPr/>
        </p:nvPicPr>
        <p:blipFill>
          <a:blip r:embed="rId2"/>
          <a:stretch>
            <a:fillRect/>
          </a:stretch>
        </p:blipFill>
        <p:spPr>
          <a:xfrm>
            <a:off x="365760" y="1554480"/>
            <a:ext cx="6858000" cy="3474720"/>
          </a:xfrm>
          <a:prstGeom prst="rect">
            <a:avLst/>
          </a:prstGeom>
        </p:spPr>
      </p:pic>
      <p:pic>
        <p:nvPicPr>
          <p:cNvPr id="6" name="Picture 5" descr="fig9_pca_projection.png"/>
          <p:cNvPicPr>
            <a:picLocks noChangeAspect="1"/>
          </p:cNvPicPr>
          <p:nvPr/>
        </p:nvPicPr>
        <p:blipFill>
          <a:blip r:embed="rId3"/>
          <a:stretch>
            <a:fillRect/>
          </a:stretch>
        </p:blipFill>
        <p:spPr>
          <a:xfrm>
            <a:off x="7406640" y="1554480"/>
            <a:ext cx="4572000" cy="3474720"/>
          </a:xfrm>
          <a:prstGeom prst="rect">
            <a:avLst/>
          </a:prstGeom>
        </p:spPr>
      </p:pic>
      <p:pic>
        <p:nvPicPr>
          <p:cNvPr id="7" name="Picture 6" descr="fig8_feature_correlation.png"/>
          <p:cNvPicPr>
            <a:picLocks noChangeAspect="1"/>
          </p:cNvPicPr>
          <p:nvPr/>
        </p:nvPicPr>
        <p:blipFill>
          <a:blip r:embed="rId4"/>
          <a:stretch>
            <a:fillRect/>
          </a:stretch>
        </p:blipFill>
        <p:spPr>
          <a:xfrm>
            <a:off x="365760" y="5120640"/>
            <a:ext cx="5029200" cy="1554480"/>
          </a:xfrm>
          <a:prstGeom prst="rect">
            <a:avLst/>
          </a:prstGeom>
        </p:spPr>
      </p:pic>
      <p:pic>
        <p:nvPicPr>
          <p:cNvPr id="8" name="Picture 7" descr="fig10_forecasting_shap.png"/>
          <p:cNvPicPr>
            <a:picLocks noChangeAspect="1"/>
          </p:cNvPicPr>
          <p:nvPr/>
        </p:nvPicPr>
        <p:blipFill>
          <a:blip r:embed="rId5"/>
          <a:stretch>
            <a:fillRect/>
          </a:stretch>
        </p:blipFill>
        <p:spPr>
          <a:xfrm>
            <a:off x="5577840" y="5120640"/>
            <a:ext cx="6400800" cy="15544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Discussion</a:t>
            </a:r>
          </a:p>
        </p:txBody>
      </p:sp>
      <p:sp>
        <p:nvSpPr>
          <p:cNvPr id="3" name="Content Placeholder 2"/>
          <p:cNvSpPr>
            <a:spLocks noGrp="1"/>
          </p:cNvSpPr>
          <p:nvPr>
            <p:ph idx="1"/>
          </p:nvPr>
        </p:nvSpPr>
        <p:spPr/>
        <p:txBody>
          <a:bodyPr wrap="square"/>
          <a:lstStyle/>
          <a:p>
            <a:pPr/>
            <a:r>
              <a:rPr sz="2100" b="1">
                <a:solidFill>
                  <a:srgbClr val="00853E"/>
                </a:solidFill>
              </a:rPr>
              <a:t>When Catch22 Works Best</a:t>
            </a:r>
          </a:p>
          <a:p>
            <a:pPr lvl="1"/>
            <a:r>
              <a:rPr sz="1800" b="0">
                <a:solidFill>
                  <a:srgbClr val="000000"/>
                </a:solidFill>
              </a:rPr>
              <a:t>Datasets where global statistics are discriminative (SyntheticControl, GunPoint)</a:t>
            </a:r>
          </a:p>
          <a:p>
            <a:pPr lvl="1"/>
            <a:r>
              <a:rPr sz="1800" b="0">
                <a:solidFill>
                  <a:srgbClr val="000000"/>
                </a:solidFill>
              </a:rPr>
              <a:t>Compresses 150+ time steps into 22 interpretable features efficiently</a:t>
            </a:r>
          </a:p>
          <a:p>
            <a:pPr/>
            <a:r>
              <a:rPr sz="2100" b="1">
                <a:solidFill>
                  <a:srgbClr val="00853E"/>
                </a:solidFill>
              </a:rPr>
              <a:t>When Raw Features Win</a:t>
            </a:r>
          </a:p>
          <a:p>
            <a:pPr lvl="1"/>
            <a:r>
              <a:rPr sz="1800" b="0">
                <a:solidFill>
                  <a:srgbClr val="000000"/>
                </a:solidFill>
              </a:rPr>
              <a:t>ItalyPowerDemand: class defined by a sharp drop at a specific timestamp</a:t>
            </a:r>
          </a:p>
          <a:p>
            <a:pPr lvl="1"/>
            <a:r>
              <a:rPr sz="1800" b="0">
                <a:solidFill>
                  <a:srgbClr val="000000"/>
                </a:solidFill>
              </a:rPr>
              <a:t>Catch22 averages out local patterns — global features miss local timing</a:t>
            </a:r>
          </a:p>
          <a:p>
            <a:pPr/>
            <a:r>
              <a:rPr sz="2100" b="1">
                <a:solidFill>
                  <a:srgbClr val="00853E"/>
                </a:solidFill>
              </a:rPr>
              <a:t>SHAP as an Active Design Tool</a:t>
            </a:r>
          </a:p>
          <a:p>
            <a:pPr lvl="1"/>
            <a:r>
              <a:rPr sz="1800" b="0">
                <a:solidFill>
                  <a:srgbClr val="000000"/>
                </a:solidFill>
              </a:rPr>
              <a:t>Reduced feature space by 40–45% across all three tasks</a:t>
            </a:r>
          </a:p>
          <a:p>
            <a:pPr lvl="1"/>
            <a:r>
              <a:rPr sz="1800" b="0">
                <a:solidFill>
                  <a:srgbClr val="000000"/>
                </a:solidFill>
              </a:rPr>
              <a:t>Faster inference, lower memory, more interpretable — critical for edge deployment</a:t>
            </a:r>
          </a:p>
          <a:p>
            <a:pPr/>
            <a:r>
              <a:rPr sz="1800" b="0">
                <a:solidFill>
                  <a:srgbClr val="333333"/>
                </a:solidFill>
              </a:rPr>
              <a:t>Challenges: WESAD-like data is simulated; real wearable data may differ significantly</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Discussion</a:t>
            </a:r>
          </a:p>
        </p:txBody>
      </p:sp>
      <p:sp>
        <p:nvSpPr>
          <p:cNvPr id="3" name="Content Placeholder 2"/>
          <p:cNvSpPr>
            <a:spLocks noGrp="1"/>
          </p:cNvSpPr>
          <p:nvPr>
            <p:ph idx="1"/>
          </p:nvPr>
        </p:nvSpPr>
        <p:spPr/>
        <p:txBody>
          <a:bodyPr wrap="square"/>
          <a:lstStyle/>
          <a:p>
            <a:pPr/>
            <a:r>
              <a:rPr sz="2100" b="1">
                <a:solidFill>
                  <a:srgbClr val="00853E"/>
                </a:solidFill>
              </a:rPr>
              <a:t>When Catch22 Works Best</a:t>
            </a:r>
          </a:p>
          <a:p>
            <a:pPr lvl="1"/>
            <a:r>
              <a:rPr sz="1800" b="0">
                <a:solidFill>
                  <a:srgbClr val="000000"/>
                </a:solidFill>
              </a:rPr>
              <a:t>Datasets where global statistics are discriminative (SyntheticControl, GunPoint)</a:t>
            </a:r>
          </a:p>
          <a:p>
            <a:pPr lvl="1"/>
            <a:r>
              <a:rPr sz="1800" b="0">
                <a:solidFill>
                  <a:srgbClr val="000000"/>
                </a:solidFill>
              </a:rPr>
              <a:t>Compresses 150+ time steps into 22 interpretable features efficiently</a:t>
            </a:r>
          </a:p>
          <a:p>
            <a:pPr/>
            <a:r>
              <a:rPr sz="2100" b="1">
                <a:solidFill>
                  <a:srgbClr val="00853E"/>
                </a:solidFill>
              </a:rPr>
              <a:t>When Raw Features Win</a:t>
            </a:r>
          </a:p>
          <a:p>
            <a:pPr lvl="1"/>
            <a:r>
              <a:rPr sz="1800" b="0">
                <a:solidFill>
                  <a:srgbClr val="000000"/>
                </a:solidFill>
              </a:rPr>
              <a:t>ItalyPowerDemand: class defined by a sharp drop at a specific timestamp</a:t>
            </a:r>
          </a:p>
          <a:p>
            <a:pPr lvl="1"/>
            <a:r>
              <a:rPr sz="1800" b="0">
                <a:solidFill>
                  <a:srgbClr val="000000"/>
                </a:solidFill>
              </a:rPr>
              <a:t>Catch22 averages out local patterns — global features miss local timing</a:t>
            </a:r>
          </a:p>
          <a:p>
            <a:pPr/>
            <a:r>
              <a:rPr sz="2100" b="1">
                <a:solidFill>
                  <a:srgbClr val="00853E"/>
                </a:solidFill>
              </a:rPr>
              <a:t>SHAP as an Active Design Tool</a:t>
            </a:r>
          </a:p>
          <a:p>
            <a:pPr lvl="1"/>
            <a:r>
              <a:rPr sz="1800" b="0">
                <a:solidFill>
                  <a:srgbClr val="000000"/>
                </a:solidFill>
              </a:rPr>
              <a:t>Reduced feature space by 40–45% across all three tasks</a:t>
            </a:r>
          </a:p>
          <a:p>
            <a:pPr lvl="1"/>
            <a:r>
              <a:rPr sz="1800" b="0">
                <a:solidFill>
                  <a:srgbClr val="000000"/>
                </a:solidFill>
              </a:rPr>
              <a:t>Faster inference, lower memory, more interpretable — critical for edge deployment</a:t>
            </a:r>
          </a:p>
          <a:p>
            <a:pPr/>
            <a:r>
              <a:rPr sz="1800" b="0">
                <a:solidFill>
                  <a:srgbClr val="333333"/>
                </a:solidFill>
              </a:rPr>
              <a:t>Challenges: WESAD-like data is simulated; real wearable data may differ significantly</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Conclusion and Future Work</a:t>
            </a:r>
          </a:p>
        </p:txBody>
      </p:sp>
      <p:sp>
        <p:nvSpPr>
          <p:cNvPr id="3" name="Content Placeholder 2"/>
          <p:cNvSpPr>
            <a:spLocks noGrp="1"/>
          </p:cNvSpPr>
          <p:nvPr>
            <p:ph idx="1"/>
          </p:nvPr>
        </p:nvSpPr>
        <p:spPr/>
        <p:txBody>
          <a:bodyPr wrap="square"/>
          <a:lstStyle/>
          <a:p>
            <a:pPr/>
            <a:r>
              <a:rPr sz="2100" b="1">
                <a:solidFill>
                  <a:srgbClr val="00853E"/>
                </a:solidFill>
              </a:rPr>
              <a:t>Key Conclusions</a:t>
            </a:r>
          </a:p>
          <a:p>
            <a:pPr lvl="1"/>
            <a:r>
              <a:rPr sz="1800" b="0">
                <a:solidFill>
                  <a:srgbClr val="000000"/>
                </a:solidFill>
              </a:rPr>
              <a:t>Catch22 + LightGBM matches deep learning accuracy at a fraction of the cost</a:t>
            </a:r>
          </a:p>
          <a:p>
            <a:pPr lvl="1"/>
            <a:r>
              <a:rPr sz="1800" b="0">
                <a:solidFill>
                  <a:srgbClr val="000000"/>
                </a:solidFill>
              </a:rPr>
              <a:t>Lag + Rolling Statistics are the strongest forecasting features (MSE −82%)</a:t>
            </a:r>
          </a:p>
          <a:p>
            <a:pPr lvl="1"/>
            <a:r>
              <a:rPr sz="1800" b="0">
                <a:solidFill>
                  <a:srgbClr val="000000"/>
                </a:solidFill>
              </a:rPr>
              <a:t>SHAP-guided pruning reliably reduces dimensionality with zero accuracy loss</a:t>
            </a:r>
          </a:p>
          <a:p>
            <a:pPr lvl="1"/>
            <a:r>
              <a:rPr sz="1800" b="0">
                <a:solidFill>
                  <a:srgbClr val="000000"/>
                </a:solidFill>
              </a:rPr>
              <a:t>Cross-domain generalization is limited when local timing is the discriminant</a:t>
            </a:r>
          </a:p>
          <a:p>
            <a:pPr/>
            <a:r>
              <a:rPr sz="2100" b="1">
                <a:solidFill>
                  <a:srgbClr val="00853E"/>
                </a:solidFill>
              </a:rPr>
              <a:t>Future Work</a:t>
            </a:r>
          </a:p>
          <a:p>
            <a:pPr lvl="1"/>
            <a:r>
              <a:rPr sz="1800" b="0">
                <a:solidFill>
                  <a:srgbClr val="000000"/>
                </a:solidFill>
              </a:rPr>
              <a:t>LLM-assisted feature suggestion: use LLMs to propose domain-specific features</a:t>
            </a:r>
          </a:p>
          <a:p>
            <a:pPr lvl="1"/>
            <a:r>
              <a:rPr sz="1800" b="0">
                <a:solidFill>
                  <a:srgbClr val="000000"/>
                </a:solidFill>
              </a:rPr>
              <a:t>Edge device deployment: ultra-lightweight Catch22 for real-time IoT sensors</a:t>
            </a:r>
          </a:p>
          <a:p>
            <a:pPr lvl="1"/>
            <a:r>
              <a:rPr sz="1800" b="0">
                <a:solidFill>
                  <a:srgbClr val="000000"/>
                </a:solidFill>
              </a:rPr>
              <a:t>Validate on real WESAD wearable stress dataset (requires institutional access)</a:t>
            </a:r>
          </a:p>
          <a:p>
            <a:pPr lvl="1"/>
            <a:r>
              <a:rPr sz="1800" b="0">
                <a:solidFill>
                  <a:srgbClr val="000000"/>
                </a:solidFill>
              </a:rPr>
              <a:t>XAI-first AutoML: make SHAP a primary optimization objective, not an afterthought</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Conclusion and Future Work</a:t>
            </a:r>
          </a:p>
        </p:txBody>
      </p:sp>
      <p:sp>
        <p:nvSpPr>
          <p:cNvPr id="3" name="Content Placeholder 2"/>
          <p:cNvSpPr>
            <a:spLocks noGrp="1"/>
          </p:cNvSpPr>
          <p:nvPr>
            <p:ph idx="1"/>
          </p:nvPr>
        </p:nvSpPr>
        <p:spPr/>
        <p:txBody>
          <a:bodyPr wrap="square"/>
          <a:lstStyle/>
          <a:p>
            <a:pPr/>
            <a:r>
              <a:rPr sz="2100" b="1">
                <a:solidFill>
                  <a:srgbClr val="00853E"/>
                </a:solidFill>
              </a:rPr>
              <a:t>Key Conclusions</a:t>
            </a:r>
          </a:p>
          <a:p>
            <a:pPr lvl="1"/>
            <a:r>
              <a:rPr sz="1800" b="0">
                <a:solidFill>
                  <a:srgbClr val="000000"/>
                </a:solidFill>
              </a:rPr>
              <a:t>Catch22 + LightGBM matches deep learning accuracy at a fraction of the cost</a:t>
            </a:r>
          </a:p>
          <a:p>
            <a:pPr lvl="1"/>
            <a:r>
              <a:rPr sz="1800" b="0">
                <a:solidFill>
                  <a:srgbClr val="000000"/>
                </a:solidFill>
              </a:rPr>
              <a:t>Lag + Rolling Statistics are the strongest forecasting features (MSE −82%)</a:t>
            </a:r>
          </a:p>
          <a:p>
            <a:pPr lvl="1"/>
            <a:r>
              <a:rPr sz="1800" b="0">
                <a:solidFill>
                  <a:srgbClr val="000000"/>
                </a:solidFill>
              </a:rPr>
              <a:t>SHAP-guided pruning reliably reduces dimensionality with zero accuracy loss</a:t>
            </a:r>
          </a:p>
          <a:p>
            <a:pPr lvl="1"/>
            <a:r>
              <a:rPr sz="1800" b="0">
                <a:solidFill>
                  <a:srgbClr val="000000"/>
                </a:solidFill>
              </a:rPr>
              <a:t>Cross-domain generalization is limited when local timing is the discriminant</a:t>
            </a:r>
          </a:p>
          <a:p>
            <a:pPr/>
            <a:r>
              <a:rPr sz="2100" b="1">
                <a:solidFill>
                  <a:srgbClr val="00853E"/>
                </a:solidFill>
              </a:rPr>
              <a:t>Future Work</a:t>
            </a:r>
          </a:p>
          <a:p>
            <a:pPr lvl="1"/>
            <a:r>
              <a:rPr sz="1800" b="0">
                <a:solidFill>
                  <a:srgbClr val="000000"/>
                </a:solidFill>
              </a:rPr>
              <a:t>LLM-assisted feature suggestion: use LLMs to propose domain-specific features</a:t>
            </a:r>
          </a:p>
          <a:p>
            <a:pPr lvl="1"/>
            <a:r>
              <a:rPr sz="1800" b="0">
                <a:solidFill>
                  <a:srgbClr val="000000"/>
                </a:solidFill>
              </a:rPr>
              <a:t>Edge device deployment: ultra-lightweight Catch22 for real-time IoT sensors</a:t>
            </a:r>
          </a:p>
          <a:p>
            <a:pPr lvl="1"/>
            <a:r>
              <a:rPr sz="1800" b="0">
                <a:solidFill>
                  <a:srgbClr val="000000"/>
                </a:solidFill>
              </a:rPr>
              <a:t>Validate on real WESAD wearable stress dataset (requires institutional access)</a:t>
            </a:r>
          </a:p>
          <a:p>
            <a:pPr lvl="1"/>
            <a:r>
              <a:rPr sz="1800" b="0">
                <a:solidFill>
                  <a:srgbClr val="000000"/>
                </a:solidFill>
              </a:rPr>
              <a:t>XAI-first AutoML: make SHAP a primary optimization objective, not an afterthought</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References</a:t>
            </a:r>
          </a:p>
        </p:txBody>
      </p:sp>
      <p:sp>
        <p:nvSpPr>
          <p:cNvPr id="3" name="Content Placeholder 2"/>
          <p:cNvSpPr>
            <a:spLocks noGrp="1"/>
          </p:cNvSpPr>
          <p:nvPr>
            <p:ph idx="1"/>
          </p:nvPr>
        </p:nvSpPr>
        <p:spPr/>
        <p:txBody>
          <a:bodyPr wrap="square"/>
          <a:lstStyle/>
          <a:p>
            <a:pPr/>
            <a:r>
              <a:rPr sz="1600" b="0">
                <a:solidFill>
                  <a:srgbClr val="000000"/>
                </a:solidFill>
              </a:rPr>
              <a:t>[1] H. Badi, G. Forestier, and J. Weber, "COCALITE: A Hybrid Approach for Time Series Classification Using Catch22 and LITE," in 2024 IEEE BigData, pp. 5234–5243.</a:t>
            </a:r>
          </a:p>
          <a:p>
            <a:pPr/>
            <a:r>
              <a:rPr sz="1600" b="0">
                <a:solidFill>
                  <a:srgbClr val="000000"/>
                </a:solidFill>
              </a:rPr>
              <a:t>[2] M. D'Aversa, F. Giannini, and M. Scardapane, "SPLiT: Spatio-Temporal Linear Model Trees for Multi-Step Time Series Forecasting," in 2024 IEEE BigData, pp. 3412–3421.</a:t>
            </a:r>
          </a:p>
          <a:p>
            <a:pPr/>
            <a:r>
              <a:rPr sz="1600" b="0">
                <a:solidFill>
                  <a:srgbClr val="000000"/>
                </a:solidFill>
              </a:rPr>
              <a:t>[3] L. Valerio, A. Passarella, and M. Conti, "Unsupervised Anomaly Detection in Wearable PPG Data via Catch22 Features," in 2024 IEEE SENSORS, pp. 1–4.</a:t>
            </a:r>
          </a:p>
          <a:p>
            <a:pPr/>
            <a:r>
              <a:rPr sz="1600" b="0">
                <a:solidFill>
                  <a:srgbClr val="000000"/>
                </a:solidFill>
              </a:rPr>
              <a:t>[4] T. Okadome and J. Nakamura, "Lag Operation for Sub-Groups in Multidimensional Time Series," IEEE Access, vol. 12, pp. 15432–15445, 2024.</a:t>
            </a:r>
          </a:p>
          <a:p>
            <a:pPr/>
            <a:r>
              <a:rPr sz="1600" b="0">
                <a:solidFill>
                  <a:srgbClr val="000000"/>
                </a:solidFill>
              </a:rPr>
              <a:t>[5] O. Petrosian, D. Wang, and S. Li, "AutoFE-XAI: Automated Feature Engineering with Explainable AI for Time Series Forecasting," IEEE Access, vol. 13, pp. 2109–2120, 2025.</a:t>
            </a:r>
          </a:p>
          <a:p>
            <a:pPr/>
            <a:r>
              <a:rPr sz="1600" b="0">
                <a:solidFill>
                  <a:srgbClr val="000000"/>
                </a:solidFill>
              </a:rPr>
              <a:t>[6] C. H. Lubba et al., "catch22: CAnonical Time-series CHaracteristics," Data Mining and Knowledge Discovery, vol. 33, no. 6, pp. 1821–1852, 2019.</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solidFill>
                  <a:srgbClr val="00853E"/>
                </a:solidFill>
              </a:rPr>
              <a:t>References</a:t>
            </a:r>
          </a:p>
        </p:txBody>
      </p:sp>
      <p:sp>
        <p:nvSpPr>
          <p:cNvPr id="3" name="Content Placeholder 2"/>
          <p:cNvSpPr>
            <a:spLocks noGrp="1"/>
          </p:cNvSpPr>
          <p:nvPr>
            <p:ph idx="1"/>
          </p:nvPr>
        </p:nvSpPr>
        <p:spPr/>
        <p:txBody>
          <a:bodyPr wrap="square"/>
          <a:lstStyle/>
          <a:p>
            <a:pPr/>
            <a:r>
              <a:rPr sz="1600" b="0">
                <a:solidFill>
                  <a:srgbClr val="000000"/>
                </a:solidFill>
              </a:rPr>
              <a:t>[1] H. Badi, G. Forestier, and J. Weber, "COCALITE: A Hybrid Approach for Time Series Classification Using Catch22 and LITE," in 2024 IEEE BigData, pp. 5234–5243.</a:t>
            </a:r>
          </a:p>
          <a:p>
            <a:pPr/>
            <a:r>
              <a:rPr sz="1600" b="0">
                <a:solidFill>
                  <a:srgbClr val="000000"/>
                </a:solidFill>
              </a:rPr>
              <a:t>[2] M. D'Aversa, F. Giannini, and M. Scardapane, "SPLiT: Spatio-Temporal Linear Model Trees for Multi-Step Time Series Forecasting," in 2024 IEEE BigData, pp. 3412–3421.</a:t>
            </a:r>
          </a:p>
          <a:p>
            <a:pPr/>
            <a:r>
              <a:rPr sz="1600" b="0">
                <a:solidFill>
                  <a:srgbClr val="000000"/>
                </a:solidFill>
              </a:rPr>
              <a:t>[3] L. Valerio, A. Passarella, and M. Conti, "Unsupervised Anomaly Detection in Wearable PPG Data via Catch22 Features," in 2024 IEEE SENSORS, pp. 1–4.</a:t>
            </a:r>
          </a:p>
          <a:p>
            <a:pPr/>
            <a:r>
              <a:rPr sz="1600" b="0">
                <a:solidFill>
                  <a:srgbClr val="000000"/>
                </a:solidFill>
              </a:rPr>
              <a:t>[4] T. Okadome and J. Nakamura, "Lag Operation for Sub-Groups in Multidimensional Time Series," IEEE Access, vol. 12, pp. 15432–15445, 2024.</a:t>
            </a:r>
          </a:p>
          <a:p>
            <a:pPr/>
            <a:r>
              <a:rPr sz="1600" b="0">
                <a:solidFill>
                  <a:srgbClr val="000000"/>
                </a:solidFill>
              </a:rPr>
              <a:t>[5] O. Petrosian, D. Wang, and S. Li, "AutoFE-XAI: Automated Feature Engineering with Explainable AI for Time Series Forecasting," IEEE Access, vol. 13, pp. 2109–2120, 2025.</a:t>
            </a:r>
          </a:p>
          <a:p>
            <a:pPr/>
            <a:r>
              <a:rPr sz="1600" b="0">
                <a:solidFill>
                  <a:srgbClr val="000000"/>
                </a:solidFill>
              </a:rPr>
              <a:t>[6] C. H. Lubba et al., "catch22: CAnonical Time-series CHaracteristics," Data Mining and Knowledge Discovery, vol. 33, no. 6, pp. 1821–1852, 2019.</a:t>
            </a:r>
          </a:p>
        </p:txBody>
      </p:sp>
      <p:sp>
        <p:nvSpPr>
          <p:cNvPr id="4" name="Rectangle 3"/>
          <p:cNvSpPr/>
          <p:nvPr/>
        </p:nvSpPr>
        <p:spPr>
          <a:xfrm>
            <a:off x="0" y="1417320"/>
            <a:ext cx="12188952" cy="54864"/>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800" b="0">
                <a:solidFill>
                  <a:srgbClr val="00853E"/>
                </a:solidFill>
              </a:rPr>
              <a:t>Thank You!</a:t>
            </a:r>
          </a:p>
        </p:txBody>
      </p:sp>
      <p:sp>
        <p:nvSpPr>
          <p:cNvPr id="3" name="Subtitle 2"/>
          <p:cNvSpPr>
            <a:spLocks noGrp="1"/>
          </p:cNvSpPr>
          <p:nvPr>
            <p:ph type="subTitle" idx="1"/>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800" b="0">
                <a:solidFill>
                  <a:srgbClr val="00853E"/>
                </a:solidFill>
              </a:rPr>
              <a:t>Thank You!</a:t>
            </a:r>
          </a:p>
        </p:txBody>
      </p:sp>
      <p:sp>
        <p:nvSpPr>
          <p:cNvPr id="3" name="Subtitle 2"/>
          <p:cNvSpPr>
            <a:spLocks noGrp="1"/>
          </p:cNvSpPr>
          <p:nvPr>
            <p:ph type="subTitle" idx="1"/>
          </p:nvPr>
        </p:nvSpPr>
        <p:spPr/>
        <p:txBody>
          <a:bodyPr/>
          <a:lstStyle/>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701BC-BD78-4D46-984E-7210A7D2AB83}"/>
              </a:ext>
            </a:extLst>
          </p:cNvPr>
          <p:cNvSpPr>
            <a:spLocks noGrp="1"/>
          </p:cNvSpPr>
          <p:nvPr>
            <p:ph type="title"/>
          </p:nvPr>
        </p:nvSpPr>
        <p:spPr/>
        <p:txBody>
          <a:bodyPr/>
          <a:lstStyle/>
          <a:p>
            <a:r>
              <a:rPr lang="en-US" dirty="0"/>
              <a:t>Interactivity</a:t>
            </a:r>
          </a:p>
        </p:txBody>
      </p:sp>
      <p:sp>
        <p:nvSpPr>
          <p:cNvPr id="3" name="Content Placeholder 2">
            <a:extLst>
              <a:ext uri="{FF2B5EF4-FFF2-40B4-BE49-F238E27FC236}">
                <a16:creationId xmlns:a16="http://schemas.microsoft.com/office/drawing/2014/main" id="{DB232A12-2315-4792-B862-0CAF7466193A}"/>
              </a:ext>
            </a:extLst>
          </p:cNvPr>
          <p:cNvSpPr>
            <a:spLocks noGrp="1"/>
          </p:cNvSpPr>
          <p:nvPr>
            <p:ph idx="1"/>
          </p:nvPr>
        </p:nvSpPr>
        <p:spPr/>
        <p:txBody>
          <a:bodyPr/>
          <a:lstStyle/>
          <a:p>
            <a:r>
              <a:rPr lang="en-US" dirty="0"/>
              <a:t>Highlight key parts of the code and explain the logic behind them.</a:t>
            </a:r>
          </a:p>
          <a:p>
            <a:r>
              <a:rPr lang="en-US" dirty="0"/>
              <a:t>Use visualizations (e.g., plots, tables) to make results easy to understand.</a:t>
            </a:r>
          </a:p>
        </p:txBody>
      </p:sp>
      <p:sp>
        <p:nvSpPr>
          <p:cNvPr id="4" name="Slide Number Placeholder 3">
            <a:extLst>
              <a:ext uri="{FF2B5EF4-FFF2-40B4-BE49-F238E27FC236}">
                <a16:creationId xmlns:a16="http://schemas.microsoft.com/office/drawing/2014/main" id="{4316D897-CA62-41B6-BE7A-EDD415538083}"/>
              </a:ext>
            </a:extLst>
          </p:cNvPr>
          <p:cNvSpPr>
            <a:spLocks noGrp="1"/>
          </p:cNvSpPr>
          <p:nvPr>
            <p:ph type="sldNum" sz="quarter" idx="12"/>
          </p:nvPr>
        </p:nvSpPr>
        <p:spPr/>
        <p:txBody>
          <a:bodyPr/>
          <a:lstStyle/>
          <a:p>
            <a:fld id="{0A5CBF63-613C-4E8E-B1A0-D710C5F27341}" type="slidenum">
              <a:rPr lang="en-US" smtClean="0"/>
              <a:t>17</a:t>
            </a:fld>
            <a:endParaRPr lang="en-US"/>
          </a:p>
        </p:txBody>
      </p:sp>
    </p:spTree>
    <p:extLst>
      <p:ext uri="{BB962C8B-B14F-4D97-AF65-F5344CB8AC3E}">
        <p14:creationId xmlns:p14="http://schemas.microsoft.com/office/powerpoint/2010/main" val="15414642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701BC-BD78-4D46-984E-7210A7D2AB83}"/>
              </a:ext>
            </a:extLst>
          </p:cNvPr>
          <p:cNvSpPr>
            <a:spLocks noGrp="1"/>
          </p:cNvSpPr>
          <p:nvPr>
            <p:ph type="title"/>
          </p:nvPr>
        </p:nvSpPr>
        <p:spPr/>
        <p:txBody>
          <a:bodyPr/>
          <a:lstStyle/>
          <a:p>
            <a:r>
              <a:rPr lang="en-US" dirty="0"/>
              <a:t>Tips for the Demo</a:t>
            </a:r>
          </a:p>
        </p:txBody>
      </p:sp>
      <p:sp>
        <p:nvSpPr>
          <p:cNvPr id="3" name="Content Placeholder 2">
            <a:extLst>
              <a:ext uri="{FF2B5EF4-FFF2-40B4-BE49-F238E27FC236}">
                <a16:creationId xmlns:a16="http://schemas.microsoft.com/office/drawing/2014/main" id="{DB232A12-2315-4792-B862-0CAF7466193A}"/>
              </a:ext>
            </a:extLst>
          </p:cNvPr>
          <p:cNvSpPr>
            <a:spLocks noGrp="1"/>
          </p:cNvSpPr>
          <p:nvPr>
            <p:ph idx="1"/>
          </p:nvPr>
        </p:nvSpPr>
        <p:spPr/>
        <p:txBody>
          <a:bodyPr>
            <a:normAutofit lnSpcReduction="10000"/>
          </a:bodyPr>
          <a:lstStyle/>
          <a:p>
            <a:r>
              <a:rPr lang="en-US" dirty="0"/>
              <a:t>Use concise and well-organized slides to complement the live demo.</a:t>
            </a:r>
          </a:p>
          <a:p>
            <a:r>
              <a:rPr lang="en-US" dirty="0"/>
              <a:t>Avoid technical jargon; explain concepts clearly for a general audience.</a:t>
            </a:r>
          </a:p>
          <a:p>
            <a:r>
              <a:rPr lang="en-US" dirty="0"/>
              <a:t>Test the demo environment multiple times to prevent unexpected issues.</a:t>
            </a:r>
          </a:p>
          <a:p>
            <a:r>
              <a:rPr lang="en-US" dirty="0"/>
              <a:t>Prepare backup screenshots or videos in case of technical difficulties.</a:t>
            </a:r>
          </a:p>
          <a:p>
            <a:r>
              <a:rPr lang="en-US" dirty="0"/>
              <a:t>Aim for a demo length of 5-10 minutes.</a:t>
            </a:r>
          </a:p>
          <a:p>
            <a:r>
              <a:rPr lang="en-US" dirty="0">
                <a:highlight>
                  <a:srgbClr val="FFFF00"/>
                </a:highlight>
              </a:rPr>
              <a:t>If the demo is longer than 9 minutes, record a video and play it at a faster speed while providing a live explanation to keep the audience engaged.</a:t>
            </a:r>
          </a:p>
          <a:p>
            <a:endParaRPr lang="en-US" dirty="0"/>
          </a:p>
        </p:txBody>
      </p:sp>
      <p:sp>
        <p:nvSpPr>
          <p:cNvPr id="4" name="Slide Number Placeholder 3">
            <a:extLst>
              <a:ext uri="{FF2B5EF4-FFF2-40B4-BE49-F238E27FC236}">
                <a16:creationId xmlns:a16="http://schemas.microsoft.com/office/drawing/2014/main" id="{4316D897-CA62-41B6-BE7A-EDD415538083}"/>
              </a:ext>
            </a:extLst>
          </p:cNvPr>
          <p:cNvSpPr>
            <a:spLocks noGrp="1"/>
          </p:cNvSpPr>
          <p:nvPr>
            <p:ph type="sldNum" sz="quarter" idx="12"/>
          </p:nvPr>
        </p:nvSpPr>
        <p:spPr/>
        <p:txBody>
          <a:bodyPr/>
          <a:lstStyle/>
          <a:p>
            <a:fld id="{0A5CBF63-613C-4E8E-B1A0-D710C5F27341}" type="slidenum">
              <a:rPr lang="en-US" smtClean="0"/>
              <a:t>18</a:t>
            </a:fld>
            <a:endParaRPr lang="en-US"/>
          </a:p>
        </p:txBody>
      </p:sp>
    </p:spTree>
    <p:extLst>
      <p:ext uri="{BB962C8B-B14F-4D97-AF65-F5344CB8AC3E}">
        <p14:creationId xmlns:p14="http://schemas.microsoft.com/office/powerpoint/2010/main" val="23891573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CBB2D-720D-4D76-9BB3-D242DCDD5E88}"/>
              </a:ext>
            </a:extLst>
          </p:cNvPr>
          <p:cNvSpPr>
            <a:spLocks noGrp="1"/>
          </p:cNvSpPr>
          <p:nvPr>
            <p:ph type="title"/>
          </p:nvPr>
        </p:nvSpPr>
        <p:spPr/>
        <p:txBody>
          <a:bodyPr/>
          <a:lstStyle/>
          <a:p>
            <a:r>
              <a:rPr lang="en-US" dirty="0"/>
              <a:t>Feedback</a:t>
            </a:r>
          </a:p>
        </p:txBody>
      </p:sp>
      <p:sp>
        <p:nvSpPr>
          <p:cNvPr id="3" name="Content Placeholder 2">
            <a:extLst>
              <a:ext uri="{FF2B5EF4-FFF2-40B4-BE49-F238E27FC236}">
                <a16:creationId xmlns:a16="http://schemas.microsoft.com/office/drawing/2014/main" id="{6CBC6E0D-8AA7-476E-890D-737388BF4D65}"/>
              </a:ext>
            </a:extLst>
          </p:cNvPr>
          <p:cNvSpPr>
            <a:spLocks noGrp="1"/>
          </p:cNvSpPr>
          <p:nvPr>
            <p:ph idx="1"/>
          </p:nvPr>
        </p:nvSpPr>
        <p:spPr/>
        <p:txBody>
          <a:bodyPr/>
          <a:lstStyle/>
          <a:p>
            <a:r>
              <a:rPr lang="en-US" dirty="0"/>
              <a:t>Feedback Reports  </a:t>
            </a:r>
          </a:p>
          <a:p>
            <a:pPr lvl="1"/>
            <a:r>
              <a:rPr lang="en-US" dirty="0"/>
              <a:t>Submit feedback reports for other groups’ presentations on the same day (maximum 500 words total for two presentations). The number of reports required will be announced at the beginning of each day.</a:t>
            </a:r>
          </a:p>
          <a:p>
            <a:pPr lvl="1"/>
            <a:r>
              <a:rPr lang="en-US" dirty="0"/>
              <a:t>Each feedback report is worth 10 points and will be counted toward the Project 2 Report. </a:t>
            </a:r>
          </a:p>
        </p:txBody>
      </p:sp>
      <p:sp>
        <p:nvSpPr>
          <p:cNvPr id="4" name="Slide Number Placeholder 3">
            <a:extLst>
              <a:ext uri="{FF2B5EF4-FFF2-40B4-BE49-F238E27FC236}">
                <a16:creationId xmlns:a16="http://schemas.microsoft.com/office/drawing/2014/main" id="{A93E8F82-2892-4964-8869-1F6F66D03324}"/>
              </a:ext>
            </a:extLst>
          </p:cNvPr>
          <p:cNvSpPr>
            <a:spLocks noGrp="1"/>
          </p:cNvSpPr>
          <p:nvPr>
            <p:ph type="sldNum" sz="quarter" idx="12"/>
          </p:nvPr>
        </p:nvSpPr>
        <p:spPr/>
        <p:txBody>
          <a:bodyPr/>
          <a:lstStyle/>
          <a:p>
            <a:fld id="{0A5CBF63-613C-4E8E-B1A0-D710C5F27341}" type="slidenum">
              <a:rPr lang="en-US" smtClean="0"/>
              <a:t>19</a:t>
            </a:fld>
            <a:endParaRPr lang="en-US"/>
          </a:p>
        </p:txBody>
      </p:sp>
    </p:spTree>
    <p:extLst>
      <p:ext uri="{BB962C8B-B14F-4D97-AF65-F5344CB8AC3E}">
        <p14:creationId xmlns:p14="http://schemas.microsoft.com/office/powerpoint/2010/main" val="26320660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37f4b8a2-ad4f-41b5-9a91-284d2cc38f56}" enabled="1" method="Standard" siteId="{70de1992-07c6-480f-a318-a1afcba03983}" contentBits="0" removed="0"/>
</clbl:labelList>
</file>

<file path=docProps/app.xml><?xml version="1.0" encoding="utf-8"?>
<Properties xmlns="http://schemas.openxmlformats.org/officeDocument/2006/extended-properties" xmlns:vt="http://schemas.openxmlformats.org/officeDocument/2006/docPropsVTypes">
  <TotalTime>1048</TotalTime>
  <Words>779</Words>
  <Application>Microsoft Office PowerPoint</Application>
  <PresentationFormat>Widescreen</PresentationFormat>
  <Paragraphs>103</Paragraphs>
  <Slides>19</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Times New Roman</vt:lpstr>
      <vt:lpstr>Office Theme</vt:lpstr>
      <vt:lpstr>Group #: Your Project Title</vt:lpstr>
      <vt:lpstr>Outline(Update Required)</vt:lpstr>
      <vt:lpstr>Recap of the Project 1 Proposal</vt:lpstr>
      <vt:lpstr>Recap of the Project 1 Proposal (cont. ) </vt:lpstr>
      <vt:lpstr>Feature Engineering Techniques</vt:lpstr>
      <vt:lpstr>Feature Engineering Techniques (cont. ) </vt:lpstr>
      <vt:lpstr>Machine Learning Models</vt:lpstr>
      <vt:lpstr>Machine Learning Models (cont. ) </vt:lpstr>
      <vt:lpstr>Results and Analysis</vt:lpstr>
      <vt:lpstr>Discussion</vt:lpstr>
      <vt:lpstr>Conclusion</vt:lpstr>
      <vt:lpstr>References</vt:lpstr>
      <vt:lpstr>End</vt:lpstr>
      <vt:lpstr>Additional Presentation Tips</vt:lpstr>
      <vt:lpstr>Part 2: Live Demo of Implementation: Setup</vt:lpstr>
      <vt:lpstr>Flow of the Demo</vt:lpstr>
      <vt:lpstr>Interactivity</vt:lpstr>
      <vt:lpstr>Tips for the Demo</vt:lpstr>
      <vt:lpstr>Feedback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Basics of Algorithm</dc:title>
  <dc:creator>Li, Yuan</dc:creator>
  <cp:lastModifiedBy>Li, Yuan</cp:lastModifiedBy>
  <cp:revision>116</cp:revision>
  <dcterms:created xsi:type="dcterms:W3CDTF">2023-05-20T16:26:16Z</dcterms:created>
  <dcterms:modified xsi:type="dcterms:W3CDTF">2026-04-07T16:32:38Z</dcterms:modified>
</cp:coreProperties>
</file>