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86" r:id="rId3"/>
    <p:sldId id="287" r:id="rId4"/>
    <p:sldId id="289" r:id="rId5"/>
    <p:sldId id="306" r:id="rId6"/>
    <p:sldId id="311" r:id="rId7"/>
    <p:sldId id="308" r:id="rId8"/>
    <p:sldId id="312" r:id="rId9"/>
    <p:sldId id="307" r:id="rId10"/>
    <p:sldId id="313" r:id="rId11"/>
    <p:sldId id="303" r:id="rId12"/>
    <p:sldId id="304" r:id="rId13"/>
    <p:sldId id="316" r:id="rId14"/>
    <p:sldId id="282" r:id="rId15"/>
    <p:sldId id="305" r:id="rId16"/>
    <p:sldId id="30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733" autoAdjust="0"/>
  </p:normalViewPr>
  <p:slideViewPr>
    <p:cSldViewPr snapToGrid="0">
      <p:cViewPr varScale="1">
        <p:scale>
          <a:sx n="85" d="100"/>
          <a:sy n="85" d="100"/>
        </p:scale>
        <p:origin x="15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FC4A6-2233-41AB-8127-C574819A526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788229-8701-402C-9EFE-92AF1B162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507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788229-8701-402C-9EFE-92AF1B162F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26928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B3929-88CC-4868-BDA1-59A64D43E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EDD6DB-1BB2-4E16-B0BB-E8BA2BDF6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AAA9F-B17D-4248-B8EB-71AC9B01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84CC-09F3-4E2A-95B7-B65ACAD094AB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E4DB2-5340-4576-BCE1-5BA586B91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9BF86-13B9-4063-95F2-A447FD8F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763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0DC55-17C7-4615-9218-FEA6C38F0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86033-9AEC-4DF1-8046-55049D40C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27086-09CC-4BBE-8A58-380366BA6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7BB36-3D62-4470-A97F-B676A5EA1684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1496C-4165-4039-BF78-B97DBB45D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23ECE-0D9F-4ACC-BE4A-8CECB4C21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9205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2D4B34-3710-42BD-B15F-29029DE5F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60566-4132-4228-A009-90DECD849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7AE5F-FB3D-4742-AE94-C679CACFFC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E40B3-AC35-4E45-9A9A-E84AA48B06BB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6C9F7-1EC6-4794-BDB8-448CC751A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2E5C9-B3A4-4B3E-A5F8-4D85104B0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5CBF63-613C-4E8E-B1A0-D710C5F2734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EF8106-F7B3-4DBF-8958-3A64985661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349932" y="217820"/>
            <a:ext cx="1623486" cy="74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68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A8C8D-DBE3-4D7B-B00C-C31FD9BFD9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3200" b="0">
                <a:solidFill>
                  <a:srgbClr val="000000"/>
                </a:solidFill>
              </a:rPr>
              <a:t>Group 18: Feature Engineering for Time-Series</a:t>
            </a:r>
            <a:endParaRPr lang="en-US" dirty="0"/>
          </a:p>
          <a:p>
            <a:pPr>
              <a:spcBef>
                <a:spcPts val="300"/>
              </a:spcBef>
            </a:pPr>
            <a:r>
              <a:rPr sz="2400" b="0">
                <a:solidFill>
                  <a:srgbClr val="444444"/>
                </a:solidFill>
              </a:rPr>
              <a:t>Hybrid, Automated, and Interpretable Approaches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13273-9DA4-4FF0-9144-1C123297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853E"/>
                </a:solidFill>
              </a:rPr>
              <a:t>CSCE 5222 Feature Engineering  |  Group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445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</a:rPr>
              <a:t>Ashish Rathnakar Shetty (ID: 11808466)  ·  Kushal Sai Venigalla (ID: 11852559)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09160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44444"/>
                </a:solidFill>
              </a:rPr>
              <a:t>Computer Science and Engineering Department  |  University of North Texas</a:t>
            </a:r>
          </a:p>
        </p:txBody>
      </p:sp>
    </p:spTree>
    <p:extLst>
      <p:ext uri="{BB962C8B-B14F-4D97-AF65-F5344CB8AC3E}">
        <p14:creationId xmlns:p14="http://schemas.microsoft.com/office/powerpoint/2010/main" val="359959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CDD47-8CBF-6243-545F-A26A2DA89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3600" b="0">
                <a:solidFill>
                  <a:srgbClr val="00853E"/>
                </a:solidFill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CA95-910C-E848-813D-47509317D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873"/>
            <a:ext cx="10515600" cy="5280602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sz="2200" b="1">
                <a:solidFill>
                  <a:srgbClr val="00853E"/>
                </a:solidFill>
              </a:rPr>
              <a:t>Part 1 — Presentation (1–3 min)</a:t>
            </a:r>
          </a:p>
          <a:p>
            <a:pPr lvl="1">
              <a:spcBef>
                <a:spcPts val="300"/>
              </a:spcBef>
            </a:pPr>
            <a:r>
              <a:rPr sz="1900" b="0">
                <a:solidFill>
                  <a:srgbClr val="000000"/>
                </a:solidFill>
              </a:rPr>
              <a:t>Recap of Project 1 Proposal</a:t>
            </a:r>
          </a:p>
          <a:p>
            <a:pPr lvl="1">
              <a:spcBef>
                <a:spcPts val="300"/>
              </a:spcBef>
            </a:pPr>
            <a:r>
              <a:rPr sz="1900" b="0">
                <a:solidFill>
                  <a:srgbClr val="000000"/>
                </a:solidFill>
              </a:rPr>
              <a:t>Feature Engineering Techniques Implemented</a:t>
            </a:r>
          </a:p>
          <a:p>
            <a:pPr lvl="1">
              <a:spcBef>
                <a:spcPts val="300"/>
              </a:spcBef>
            </a:pPr>
            <a:r>
              <a:rPr sz="1900" b="0">
                <a:solidFill>
                  <a:srgbClr val="000000"/>
                </a:solidFill>
              </a:rPr>
              <a:t>Machine Learning Models and Baselines</a:t>
            </a:r>
          </a:p>
          <a:p>
            <a:pPr lvl="1">
              <a:spcBef>
                <a:spcPts val="300"/>
              </a:spcBef>
            </a:pPr>
            <a:r>
              <a:rPr sz="1900" b="0">
                <a:solidFill>
                  <a:srgbClr val="000000"/>
                </a:solidFill>
              </a:rPr>
              <a:t>Results and Analysis</a:t>
            </a:r>
          </a:p>
          <a:p>
            <a:pPr lvl="1">
              <a:spcBef>
                <a:spcPts val="300"/>
              </a:spcBef>
            </a:pPr>
            <a:r>
              <a:rPr sz="1900" b="0">
                <a:solidFill>
                  <a:srgbClr val="000000"/>
                </a:solidFill>
              </a:rPr>
              <a:t>Discussion and Conclusion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0853E"/>
                </a:solidFill>
              </a:rPr>
              <a:t>Part 2 — Live Demo (3–13 min)</a:t>
            </a:r>
          </a:p>
          <a:p>
            <a:pPr lvl="1">
              <a:spcBef>
                <a:spcPts val="300"/>
              </a:spcBef>
            </a:pPr>
            <a:r>
              <a:rPr sz="1900" b="0">
                <a:solidFill>
                  <a:srgbClr val="000000"/>
                </a:solidFill>
              </a:rPr>
              <a:t>Dataset exploration and preprocessing walkthrough</a:t>
            </a:r>
          </a:p>
          <a:p>
            <a:pPr lvl="1">
              <a:spcBef>
                <a:spcPts val="300"/>
              </a:spcBef>
            </a:pPr>
            <a:r>
              <a:rPr sz="1900" b="0">
                <a:solidFill>
                  <a:srgbClr val="000000"/>
                </a:solidFill>
              </a:rPr>
              <a:t>Live feature extraction and SHAP pruning demo</a:t>
            </a:r>
          </a:p>
          <a:p>
            <a:pPr lvl="1">
              <a:spcBef>
                <a:spcPts val="300"/>
              </a:spcBef>
            </a:pPr>
            <a:r>
              <a:rPr sz="1900" b="0">
                <a:solidFill>
                  <a:srgbClr val="000000"/>
                </a:solidFill>
              </a:rPr>
              <a:t>Model evaluation: before vs. after feature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B6EA8-E3F4-F65D-84A1-F02E9B02D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444752"/>
            <a:ext cx="12188952" cy="50292"/>
          </a:xfrm>
          <a:prstGeom prst="rect">
            <a:avLst/>
          </a:prstGeom>
          <a:solidFill>
            <a:srgbClr val="00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4173215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78BF8-83E2-B2A4-2068-DF5A7CC02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3400" b="0">
                <a:solidFill>
                  <a:srgbClr val="00853E"/>
                </a:solidFill>
              </a:rPr>
              <a:t>Recap of Project 1 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C1F33-7B7E-9D90-EF13-666DE0999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1900" b="0">
                <a:solidFill>
                  <a:srgbClr val="000000"/>
                </a:solidFill>
              </a:rPr>
              <a:t>Problem: Extracting meaningful features from time-series is a bottleneck in ML pipelines.</a:t>
            </a:r>
          </a:p>
          <a:p>
            <a:pPr>
              <a:spcBef>
                <a:spcPts val="300"/>
              </a:spcBef>
            </a:pPr>
            <a:r>
              <a:rPr sz="1900" b="0">
                <a:solidFill>
                  <a:srgbClr val="000000"/>
                </a:solidFill>
              </a:rPr>
              <a:t>Motivation: Deep learning is powerful but computationally expensive and hard to interpret.</a:t>
            </a:r>
          </a:p>
          <a:p>
            <a:pPr>
              <a:spcBef>
                <a:spcPts val="300"/>
              </a:spcBef>
            </a:pPr>
            <a:r>
              <a:rPr sz="1900" b="0">
                <a:solidFill>
                  <a:srgbClr val="000000"/>
                </a:solidFill>
              </a:rPr>
              <a:t>We proposed a unified framework combining hybrid, automated, and explainable feature engineering.</a:t>
            </a:r>
          </a:p>
          <a:p>
            <a:pPr>
              <a:spcBef>
                <a:spcPts val="300"/>
              </a:spcBef>
            </a:pPr>
            <a:r>
              <a:rPr sz="1900" b="0">
                <a:solidFill>
                  <a:srgbClr val="000000"/>
                </a:solidFill>
              </a:rPr>
              <a:t>5 papers surveyed (2024–2025): COCALITE, SPLiT, PPG Anomaly, Lag Features, AutoFE-XAI.</a:t>
            </a:r>
          </a:p>
          <a:p>
            <a:pPr>
              <a:spcBef>
                <a:spcPts val="300"/>
              </a:spcBef>
            </a:pPr>
            <a:r>
              <a:rPr sz="1900" b="0">
                <a:solidFill>
                  <a:srgbClr val="000000"/>
                </a:solidFill>
              </a:rPr>
              <a:t>3 datasets: UCR Archive (classification), ETTh1 (forecasting), WESAD-like (anomaly detection).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00853E"/>
                </a:solidFill>
              </a:rPr>
              <a:t>Phase 1 Feedback Addressed: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Added Group Number 18 to all submissions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Separated evaluations clearly by task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Defined explicit baselines for each task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Completed the methodology flowchart (was incomplete in Phase 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0E182-E09F-C7DA-E140-4ABF72CCF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t>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444752"/>
            <a:ext cx="12188952" cy="50292"/>
          </a:xfrm>
          <a:prstGeom prst="rect">
            <a:avLst/>
          </a:prstGeom>
          <a:solidFill>
            <a:srgbClr val="00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70628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78BF8-83E2-B2A4-2068-DF5A7CC02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3600" b="0">
                <a:solidFill>
                  <a:srgbClr val="00853E"/>
                </a:solidFill>
              </a:rPr>
              <a:t>Datasets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C1F33-7B7E-9D90-EF13-666DE0999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2100" b="1">
                <a:solidFill>
                  <a:srgbClr val="00853E"/>
                </a:solidFill>
              </a:rPr>
              <a:t>UCR Time Series Archive — Classification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5 datasets: GunPoint, ECG200, ItalyPowerDemand, SyntheticControl, TwoLeadECG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Covers motion, medical, energy, and synthetic domains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0853E"/>
                </a:solidFill>
              </a:rPr>
              <a:t>ETTh1 (Electricity Transformer Temperature) — Forecasting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17,420 hourly readings of 7 variables; target: Oil Temperature (OT)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Real-world multivariate industrial benchmark dataset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0853E"/>
                </a:solidFill>
              </a:rPr>
              <a:t>WESAD-like PPG Signal — Anomaly Detection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Simulated blood volume pulse (BVP) signal with injected anomalies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Anomaly types: amplitude spikes, flatlines, high-noise segments (~16% anomaly rate)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0E182-E09F-C7DA-E140-4ABF72CCF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444752"/>
            <a:ext cx="12188952" cy="50292"/>
          </a:xfrm>
          <a:prstGeom prst="rect">
            <a:avLst/>
          </a:prstGeom>
          <a:solidFill>
            <a:srgbClr val="00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048907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9164E-84E8-4FB2-8051-CB230F6D9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3400" b="0">
                <a:solidFill>
                  <a:srgbClr val="00853E"/>
                </a:solidFill>
              </a:rPr>
              <a:t>Feature Engineering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B13FA-5386-4E73-BB44-9A898AA7B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2100" b="1">
                <a:solidFill>
                  <a:srgbClr val="00853E"/>
                </a:solidFill>
              </a:rPr>
              <a:t>1.  Catch22 — 22 canonical time-series features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Autocorrelation, entropy, Hurst exponent, spectral features — implemented in pure NumPy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0853E"/>
                </a:solidFill>
              </a:rPr>
              <a:t>2.  Lag + Rolling Statistics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Lag features (t-1 to t-24) + rolling mean, std, min, max over windows of 3, 6, 12, 24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0853E"/>
                </a:solidFill>
              </a:rPr>
              <a:t>3.  Self-Supervised MLP Embeddings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MLP trained to predict x[t] from x[t-24:t]; hidden layer activations = learned features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0853E"/>
                </a:solidFill>
              </a:rPr>
              <a:t>4.  SHAP-Guided Feature Pruning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LightGBM proxy → compute mean |SHAP| → keep top 55–60% of features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XAI actively guides modeling decisions — not just post-hoc reporting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2CC70-E94D-443E-911C-FC4AEB22D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444752"/>
            <a:ext cx="12188952" cy="50292"/>
          </a:xfrm>
          <a:prstGeom prst="rect">
            <a:avLst/>
          </a:prstGeom>
          <a:solidFill>
            <a:srgbClr val="00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371360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78BF8-83E2-B2A4-2068-DF5A7CC02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3600" b="0">
                <a:solidFill>
                  <a:srgbClr val="00853E"/>
                </a:solidFill>
              </a:rPr>
              <a:t>Methodology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C1F33-7B7E-9D90-EF13-666DE0999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0E182-E09F-C7DA-E140-4ABF72CCF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t>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444752"/>
            <a:ext cx="12188952" cy="50292"/>
          </a:xfrm>
          <a:prstGeom prst="rect">
            <a:avLst/>
          </a:prstGeom>
          <a:solidFill>
            <a:srgbClr val="00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11_pipelin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092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9164E-84E8-4FB2-8051-CB230F6D9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3000" b="0">
                <a:solidFill>
                  <a:srgbClr val="00853E"/>
                </a:solidFill>
              </a:rPr>
              <a:t>Machine Learning Models and Baselines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B13FA-5386-4E73-BB44-9A898AA7B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2100" b="1">
                <a:solidFill>
                  <a:srgbClr val="00853E"/>
                </a:solidFill>
              </a:rPr>
              <a:t>Classification Task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Baseline: LightGBM on raw time-series (first 50 time steps)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Proposed: LightGBM on Catch22 → SHAP-pruned  |  Metrics: Accuracy, F1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0853E"/>
                </a:solidFill>
              </a:rPr>
              <a:t>Forecasting Task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Baseline: Ridge Regression on lag-1 feature only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Proposed: LightGBM on Lag+Rolling+Embeddings → SHAP pruned  |  Metrics: MSE, MAE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0853E"/>
                </a:solidFill>
              </a:rPr>
              <a:t>Anomaly Detection Task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Baseline: Isolation Forest on raw 50-sample windows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Proposed: Isolation Forest on Catch22 → SHAP-selected  |  Metrics: F1, AUC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2CC70-E94D-443E-911C-FC4AEB22D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444752"/>
            <a:ext cx="12188952" cy="50292"/>
          </a:xfrm>
          <a:prstGeom prst="rect">
            <a:avLst/>
          </a:prstGeom>
          <a:solidFill>
            <a:srgbClr val="00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01148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78BF8-83E2-B2A4-2068-DF5A7CC02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3000" b="0">
                <a:solidFill>
                  <a:srgbClr val="00853E"/>
                </a:solidFill>
              </a:rPr>
              <a:t>Results: Classification (UCR Datasets)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C1F33-7B7E-9D90-EF13-666DE0999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0E182-E09F-C7DA-E140-4ABF72CCF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444752"/>
            <a:ext cx="12188952" cy="50292"/>
          </a:xfrm>
          <a:prstGeom prst="rect">
            <a:avLst/>
          </a:prstGeom>
          <a:solidFill>
            <a:srgbClr val="00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1_classification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77724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853E"/>
                </a:solidFill>
              </a:rPr>
              <a:t>Key Findings: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103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• SyntheticControl: Catch22 +6.3%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560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• GunPoint: Catch22 +6.0%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0175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• ItalyPowerDemand: Raw wins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474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• (local shape patterns matter)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931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• SHAP pruning: 9/22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389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• removed, zero accuracy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846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• TwoLeadECG: tied (23 train samples)</a:t>
            </a:r>
          </a:p>
        </p:txBody>
      </p:sp>
    </p:spTree>
    <p:extLst>
      <p:ext uri="{BB962C8B-B14F-4D97-AF65-F5344CB8AC3E}">
        <p14:creationId xmlns:p14="http://schemas.microsoft.com/office/powerpoint/2010/main" val="598093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9164E-84E8-4FB2-8051-CB230F6D9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2800" b="0">
                <a:solidFill>
                  <a:srgbClr val="00853E"/>
                </a:solidFill>
              </a:rPr>
              <a:t>SHAP Feature Importance — GunPoint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B13FA-5386-4E73-BB44-9A898AA7B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2CC70-E94D-443E-911C-FC4AEB22D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444752"/>
            <a:ext cx="12188952" cy="50292"/>
          </a:xfrm>
          <a:prstGeom prst="rect">
            <a:avLst/>
          </a:prstGeom>
          <a:solidFill>
            <a:srgbClr val="00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3_shap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685800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853E"/>
                </a:solidFill>
              </a:rPr>
              <a:t>How SHAP Guides Decisions: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Top: acf_lag1, diff_variance,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50545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hurst, acf_lag2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90779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853E"/>
                </a:solidFill>
              </a:rPr>
              <a:t>→ temporal dependence &amp; roughness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33101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712463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Pruned: hist_entropy, peak_freq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853E"/>
                </a:solidFill>
              </a:rPr>
              <a:t>→ removed without accuracy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451713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9194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22 → 13 features (40% reduction)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53218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XAI as a design tool,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572414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not just post-hoc reporting</a:t>
            </a:r>
          </a:p>
        </p:txBody>
      </p:sp>
    </p:spTree>
    <p:extLst>
      <p:ext uri="{BB962C8B-B14F-4D97-AF65-F5344CB8AC3E}">
        <p14:creationId xmlns:p14="http://schemas.microsoft.com/office/powerpoint/2010/main" val="1927000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24CBC-2808-4E23-80B2-9E171CC29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2800" b="0">
                <a:solidFill>
                  <a:srgbClr val="00853E"/>
                </a:solidFill>
              </a:rPr>
              <a:t>Results: Forecasting (ETTh1 — Oil Temperature)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42E1A-E850-4E77-ADD8-475691D00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1D03B-ED1B-4F5E-B67B-27646B683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444752"/>
            <a:ext cx="12188952" cy="50292"/>
          </a:xfrm>
          <a:prstGeom prst="rect">
            <a:avLst/>
          </a:prstGeom>
          <a:solidFill>
            <a:srgbClr val="00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4_forecasting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7132320" cy="2743200"/>
          </a:xfrm>
          <a:prstGeom prst="rect">
            <a:avLst/>
          </a:prstGeom>
        </p:spPr>
      </p:pic>
      <p:pic>
        <p:nvPicPr>
          <p:cNvPr id="7" name="Picture 6" descr="fig5_forecast_vs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389120"/>
            <a:ext cx="713232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6459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853E"/>
                </a:solidFill>
              </a:rPr>
              <a:t>Key Results: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1031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Raw (lag-1):     MSE = 1.285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5603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53E"/>
                </a:solidFill>
              </a:rPr>
              <a:t>Lag+Rolling:     MSE = 0.228  (−82%)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0175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+ Embeddings:    MSE = 0.337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4747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53E"/>
                </a:solidFill>
              </a:rPr>
              <a:t>+ SHAP Prune:    MSE = 0.230  (−82%)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9319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3891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SHAP removed 12/28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8463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with no MSE increase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53035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Self-supervised embeddings did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7607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not outperform explicit statistics</a:t>
            </a:r>
          </a:p>
        </p:txBody>
      </p:sp>
    </p:spTree>
    <p:extLst>
      <p:ext uri="{BB962C8B-B14F-4D97-AF65-F5344CB8AC3E}">
        <p14:creationId xmlns:p14="http://schemas.microsoft.com/office/powerpoint/2010/main" val="3829512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0A557-ABC3-498E-8D75-559103014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2800" b="0">
                <a:solidFill>
                  <a:srgbClr val="00853E"/>
                </a:solidFill>
              </a:rPr>
              <a:t>Results: Anomaly Detection (WESAD-like PPG)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B6EC8-1378-436A-8E54-41C41CE22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15013-5B10-4E1F-8C90-F488589DE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444752"/>
            <a:ext cx="12188952" cy="50292"/>
          </a:xfrm>
          <a:prstGeom prst="rect">
            <a:avLst/>
          </a:prstGeom>
          <a:solidFill>
            <a:srgbClr val="00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6_anomaly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7772400" cy="2286000"/>
          </a:xfrm>
          <a:prstGeom prst="rect">
            <a:avLst/>
          </a:prstGeom>
        </p:spPr>
      </p:pic>
      <p:pic>
        <p:nvPicPr>
          <p:cNvPr id="7" name="Picture 6" descr="fig7_anomaly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931920"/>
            <a:ext cx="7772400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853E"/>
                </a:solidFill>
              </a:rPr>
              <a:t>Key Results: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103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Raw Windows:   F1 = 0.871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560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Catch22 Only:  F1 = 0.581 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175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53E"/>
                </a:solidFill>
              </a:rPr>
              <a:t>Catch22+SHAP:  F1 = 0.710 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474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931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</a:rPr>
              <a:t>Why Catch22 hurt: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389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Amplitude normalization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846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masks spike anomalies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53035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SHAP selected diff_variance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760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&amp; time_reversibility 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6217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recover F1 score</a:t>
            </a:r>
          </a:p>
        </p:txBody>
      </p:sp>
    </p:spTree>
    <p:extLst>
      <p:ext uri="{BB962C8B-B14F-4D97-AF65-F5344CB8AC3E}">
        <p14:creationId xmlns:p14="http://schemas.microsoft.com/office/powerpoint/2010/main" val="2724364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09994-B480-4FAC-AC64-328DC51C1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3200" b="0">
                <a:solidFill>
                  <a:srgbClr val="00853E"/>
                </a:solidFill>
              </a:rPr>
              <a:t>Results Summary and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3D05C-2E96-4D9F-A497-D4E5DF41C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78E31-C4A1-457D-8329-E48C46A06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444752"/>
            <a:ext cx="12188952" cy="50292"/>
          </a:xfrm>
          <a:prstGeom prst="rect">
            <a:avLst/>
          </a:prstGeom>
          <a:solidFill>
            <a:srgbClr val="00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12_summar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6858000" cy="3291840"/>
          </a:xfrm>
          <a:prstGeom prst="rect">
            <a:avLst/>
          </a:prstGeom>
        </p:spPr>
      </p:pic>
      <p:pic>
        <p:nvPicPr>
          <p:cNvPr id="7" name="Picture 6" descr="fig9_pca_pro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554480"/>
            <a:ext cx="4572000" cy="3291840"/>
          </a:xfrm>
          <a:prstGeom prst="rect">
            <a:avLst/>
          </a:prstGeom>
        </p:spPr>
      </p:pic>
      <p:pic>
        <p:nvPicPr>
          <p:cNvPr id="8" name="Picture 7" descr="fig8_feature_corre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937760"/>
            <a:ext cx="5029200" cy="1737360"/>
          </a:xfrm>
          <a:prstGeom prst="rect">
            <a:avLst/>
          </a:prstGeom>
        </p:spPr>
      </p:pic>
      <p:pic>
        <p:nvPicPr>
          <p:cNvPr id="9" name="Picture 8" descr="fig10_forecasting_sh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4937760"/>
            <a:ext cx="6400800" cy="173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572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B94B9-376A-4457-BFB2-B85BAEC19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3600" b="0">
                <a:solidFill>
                  <a:srgbClr val="00853E"/>
                </a:solidFill>
              </a:rPr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89926-2F28-4261-98C7-EBEE37734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2100" b="1">
                <a:solidFill>
                  <a:srgbClr val="00853E"/>
                </a:solidFill>
              </a:rPr>
              <a:t>When Catch22 Works Best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Datasets where global statistics are discriminative (SyntheticControl, GunPoint)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Compresses 150+ time steps into 22 interpretable features efficiently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0853E"/>
                </a:solidFill>
              </a:rPr>
              <a:t>When Raw Features Win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ItalyPowerDemand: class defined by a sharp drop at a specific timestamp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Catch22 averages out local patterns — global features miss local timing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0853E"/>
                </a:solidFill>
              </a:rPr>
              <a:t>SHAP as an Active Design Tool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Reduced feature space by 40–45% across all three tasks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Faster inference, lower memory, more interpretable — critical for edge deployment</a:t>
            </a:r>
          </a:p>
          <a:p>
            <a:pPr>
              <a:spcBef>
                <a:spcPts val="300"/>
              </a:spcBef>
            </a:pPr>
            <a:r>
              <a:rPr sz="1800" b="0">
                <a:solidFill>
                  <a:srgbClr val="444444"/>
                </a:solidFill>
              </a:rPr>
              <a:t>Challenges: WESAD-like data is simulated; real wearable data may differ significantly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9EFFA-09BB-4BC2-8A9B-647310BD2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t>13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444752"/>
            <a:ext cx="12188952" cy="50292"/>
          </a:xfrm>
          <a:prstGeom prst="rect">
            <a:avLst/>
          </a:prstGeom>
          <a:solidFill>
            <a:srgbClr val="00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531875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E5E19-0F1B-45B3-ADAB-278B33B9F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3400" b="0">
                <a:solidFill>
                  <a:srgbClr val="00853E"/>
                </a:solidFill>
              </a:rPr>
              <a:t>Conclusion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007F2-EDE5-45A3-84D8-561E4C805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Bef>
                <a:spcPts val="300"/>
              </a:spcBef>
            </a:pPr>
            <a:r>
              <a:rPr sz="2100" b="1">
                <a:solidFill>
                  <a:srgbClr val="00853E"/>
                </a:solidFill>
              </a:rPr>
              <a:t>Key Conclusions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Catch22 + LightGBM matches deep learning accuracy at a fraction of the cost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Lag + Rolling Statistics are the strongest forecasting features (MSE −82%)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SHAP-guided pruning reliably reduces dimensionality with zero accuracy loss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Cross-domain generalization is limited when local timing is the discriminant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0853E"/>
                </a:solidFill>
              </a:rPr>
              <a:t>Future Work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LLM-assisted feature suggestion: use LLMs to propose domain-specific features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Edge device deployment: ultra-lightweight Catch22 for real-time IoT sensors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Validate on real WESAD wearable stress dataset (requires institutional access)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000000"/>
                </a:solidFill>
              </a:rPr>
              <a:t>XAI-first AutoML: make SHAP a primary optimization objective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32A74-275B-4B17-269E-020951C91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444752"/>
            <a:ext cx="12188952" cy="50292"/>
          </a:xfrm>
          <a:prstGeom prst="rect">
            <a:avLst/>
          </a:prstGeom>
          <a:solidFill>
            <a:srgbClr val="00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06403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5D4AE-EA2E-43C3-A019-FC0268A96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3600" b="0">
                <a:solidFill>
                  <a:srgbClr val="00853E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64FDE-E427-493D-B7AE-9CAB3A3A6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</a:rPr>
              <a:t>[1] H. Badi, G. Forestier, and J. Weber, "COCALITE: A Hybrid Approach for Time Series Classification Using Catch22 and LITE," in 2024 IEEE BigData, pp. 5234–5243.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</a:rPr>
              <a:t>[2] M. D'Aversa, F. Giannini, and M. Scardapane, "SPLiT: Spatio-Temporal Linear Model Trees for Multi-Step Time Series Forecasting," in 2024 IEEE BigData, pp. 3412–3421.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</a:rPr>
              <a:t>[3] L. Valerio, A. Passarella, and M. Conti, "Unsupervised Anomaly Detection in Wearable PPG Data via Catch22 Features," in 2024 IEEE SENSORS, pp. 1–4.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</a:rPr>
              <a:t>[4] T. Okadome and J. Nakamura, "Lag Operation for Sub-Groups in Multidimensional Time Series," IEEE Access, vol. 12, pp. 15432–15445, 2024.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</a:rPr>
              <a:t>[5] O. Petrosian, D. Wang, and S. Li, "AutoFE-XAI: Automated Feature Engineering with Explainable AI for Time Series Forecasting," IEEE Access, vol. 13, pp. 2109–2120, 2025.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</a:rPr>
              <a:t>[6] C. H. Lubba et al., "catch22: CAnonical Time-series CHaracteristics," Data Mining and Knowledge Discovery, vol. 33, no. 6, pp. 1821–1852, 2019.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A178F-5455-4170-89B7-7CE2A5714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444752"/>
            <a:ext cx="12188952" cy="50292"/>
          </a:xfrm>
          <a:prstGeom prst="rect">
            <a:avLst/>
          </a:prstGeom>
          <a:solidFill>
            <a:srgbClr val="00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585712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2B1D4-76FB-0746-5479-EC3D509DC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Bef>
                <a:spcPts val="300"/>
              </a:spcBef>
            </a:pPr>
            <a:r>
              <a:rPr sz="4800" b="0">
                <a:solidFill>
                  <a:srgbClr val="00853E"/>
                </a:solidFill>
              </a:rPr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B7B23-539B-B766-3F7F-C8755A8C5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Exploration: Briefly show the raw dataset and preprocessing steps.</a:t>
            </a:r>
          </a:p>
          <a:p>
            <a:r>
              <a:rPr lang="en-US" dirty="0"/>
              <a:t>Feature Engineering: Demonstrate the implementation of one or two feature engineering techniques. Include live code execution or pre-recorded segments for computationally intensive steps.</a:t>
            </a:r>
          </a:p>
          <a:p>
            <a:r>
              <a:rPr lang="en-US" dirty="0"/>
              <a:t>Model Evaluation: Run the models and display metrics or visualizations comparing results before and after feature engineering.</a:t>
            </a:r>
          </a:p>
          <a:p>
            <a:r>
              <a:rPr lang="en-US" dirty="0"/>
              <a:t>Automated Feature Engineering: If applicable, demonstrate the use of </a:t>
            </a:r>
            <a:r>
              <a:rPr lang="en-US" dirty="0" err="1"/>
              <a:t>AutoFE</a:t>
            </a:r>
            <a:r>
              <a:rPr lang="en-US" dirty="0"/>
              <a:t> tools and compare results.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D41AE-78B7-7DB6-D5FA-75A613ABD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5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444444"/>
                </a:solidFill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Ashish Rathnakar Shetty  ·  ashishrathnakarshetty@unt.edu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Kushal Sai Venigalla  ·  KushalSaiVenigalla@unt.edu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434840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53E"/>
                </a:solidFill>
              </a:rPr>
              <a:t>GitHub: github.com/Ash-projects-personal/CSCE5222-Group18-FeatureEngineering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93776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44444"/>
                </a:solidFill>
              </a:rPr>
              <a:t>CSCE 5222 Feature Engineering  |  Group 18  |  University of North Texas</a:t>
            </a:r>
          </a:p>
        </p:txBody>
      </p:sp>
    </p:spTree>
    <p:extLst>
      <p:ext uri="{BB962C8B-B14F-4D97-AF65-F5344CB8AC3E}">
        <p14:creationId xmlns:p14="http://schemas.microsoft.com/office/powerpoint/2010/main" val="2343359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701BC-BD78-4D46-984E-7210A7D2A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32A12-2315-4792-B862-0CAF74661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6D897-CA62-41B6-BE7A-EDD41553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464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701BC-BD78-4D46-984E-7210A7D2A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32A12-2315-4792-B862-0CAF74661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6D897-CA62-41B6-BE7A-EDD41553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157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CBB2D-720D-4D76-9BB3-D242DCDD5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C6E0D-8AA7-476E-890D-737388BF4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E8F82-2892-4964-8869-1F6F66D03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66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1048</TotalTime>
  <Words>779</Words>
  <Application>Microsoft Office PowerPoint</Application>
  <PresentationFormat>Widescreen</PresentationFormat>
  <Paragraphs>103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Group #: Your Project Title</vt:lpstr>
      <vt:lpstr>Outline(Update Required)</vt:lpstr>
      <vt:lpstr>Recap of the Project 1 Proposal</vt:lpstr>
      <vt:lpstr>Recap of the Project 1 Proposal (cont. ) </vt:lpstr>
      <vt:lpstr>Feature Engineering Techniques</vt:lpstr>
      <vt:lpstr>Feature Engineering Techniques (cont. ) </vt:lpstr>
      <vt:lpstr>Machine Learning Models</vt:lpstr>
      <vt:lpstr>Machine Learning Models (cont. ) </vt:lpstr>
      <vt:lpstr>Results and Analysis</vt:lpstr>
      <vt:lpstr>Discussion</vt:lpstr>
      <vt:lpstr>Conclusion</vt:lpstr>
      <vt:lpstr>References</vt:lpstr>
      <vt:lpstr>End</vt:lpstr>
      <vt:lpstr>Additional Presentation Tips</vt:lpstr>
      <vt:lpstr>Part 2: Live Demo of Implementation: Setup</vt:lpstr>
      <vt:lpstr>Flow of the Demo</vt:lpstr>
      <vt:lpstr>Interactivity</vt:lpstr>
      <vt:lpstr>Tips for the Demo</vt:lpstr>
      <vt:lpstr>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Basics of Algorithm</dc:title>
  <dc:creator>Li, Yuan</dc:creator>
  <cp:lastModifiedBy>Li, Yuan</cp:lastModifiedBy>
  <cp:revision>116</cp:revision>
  <dcterms:created xsi:type="dcterms:W3CDTF">2023-05-20T16:26:16Z</dcterms:created>
  <dcterms:modified xsi:type="dcterms:W3CDTF">2026-04-07T16:32:38Z</dcterms:modified>
</cp:coreProperties>
</file>