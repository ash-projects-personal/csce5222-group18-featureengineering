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1"/>
  </p:notesMasterIdLst>
  <p:sldIdLst>
    <p:sldId id="256" r:id="rId2"/>
    <p:sldId id="286" r:id="rId3"/>
    <p:sldId id="287" r:id="rId4"/>
    <p:sldId id="289" r:id="rId5"/>
    <p:sldId id="306" r:id="rId6"/>
    <p:sldId id="311" r:id="rId7"/>
    <p:sldId id="308" r:id="rId8"/>
    <p:sldId id="312" r:id="rId9"/>
    <p:sldId id="307" r:id="rId10"/>
    <p:sldId id="313" r:id="rId11"/>
    <p:sldId id="303" r:id="rId12"/>
    <p:sldId id="304" r:id="rId13"/>
    <p:sldId id="316" r:id="rId14"/>
    <p:sldId id="318" r:id="rId26"/>
    <p:sldId id="319" r:id="rId27"/>
    <p:sldId id="320" r:id="rId2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6733" autoAdjust="0"/>
  </p:normalViewPr>
  <p:slideViewPr>
    <p:cSldViewPr snapToGrid="0">
      <p:cViewPr varScale="1">
        <p:scale>
          <a:sx n="85" d="100"/>
          <a:sy n="85" d="100"/>
        </p:scale>
        <p:origin x="1554" y="78"/>
      </p:cViewPr>
      <p:guideLst/>
    </p:cSldViewPr>
  </p:slid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99FC4A6-2233-41AB-8127-C574819A5260}" type="datetimeFigureOut">
              <a:rPr lang="en-US" smtClean="0"/>
              <a:t>4/7/2026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4788229-8701-402C-9EFE-92AF1B162F60}" type="slidenum">
              <a:rPr lang="en-US" smtClean="0"/>
              <a:t>‹#›</a:t>
            </a:fld>
            <a:endParaRPr lang="en-US"/>
          </a:p>
        </p:txBody>
      </p:sp>
    </p:spTree>
    <p:extLst>
      <p:ext uri="{BB962C8B-B14F-4D97-AF65-F5344CB8AC3E}">
        <p14:creationId xmlns:p14="http://schemas.microsoft.com/office/powerpoint/2010/main" val="204450706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4788229-8701-402C-9EFE-92AF1B162F60}" type="slidenum">
              <a:rPr lang="en-US" smtClean="0"/>
              <a:t>2</a:t>
            </a:fld>
            <a:endParaRPr lang="en-US"/>
          </a:p>
        </p:txBody>
      </p:sp>
    </p:spTree>
    <p:extLst>
      <p:ext uri="{BB962C8B-B14F-4D97-AF65-F5344CB8AC3E}">
        <p14:creationId xmlns:p14="http://schemas.microsoft.com/office/powerpoint/2010/main" val="172426928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2B3929-88CC-4868-BDA1-59A64D43EBFA}"/>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AFEDD6DB-1BB2-4E16-B0BB-E8BA2BDF612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3E7AAA9F-B17D-4248-B8EB-71AC9B01BC01}"/>
              </a:ext>
            </a:extLst>
          </p:cNvPr>
          <p:cNvSpPr>
            <a:spLocks noGrp="1"/>
          </p:cNvSpPr>
          <p:nvPr>
            <p:ph type="dt" sz="half" idx="10"/>
          </p:nvPr>
        </p:nvSpPr>
        <p:spPr/>
        <p:txBody>
          <a:bodyPr/>
          <a:lstStyle/>
          <a:p>
            <a:fld id="{177D84CC-09F3-4E2A-95B7-B65ACAD094AB}" type="datetime1">
              <a:rPr lang="en-US" smtClean="0"/>
              <a:t>4/7/2026</a:t>
            </a:fld>
            <a:endParaRPr lang="en-US"/>
          </a:p>
        </p:txBody>
      </p:sp>
      <p:sp>
        <p:nvSpPr>
          <p:cNvPr id="5" name="Footer Placeholder 4">
            <a:extLst>
              <a:ext uri="{FF2B5EF4-FFF2-40B4-BE49-F238E27FC236}">
                <a16:creationId xmlns:a16="http://schemas.microsoft.com/office/drawing/2014/main" id="{C71E4DB2-5340-4576-BCE1-5BA586B9196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B09BF86-13B9-4063-95F2-A447FD8F80F4}"/>
              </a:ext>
            </a:extLst>
          </p:cNvPr>
          <p:cNvSpPr>
            <a:spLocks noGrp="1"/>
          </p:cNvSpPr>
          <p:nvPr>
            <p:ph type="sldNum" sz="quarter" idx="12"/>
          </p:nvPr>
        </p:nvSpPr>
        <p:spPr/>
        <p:txBody>
          <a:bodyPr/>
          <a:lstStyle/>
          <a:p>
            <a:fld id="{0A5CBF63-613C-4E8E-B1A0-D710C5F27341}" type="slidenum">
              <a:rPr lang="en-US" smtClean="0"/>
              <a:t>‹#›</a:t>
            </a:fld>
            <a:endParaRPr lang="en-US"/>
          </a:p>
        </p:txBody>
      </p:sp>
    </p:spTree>
    <p:extLst>
      <p:ext uri="{BB962C8B-B14F-4D97-AF65-F5344CB8AC3E}">
        <p14:creationId xmlns:p14="http://schemas.microsoft.com/office/powerpoint/2010/main" val="157376336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90DC55-17C7-4615-9218-FEA6C38F07F8}"/>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56086033-9AEC-4DF1-8046-55049D40CF9A}"/>
              </a:ext>
            </a:extLst>
          </p:cNvPr>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05C27086-09CC-4BBE-8A58-380366BA6A8D}"/>
              </a:ext>
            </a:extLst>
          </p:cNvPr>
          <p:cNvSpPr>
            <a:spLocks noGrp="1"/>
          </p:cNvSpPr>
          <p:nvPr>
            <p:ph type="dt" sz="half" idx="10"/>
          </p:nvPr>
        </p:nvSpPr>
        <p:spPr/>
        <p:txBody>
          <a:bodyPr/>
          <a:lstStyle/>
          <a:p>
            <a:fld id="{ADA7BB36-3D62-4470-A97F-B676A5EA1684}" type="datetime1">
              <a:rPr lang="en-US" smtClean="0"/>
              <a:t>4/7/2026</a:t>
            </a:fld>
            <a:endParaRPr lang="en-US"/>
          </a:p>
        </p:txBody>
      </p:sp>
      <p:sp>
        <p:nvSpPr>
          <p:cNvPr id="5" name="Footer Placeholder 4">
            <a:extLst>
              <a:ext uri="{FF2B5EF4-FFF2-40B4-BE49-F238E27FC236}">
                <a16:creationId xmlns:a16="http://schemas.microsoft.com/office/drawing/2014/main" id="{11F1496C-4165-4039-BF78-B97DBB45DE5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B423ECE-0D9F-4ACC-BE4A-8CECB4C21533}"/>
              </a:ext>
            </a:extLst>
          </p:cNvPr>
          <p:cNvSpPr>
            <a:spLocks noGrp="1"/>
          </p:cNvSpPr>
          <p:nvPr>
            <p:ph type="sldNum" sz="quarter" idx="12"/>
          </p:nvPr>
        </p:nvSpPr>
        <p:spPr/>
        <p:txBody>
          <a:bodyPr/>
          <a:lstStyle/>
          <a:p>
            <a:fld id="{0A5CBF63-613C-4E8E-B1A0-D710C5F27341}" type="slidenum">
              <a:rPr lang="en-US" smtClean="0"/>
              <a:t>‹#›</a:t>
            </a:fld>
            <a:endParaRPr lang="en-US"/>
          </a:p>
        </p:txBody>
      </p:sp>
    </p:spTree>
    <p:extLst>
      <p:ext uri="{BB962C8B-B14F-4D97-AF65-F5344CB8AC3E}">
        <p14:creationId xmlns:p14="http://schemas.microsoft.com/office/powerpoint/2010/main" val="82292055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 Id="rId4" Type="http://schemas.openxmlformats.org/officeDocument/2006/relationships/image" Target="../media/image1.emf"/></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A2D4B34-3710-42BD-B15F-29029DE5FC9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DFD60566-4132-4228-A009-90DECD849CA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707AE5F-FB3D-4742-AE94-C679CACFFC2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FFE40B3-AC35-4E45-9A9A-E84AA48B06BB}" type="datetime1">
              <a:rPr lang="en-US" smtClean="0"/>
              <a:t>4/7/2026</a:t>
            </a:fld>
            <a:endParaRPr lang="en-US"/>
          </a:p>
        </p:txBody>
      </p:sp>
      <p:sp>
        <p:nvSpPr>
          <p:cNvPr id="5" name="Footer Placeholder 4">
            <a:extLst>
              <a:ext uri="{FF2B5EF4-FFF2-40B4-BE49-F238E27FC236}">
                <a16:creationId xmlns:a16="http://schemas.microsoft.com/office/drawing/2014/main" id="{DA06C9F7-1EC6-4794-BDB8-448CC751A58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AFA2E5C9-B3A4-4B3E-A5F8-4D85104B094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A5CBF63-613C-4E8E-B1A0-D710C5F27341}" type="slidenum">
              <a:rPr lang="en-US" smtClean="0"/>
              <a:t>‹#›</a:t>
            </a:fld>
            <a:endParaRPr lang="en-US"/>
          </a:p>
        </p:txBody>
      </p:sp>
      <p:pic>
        <p:nvPicPr>
          <p:cNvPr id="7" name="Picture 6">
            <a:extLst>
              <a:ext uri="{FF2B5EF4-FFF2-40B4-BE49-F238E27FC236}">
                <a16:creationId xmlns:a16="http://schemas.microsoft.com/office/drawing/2014/main" id="{A0EF8106-F7B3-4DBF-8958-3A64985661AA}"/>
              </a:ext>
            </a:extLst>
          </p:cNvPr>
          <p:cNvPicPr>
            <a:picLocks noChangeAspect="1"/>
          </p:cNvPicPr>
          <p:nvPr userDrawn="1"/>
        </p:nvPicPr>
        <p:blipFill>
          <a:blip r:embed="rId4"/>
          <a:stretch>
            <a:fillRect/>
          </a:stretch>
        </p:blipFill>
        <p:spPr>
          <a:xfrm>
            <a:off x="10349932" y="217820"/>
            <a:ext cx="1623486" cy="749301"/>
          </a:xfrm>
          <a:prstGeom prst="rect">
            <a:avLst/>
          </a:prstGeom>
        </p:spPr>
      </p:pic>
    </p:spTree>
    <p:extLst>
      <p:ext uri="{BB962C8B-B14F-4D97-AF65-F5344CB8AC3E}">
        <p14:creationId xmlns:p14="http://schemas.microsoft.com/office/powerpoint/2010/main" val="336168443"/>
      </p:ext>
    </p:extLst>
  </p:cSld>
  <p:clrMap bg1="lt1" tx1="dk1" bg2="lt2" tx2="dk2" accent1="accent1" accent2="accent2" accent3="accent3" accent4="accent4" accent5="accent5" accent6="accent6" hlink="hlink" folHlink="folHlink"/>
  <p:sldLayoutIdLst>
    <p:sldLayoutId id="2147483649" r:id="rId1"/>
    <p:sldLayoutId id="2147483650" r:id="rId2"/>
  </p:sldLayoutIdLst>
  <p:hf hdr="0" ftr="0" dt="0"/>
  <p:txStyles>
    <p:titleStyle>
      <a:lvl1pPr algn="l" defTabSz="914400" rtl="0" eaLnBrk="1" latinLnBrk="0" hangingPunct="1">
        <a:lnSpc>
          <a:spcPct val="90000"/>
        </a:lnSpc>
        <a:spcBef>
          <a:spcPct val="0"/>
        </a:spcBef>
        <a:buNone/>
        <a:defRPr sz="4400" kern="1200">
          <a:solidFill>
            <a:schemeClr val="tx1"/>
          </a:solidFill>
          <a:latin typeface="Times New Roman" panose="02020603050405020304" pitchFamily="18" charset="0"/>
          <a:ea typeface="+mj-ea"/>
          <a:cs typeface="Times New Roman" panose="02020603050405020304" pitchFamily="18"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Times New Roman" panose="02020603050405020304" pitchFamily="18" charset="0"/>
          <a:ea typeface="+mn-ea"/>
          <a:cs typeface="Times New Roman" panose="02020603050405020304" pitchFamily="18"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Times New Roman" panose="02020603050405020304" pitchFamily="18" charset="0"/>
          <a:ea typeface="+mn-ea"/>
          <a:cs typeface="Times New Roman" panose="02020603050405020304" pitchFamily="18"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Times New Roman" panose="02020603050405020304" pitchFamily="18" charset="0"/>
          <a:ea typeface="+mn-ea"/>
          <a:cs typeface="Times New Roman" panose="02020603050405020304" pitchFamily="18"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 Id="rId3"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DA8C8D-DBE3-4D7B-B00C-C31FD9BFD984}"/>
              </a:ext>
            </a:extLst>
          </p:cNvPr>
          <p:cNvSpPr>
            <a:spLocks noGrp="1"/>
          </p:cNvSpPr>
          <p:nvPr>
            <p:ph type="ctrTitle"/>
          </p:nvPr>
        </p:nvSpPr>
        <p:spPr/>
        <p:txBody>
          <a:bodyPr wrap="square"/>
          <a:lstStyle/>
          <a:p>
            <a:pPr>
              <a:spcBef>
                <a:spcPts val="300"/>
              </a:spcBef>
            </a:pPr>
            <a:r>
              <a:rPr sz="3400" b="0">
                <a:solidFill>
                  <a:srgbClr val="000000"/>
                </a:solidFill>
              </a:rPr>
              <a:t>Group 18: Feature Engineering for Time-Series</a:t>
            </a:r>
            <a:endParaRPr lang="en-US" dirty="0"/>
          </a:p>
          <a:p>
            <a:pPr>
              <a:spcBef>
                <a:spcPts val="300"/>
              </a:spcBef>
            </a:pPr>
            <a:r>
              <a:rPr sz="2600" b="0">
                <a:solidFill>
                  <a:srgbClr val="333333"/>
                </a:solidFill>
              </a:rPr>
              <a:t>Hybrid, Automated, and Interpretable Approaches</a:t>
            </a:r>
          </a:p>
        </p:txBody>
      </p:sp>
      <p:sp>
        <p:nvSpPr>
          <p:cNvPr id="4" name="Slide Number Placeholder 3">
            <a:extLst>
              <a:ext uri="{FF2B5EF4-FFF2-40B4-BE49-F238E27FC236}">
                <a16:creationId xmlns:a16="http://schemas.microsoft.com/office/drawing/2014/main" id="{2A113273-9DA4-4FF0-9144-1C123297F9A6}"/>
              </a:ext>
            </a:extLst>
          </p:cNvPr>
          <p:cNvSpPr>
            <a:spLocks noGrp="1"/>
          </p:cNvSpPr>
          <p:nvPr>
            <p:ph type="sldNum" sz="quarter" idx="12"/>
          </p:nvPr>
        </p:nvSpPr>
        <p:spPr/>
        <p:txBody>
          <a:bodyPr/>
          <a:lstStyle/>
          <a:p>
            <a:fld id="{0A5CBF63-613C-4E8E-B1A0-D710C5F27341}" type="slidenum">
              <a:rPr lang="en-US" smtClean="0"/>
              <a:t>1</a:t>
            </a:fld>
            <a:endParaRPr lang="en-US"/>
          </a:p>
        </p:txBody>
      </p:sp>
    </p:spTree>
    <p:extLst>
      <p:ext uri="{BB962C8B-B14F-4D97-AF65-F5344CB8AC3E}">
        <p14:creationId xmlns:p14="http://schemas.microsoft.com/office/powerpoint/2010/main" val="35995900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DCDD47-8CBF-6243-545F-A26A2DA89E89}"/>
              </a:ext>
            </a:extLst>
          </p:cNvPr>
          <p:cNvSpPr>
            <a:spLocks noGrp="1"/>
          </p:cNvSpPr>
          <p:nvPr>
            <p:ph type="title"/>
          </p:nvPr>
        </p:nvSpPr>
        <p:spPr/>
        <p:txBody>
          <a:bodyPr wrap="square"/>
          <a:lstStyle/>
          <a:p>
            <a:pPr>
              <a:spcBef>
                <a:spcPts val="300"/>
              </a:spcBef>
            </a:pPr>
            <a:r>
              <a:rPr sz="3600" b="0">
                <a:solidFill>
                  <a:srgbClr val="00853E"/>
                </a:solidFill>
              </a:rPr>
              <a:t>Outline</a:t>
            </a:r>
          </a:p>
        </p:txBody>
      </p:sp>
      <p:sp>
        <p:nvSpPr>
          <p:cNvPr id="3" name="Content Placeholder 2">
            <a:extLst>
              <a:ext uri="{FF2B5EF4-FFF2-40B4-BE49-F238E27FC236}">
                <a16:creationId xmlns:a16="http://schemas.microsoft.com/office/drawing/2014/main" id="{BB75CA95-910C-E848-813D-47509317D7A7}"/>
              </a:ext>
            </a:extLst>
          </p:cNvPr>
          <p:cNvSpPr>
            <a:spLocks noGrp="1"/>
          </p:cNvSpPr>
          <p:nvPr>
            <p:ph idx="1"/>
          </p:nvPr>
        </p:nvSpPr>
        <p:spPr>
          <a:xfrm>
            <a:off x="838200" y="1440873"/>
            <a:ext cx="10515600" cy="5280602"/>
          </a:xfrm>
        </p:spPr>
        <p:txBody>
          <a:bodyPr wrap="square">
            <a:normAutofit fontScale="85000" lnSpcReduction="20000"/>
          </a:bodyPr>
          <a:lstStyle/>
          <a:p>
            <a:pPr marL="0" indent="0">
              <a:spcBef>
                <a:spcPts val="300"/>
              </a:spcBef>
              <a:buNone/>
            </a:pPr>
            <a:r>
              <a:rPr sz="2200" b="1">
                <a:solidFill>
                  <a:srgbClr val="00853E"/>
                </a:solidFill>
              </a:rPr>
              <a:t>Part 1 — Presentation (1–3 min)</a:t>
            </a:r>
          </a:p>
          <a:p>
            <a:pPr lvl="1">
              <a:spcBef>
                <a:spcPts val="300"/>
              </a:spcBef>
            </a:pPr>
            <a:r>
              <a:rPr sz="1900" b="0">
                <a:solidFill>
                  <a:srgbClr val="000000"/>
                </a:solidFill>
              </a:rPr>
              <a:t>Recap of Project 1 Proposal</a:t>
            </a:r>
          </a:p>
          <a:p>
            <a:pPr lvl="1">
              <a:spcBef>
                <a:spcPts val="300"/>
              </a:spcBef>
            </a:pPr>
            <a:r>
              <a:rPr sz="1900" b="0">
                <a:solidFill>
                  <a:srgbClr val="000000"/>
                </a:solidFill>
              </a:rPr>
              <a:t>Feature Engineering Techniques Implemented</a:t>
            </a:r>
          </a:p>
          <a:p>
            <a:pPr lvl="1">
              <a:spcBef>
                <a:spcPts val="300"/>
              </a:spcBef>
            </a:pPr>
            <a:r>
              <a:rPr sz="1900" b="0">
                <a:solidFill>
                  <a:srgbClr val="000000"/>
                </a:solidFill>
              </a:rPr>
              <a:t>Machine Learning Models and Baselines</a:t>
            </a:r>
          </a:p>
          <a:p>
            <a:pPr lvl="1">
              <a:spcBef>
                <a:spcPts val="300"/>
              </a:spcBef>
            </a:pPr>
            <a:r>
              <a:rPr sz="1900" b="0">
                <a:solidFill>
                  <a:srgbClr val="000000"/>
                </a:solidFill>
              </a:rPr>
              <a:t>Results and Analysis</a:t>
            </a:r>
          </a:p>
          <a:p>
            <a:pPr lvl="1">
              <a:spcBef>
                <a:spcPts val="300"/>
              </a:spcBef>
            </a:pPr>
            <a:r>
              <a:rPr sz="1900" b="0">
                <a:solidFill>
                  <a:srgbClr val="000000"/>
                </a:solidFill>
              </a:rPr>
              <a:t>Discussion and Conclusion</a:t>
            </a:r>
          </a:p>
          <a:p>
            <a:pPr>
              <a:spcBef>
                <a:spcPts val="300"/>
              </a:spcBef>
            </a:pPr>
            <a:r>
              <a:rPr sz="2200" b="1">
                <a:solidFill>
                  <a:srgbClr val="00853E"/>
                </a:solidFill>
              </a:rPr>
              <a:t>Part 2 — Live Demo (3–13 min)</a:t>
            </a:r>
          </a:p>
          <a:p>
            <a:pPr lvl="1">
              <a:spcBef>
                <a:spcPts val="300"/>
              </a:spcBef>
            </a:pPr>
            <a:r>
              <a:rPr sz="1900" b="0">
                <a:solidFill>
                  <a:srgbClr val="000000"/>
                </a:solidFill>
              </a:rPr>
              <a:t>Dataset exploration and preprocessing walkthrough</a:t>
            </a:r>
          </a:p>
          <a:p>
            <a:pPr lvl="1">
              <a:spcBef>
                <a:spcPts val="300"/>
              </a:spcBef>
            </a:pPr>
            <a:r>
              <a:rPr sz="1900" b="0">
                <a:solidFill>
                  <a:srgbClr val="000000"/>
                </a:solidFill>
              </a:rPr>
              <a:t>Live feature extraction and SHAP pruning demo</a:t>
            </a:r>
          </a:p>
          <a:p>
            <a:pPr lvl="1">
              <a:spcBef>
                <a:spcPts val="300"/>
              </a:spcBef>
            </a:pPr>
            <a:r>
              <a:rPr sz="1900" b="0">
                <a:solidFill>
                  <a:srgbClr val="000000"/>
                </a:solidFill>
              </a:rPr>
              <a:t>Model evaluation: before vs. after feature engineering</a:t>
            </a:r>
          </a:p>
        </p:txBody>
      </p:sp>
      <p:sp>
        <p:nvSpPr>
          <p:cNvPr id="4" name="Slide Number Placeholder 3">
            <a:extLst>
              <a:ext uri="{FF2B5EF4-FFF2-40B4-BE49-F238E27FC236}">
                <a16:creationId xmlns:a16="http://schemas.microsoft.com/office/drawing/2014/main" id="{599B6EA8-E3F4-F65D-84A1-F02E9B02DB92}"/>
              </a:ext>
            </a:extLst>
          </p:cNvPr>
          <p:cNvSpPr>
            <a:spLocks noGrp="1"/>
          </p:cNvSpPr>
          <p:nvPr>
            <p:ph type="sldNum" sz="quarter" idx="12"/>
          </p:nvPr>
        </p:nvSpPr>
        <p:spPr/>
        <p:txBody>
          <a:bodyPr/>
          <a:lstStyle/>
          <a:p>
            <a:fld id="{0A5CBF63-613C-4E8E-B1A0-D710C5F27341}" type="slidenum">
              <a:rPr lang="en-US" smtClean="0"/>
              <a:t>2</a:t>
            </a:fld>
            <a:endParaRPr lang="en-US"/>
          </a:p>
        </p:txBody>
      </p:sp>
      <p:sp>
        <p:nvSpPr>
          <p:cNvPr id="5" name="Rectangle 4"/>
          <p:cNvSpPr/>
          <p:nvPr/>
        </p:nvSpPr>
        <p:spPr>
          <a:xfrm>
            <a:off x="0" y="1444752"/>
            <a:ext cx="12188952" cy="50292"/>
          </a:xfrm>
          <a:prstGeom prst="rect">
            <a:avLst/>
          </a:prstGeom>
          <a:solidFill>
            <a:srgbClr val="0085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extLst>
      <p:ext uri="{BB962C8B-B14F-4D97-AF65-F5344CB8AC3E}">
        <p14:creationId xmlns:p14="http://schemas.microsoft.com/office/powerpoint/2010/main" val="417321515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678BF8-83E2-B2A4-2068-DF5A7CC027A3}"/>
              </a:ext>
            </a:extLst>
          </p:cNvPr>
          <p:cNvSpPr>
            <a:spLocks noGrp="1"/>
          </p:cNvSpPr>
          <p:nvPr>
            <p:ph type="title"/>
          </p:nvPr>
        </p:nvSpPr>
        <p:spPr/>
        <p:txBody>
          <a:bodyPr wrap="square"/>
          <a:lstStyle/>
          <a:p>
            <a:pPr>
              <a:spcBef>
                <a:spcPts val="300"/>
              </a:spcBef>
            </a:pPr>
            <a:r>
              <a:rPr sz="3400" b="0">
                <a:solidFill>
                  <a:srgbClr val="00853E"/>
                </a:solidFill>
              </a:rPr>
              <a:t>Recap of Project 1 Proposal</a:t>
            </a:r>
          </a:p>
        </p:txBody>
      </p:sp>
      <p:sp>
        <p:nvSpPr>
          <p:cNvPr id="3" name="Content Placeholder 2">
            <a:extLst>
              <a:ext uri="{FF2B5EF4-FFF2-40B4-BE49-F238E27FC236}">
                <a16:creationId xmlns:a16="http://schemas.microsoft.com/office/drawing/2014/main" id="{F93C1F33-7B7E-9D90-EF13-666DE0999804}"/>
              </a:ext>
            </a:extLst>
          </p:cNvPr>
          <p:cNvSpPr>
            <a:spLocks noGrp="1"/>
          </p:cNvSpPr>
          <p:nvPr>
            <p:ph idx="1"/>
          </p:nvPr>
        </p:nvSpPr>
        <p:spPr/>
        <p:txBody>
          <a:bodyPr wrap="square"/>
          <a:lstStyle/>
          <a:p>
            <a:pPr>
              <a:spcBef>
                <a:spcPts val="300"/>
              </a:spcBef>
            </a:pPr>
            <a:r>
              <a:rPr sz="1900" b="0">
                <a:solidFill>
                  <a:srgbClr val="000000"/>
                </a:solidFill>
              </a:rPr>
              <a:t>Problem: Extracting meaningful features from time-series is a bottleneck in ML pipelines.</a:t>
            </a:r>
          </a:p>
          <a:p>
            <a:pPr>
              <a:spcBef>
                <a:spcPts val="300"/>
              </a:spcBef>
            </a:pPr>
            <a:r>
              <a:rPr sz="1900" b="0">
                <a:solidFill>
                  <a:srgbClr val="000000"/>
                </a:solidFill>
              </a:rPr>
              <a:t>Motivation: Deep learning is powerful but computationally expensive and hard to interpret.</a:t>
            </a:r>
          </a:p>
          <a:p>
            <a:pPr>
              <a:spcBef>
                <a:spcPts val="300"/>
              </a:spcBef>
            </a:pPr>
            <a:r>
              <a:rPr sz="1900" b="0">
                <a:solidFill>
                  <a:srgbClr val="000000"/>
                </a:solidFill>
              </a:rPr>
              <a:t>We proposed a unified framework combining hybrid, automated, and explainable feature engineering.</a:t>
            </a:r>
          </a:p>
          <a:p>
            <a:pPr>
              <a:spcBef>
                <a:spcPts val="300"/>
              </a:spcBef>
            </a:pPr>
            <a:r>
              <a:rPr sz="1900" b="0">
                <a:solidFill>
                  <a:srgbClr val="000000"/>
                </a:solidFill>
              </a:rPr>
              <a:t>5 papers surveyed (2024–2025): COCALITE, SPLiT, PPG Anomaly, Lag Features, AutoFE-XAI.</a:t>
            </a:r>
          </a:p>
          <a:p>
            <a:pPr>
              <a:spcBef>
                <a:spcPts val="300"/>
              </a:spcBef>
            </a:pPr>
            <a:r>
              <a:rPr sz="1900" b="0">
                <a:solidFill>
                  <a:srgbClr val="000000"/>
                </a:solidFill>
              </a:rPr>
              <a:t>3 datasets: UCR Archive (classification), ETTh1 (forecasting), WESAD-like (anomaly detection).</a:t>
            </a:r>
          </a:p>
          <a:p>
            <a:pPr>
              <a:spcBef>
                <a:spcPts val="300"/>
              </a:spcBef>
            </a:pPr>
            <a:r>
              <a:rPr sz="2000" b="1">
                <a:solidFill>
                  <a:srgbClr val="00853E"/>
                </a:solidFill>
              </a:rPr>
              <a:t>Phase 1 Feedback Addressed:</a:t>
            </a:r>
          </a:p>
          <a:p>
            <a:pPr lvl="1">
              <a:spcBef>
                <a:spcPts val="300"/>
              </a:spcBef>
            </a:pPr>
            <a:r>
              <a:rPr sz="1800" b="0">
                <a:solidFill>
                  <a:srgbClr val="000000"/>
                </a:solidFill>
              </a:rPr>
              <a:t>Added Group Number 18 to all submissions</a:t>
            </a:r>
          </a:p>
          <a:p>
            <a:pPr lvl="1">
              <a:spcBef>
                <a:spcPts val="300"/>
              </a:spcBef>
            </a:pPr>
            <a:r>
              <a:rPr sz="1800" b="0">
                <a:solidFill>
                  <a:srgbClr val="000000"/>
                </a:solidFill>
              </a:rPr>
              <a:t>Separated evaluations clearly by task</a:t>
            </a:r>
          </a:p>
          <a:p>
            <a:pPr lvl="1">
              <a:spcBef>
                <a:spcPts val="300"/>
              </a:spcBef>
            </a:pPr>
            <a:r>
              <a:rPr sz="1800" b="0">
                <a:solidFill>
                  <a:srgbClr val="000000"/>
                </a:solidFill>
              </a:rPr>
              <a:t>Defined explicit baselines for each task</a:t>
            </a:r>
          </a:p>
          <a:p>
            <a:pPr lvl="1">
              <a:spcBef>
                <a:spcPts val="300"/>
              </a:spcBef>
            </a:pPr>
            <a:r>
              <a:rPr sz="1800" b="0">
                <a:solidFill>
                  <a:srgbClr val="000000"/>
                </a:solidFill>
              </a:rPr>
              <a:t>Completed the methodology flowchart (was incomplete in Phase 1)</a:t>
            </a:r>
          </a:p>
        </p:txBody>
      </p:sp>
      <p:sp>
        <p:nvSpPr>
          <p:cNvPr id="4" name="Slide Number Placeholder 3">
            <a:extLst>
              <a:ext uri="{FF2B5EF4-FFF2-40B4-BE49-F238E27FC236}">
                <a16:creationId xmlns:a16="http://schemas.microsoft.com/office/drawing/2014/main" id="{22B0E182-E09F-C7DA-E140-4ABF72CCF599}"/>
              </a:ext>
            </a:extLst>
          </p:cNvPr>
          <p:cNvSpPr>
            <a:spLocks noGrp="1"/>
          </p:cNvSpPr>
          <p:nvPr>
            <p:ph type="sldNum" sz="quarter" idx="12"/>
          </p:nvPr>
        </p:nvSpPr>
        <p:spPr/>
        <p:txBody>
          <a:bodyPr/>
          <a:lstStyle/>
          <a:p>
            <a:fld id="{0A5CBF63-613C-4E8E-B1A0-D710C5F27341}" type="slidenum">
              <a:rPr lang="en-US" smtClean="0"/>
              <a:t>3</a:t>
            </a:fld>
            <a:endParaRPr lang="en-US"/>
          </a:p>
        </p:txBody>
      </p:sp>
      <p:sp>
        <p:nvSpPr>
          <p:cNvPr id="5" name="Rectangle 4"/>
          <p:cNvSpPr/>
          <p:nvPr/>
        </p:nvSpPr>
        <p:spPr>
          <a:xfrm>
            <a:off x="0" y="1444752"/>
            <a:ext cx="12188952" cy="50292"/>
          </a:xfrm>
          <a:prstGeom prst="rect">
            <a:avLst/>
          </a:prstGeom>
          <a:solidFill>
            <a:srgbClr val="0085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extLst>
      <p:ext uri="{BB962C8B-B14F-4D97-AF65-F5344CB8AC3E}">
        <p14:creationId xmlns:p14="http://schemas.microsoft.com/office/powerpoint/2010/main" val="17062813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678BF8-83E2-B2A4-2068-DF5A7CC027A3}"/>
              </a:ext>
            </a:extLst>
          </p:cNvPr>
          <p:cNvSpPr>
            <a:spLocks noGrp="1"/>
          </p:cNvSpPr>
          <p:nvPr>
            <p:ph type="title"/>
          </p:nvPr>
        </p:nvSpPr>
        <p:spPr/>
        <p:txBody>
          <a:bodyPr wrap="square"/>
          <a:lstStyle/>
          <a:p>
            <a:pPr>
              <a:spcBef>
                <a:spcPts val="300"/>
              </a:spcBef>
            </a:pPr>
            <a:r>
              <a:rPr sz="3600" b="0">
                <a:solidFill>
                  <a:srgbClr val="00853E"/>
                </a:solidFill>
              </a:rPr>
              <a:t>Datasets Used</a:t>
            </a:r>
          </a:p>
        </p:txBody>
      </p:sp>
      <p:sp>
        <p:nvSpPr>
          <p:cNvPr id="3" name="Content Placeholder 2">
            <a:extLst>
              <a:ext uri="{FF2B5EF4-FFF2-40B4-BE49-F238E27FC236}">
                <a16:creationId xmlns:a16="http://schemas.microsoft.com/office/drawing/2014/main" id="{F93C1F33-7B7E-9D90-EF13-666DE0999804}"/>
              </a:ext>
            </a:extLst>
          </p:cNvPr>
          <p:cNvSpPr>
            <a:spLocks noGrp="1"/>
          </p:cNvSpPr>
          <p:nvPr>
            <p:ph idx="1"/>
          </p:nvPr>
        </p:nvSpPr>
        <p:spPr/>
        <p:txBody>
          <a:bodyPr wrap="square"/>
          <a:lstStyle/>
          <a:p>
            <a:pPr>
              <a:spcBef>
                <a:spcPts val="300"/>
              </a:spcBef>
            </a:pPr>
            <a:r>
              <a:rPr sz="2100" b="1">
                <a:solidFill>
                  <a:srgbClr val="00853E"/>
                </a:solidFill>
              </a:rPr>
              <a:t>UCR Time Series Archive — Classification</a:t>
            </a:r>
          </a:p>
          <a:p>
            <a:pPr lvl="1">
              <a:spcBef>
                <a:spcPts val="300"/>
              </a:spcBef>
            </a:pPr>
            <a:r>
              <a:rPr sz="1800" b="0">
                <a:solidFill>
                  <a:srgbClr val="000000"/>
                </a:solidFill>
              </a:rPr>
              <a:t>5 datasets: GunPoint, ECG200, ItalyPowerDemand, SyntheticControl, TwoLeadECG</a:t>
            </a:r>
          </a:p>
          <a:p>
            <a:pPr lvl="1">
              <a:spcBef>
                <a:spcPts val="300"/>
              </a:spcBef>
            </a:pPr>
            <a:r>
              <a:rPr sz="1800" b="0">
                <a:solidFill>
                  <a:srgbClr val="000000"/>
                </a:solidFill>
              </a:rPr>
              <a:t>Covers motion, medical, energy, and synthetic domains</a:t>
            </a:r>
          </a:p>
          <a:p>
            <a:pPr>
              <a:spcBef>
                <a:spcPts val="300"/>
              </a:spcBef>
            </a:pPr>
            <a:r>
              <a:rPr sz="2100" b="1">
                <a:solidFill>
                  <a:srgbClr val="00853E"/>
                </a:solidFill>
              </a:rPr>
              <a:t>ETTh1 (Electricity Transformer Temperature) — Forecasting</a:t>
            </a:r>
          </a:p>
          <a:p>
            <a:pPr lvl="1">
              <a:spcBef>
                <a:spcPts val="300"/>
              </a:spcBef>
            </a:pPr>
            <a:r>
              <a:rPr sz="1800" b="0">
                <a:solidFill>
                  <a:srgbClr val="000000"/>
                </a:solidFill>
              </a:rPr>
              <a:t>17,420 hourly readings of 7 variables; target: Oil Temperature (OT)</a:t>
            </a:r>
          </a:p>
          <a:p>
            <a:pPr lvl="1">
              <a:spcBef>
                <a:spcPts val="300"/>
              </a:spcBef>
            </a:pPr>
            <a:r>
              <a:rPr sz="1800" b="0">
                <a:solidFill>
                  <a:srgbClr val="000000"/>
                </a:solidFill>
              </a:rPr>
              <a:t>Real-world multivariate industrial benchmark dataset</a:t>
            </a:r>
          </a:p>
          <a:p>
            <a:pPr>
              <a:spcBef>
                <a:spcPts val="300"/>
              </a:spcBef>
            </a:pPr>
            <a:r>
              <a:rPr sz="2100" b="1">
                <a:solidFill>
                  <a:srgbClr val="00853E"/>
                </a:solidFill>
              </a:rPr>
              <a:t>WESAD-like PPG Signal — Anomaly Detection</a:t>
            </a:r>
          </a:p>
          <a:p>
            <a:pPr lvl="1">
              <a:spcBef>
                <a:spcPts val="300"/>
              </a:spcBef>
            </a:pPr>
            <a:r>
              <a:rPr sz="1800" b="0">
                <a:solidFill>
                  <a:srgbClr val="000000"/>
                </a:solidFill>
              </a:rPr>
              <a:t>Simulated blood volume pulse (BVP) signal with injected anomalies</a:t>
            </a:r>
          </a:p>
          <a:p>
            <a:pPr lvl="1">
              <a:spcBef>
                <a:spcPts val="300"/>
              </a:spcBef>
            </a:pPr>
            <a:r>
              <a:rPr sz="1800" b="0">
                <a:solidFill>
                  <a:srgbClr val="000000"/>
                </a:solidFill>
              </a:rPr>
              <a:t>Anomaly types: amplitude spikes, flatlines, high-noise segments (~16% anomaly rate)</a:t>
            </a:r>
          </a:p>
        </p:txBody>
      </p:sp>
      <p:sp>
        <p:nvSpPr>
          <p:cNvPr id="4" name="Slide Number Placeholder 3">
            <a:extLst>
              <a:ext uri="{FF2B5EF4-FFF2-40B4-BE49-F238E27FC236}">
                <a16:creationId xmlns:a16="http://schemas.microsoft.com/office/drawing/2014/main" id="{22B0E182-E09F-C7DA-E140-4ABF72CCF599}"/>
              </a:ext>
            </a:extLst>
          </p:cNvPr>
          <p:cNvSpPr>
            <a:spLocks noGrp="1"/>
          </p:cNvSpPr>
          <p:nvPr>
            <p:ph type="sldNum" sz="quarter" idx="12"/>
          </p:nvPr>
        </p:nvSpPr>
        <p:spPr/>
        <p:txBody>
          <a:bodyPr/>
          <a:lstStyle/>
          <a:p>
            <a:fld id="{0A5CBF63-613C-4E8E-B1A0-D710C5F27341}" type="slidenum">
              <a:rPr lang="en-US" smtClean="0"/>
              <a:t>4</a:t>
            </a:fld>
            <a:endParaRPr lang="en-US"/>
          </a:p>
        </p:txBody>
      </p:sp>
      <p:sp>
        <p:nvSpPr>
          <p:cNvPr id="5" name="Rectangle 4"/>
          <p:cNvSpPr/>
          <p:nvPr/>
        </p:nvSpPr>
        <p:spPr>
          <a:xfrm>
            <a:off x="0" y="1444752"/>
            <a:ext cx="12188952" cy="50292"/>
          </a:xfrm>
          <a:prstGeom prst="rect">
            <a:avLst/>
          </a:prstGeom>
          <a:solidFill>
            <a:srgbClr val="0085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extLst>
      <p:ext uri="{BB962C8B-B14F-4D97-AF65-F5344CB8AC3E}">
        <p14:creationId xmlns:p14="http://schemas.microsoft.com/office/powerpoint/2010/main" val="304890775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19164E-84E8-4FB2-8051-CB230F6D915C}"/>
              </a:ext>
            </a:extLst>
          </p:cNvPr>
          <p:cNvSpPr>
            <a:spLocks noGrp="1"/>
          </p:cNvSpPr>
          <p:nvPr>
            <p:ph type="title"/>
          </p:nvPr>
        </p:nvSpPr>
        <p:spPr/>
        <p:txBody>
          <a:bodyPr wrap="square"/>
          <a:lstStyle/>
          <a:p>
            <a:pPr>
              <a:spcBef>
                <a:spcPts val="300"/>
              </a:spcBef>
            </a:pPr>
            <a:r>
              <a:rPr sz="3400" b="0">
                <a:solidFill>
                  <a:srgbClr val="00853E"/>
                </a:solidFill>
              </a:rPr>
              <a:t>Feature Engineering Techniques</a:t>
            </a:r>
          </a:p>
        </p:txBody>
      </p:sp>
      <p:sp>
        <p:nvSpPr>
          <p:cNvPr id="3" name="Content Placeholder 2">
            <a:extLst>
              <a:ext uri="{FF2B5EF4-FFF2-40B4-BE49-F238E27FC236}">
                <a16:creationId xmlns:a16="http://schemas.microsoft.com/office/drawing/2014/main" id="{613B13FA-5386-4E73-BB44-9A898AA7B251}"/>
              </a:ext>
            </a:extLst>
          </p:cNvPr>
          <p:cNvSpPr>
            <a:spLocks noGrp="1"/>
          </p:cNvSpPr>
          <p:nvPr>
            <p:ph idx="1"/>
          </p:nvPr>
        </p:nvSpPr>
        <p:spPr/>
        <p:txBody>
          <a:bodyPr wrap="square"/>
          <a:lstStyle/>
          <a:p>
            <a:pPr>
              <a:spcBef>
                <a:spcPts val="300"/>
              </a:spcBef>
            </a:pPr>
            <a:r>
              <a:rPr sz="2100" b="1">
                <a:solidFill>
                  <a:srgbClr val="00853E"/>
                </a:solidFill>
              </a:rPr>
              <a:t>1.  Catch22 — 22 canonical time-series features</a:t>
            </a:r>
          </a:p>
          <a:p>
            <a:pPr lvl="1">
              <a:spcBef>
                <a:spcPts val="300"/>
              </a:spcBef>
            </a:pPr>
            <a:r>
              <a:rPr sz="1800" b="0">
                <a:solidFill>
                  <a:srgbClr val="000000"/>
                </a:solidFill>
              </a:rPr>
              <a:t>Autocorrelation, entropy, Hurst exponent, spectral features — implemented in pure NumPy</a:t>
            </a:r>
          </a:p>
          <a:p>
            <a:pPr>
              <a:spcBef>
                <a:spcPts val="300"/>
              </a:spcBef>
            </a:pPr>
            <a:r>
              <a:rPr sz="2100" b="1">
                <a:solidFill>
                  <a:srgbClr val="00853E"/>
                </a:solidFill>
              </a:rPr>
              <a:t>2.  Lag + Rolling Statistics</a:t>
            </a:r>
          </a:p>
          <a:p>
            <a:pPr lvl="1">
              <a:spcBef>
                <a:spcPts val="300"/>
              </a:spcBef>
            </a:pPr>
            <a:r>
              <a:rPr sz="1800" b="0">
                <a:solidFill>
                  <a:srgbClr val="000000"/>
                </a:solidFill>
              </a:rPr>
              <a:t>Lag features (t-1 to t-24) + rolling mean, std, min, max over windows of 3, 6, 12, 24</a:t>
            </a:r>
          </a:p>
          <a:p>
            <a:pPr>
              <a:spcBef>
                <a:spcPts val="300"/>
              </a:spcBef>
            </a:pPr>
            <a:r>
              <a:rPr sz="2100" b="1">
                <a:solidFill>
                  <a:srgbClr val="00853E"/>
                </a:solidFill>
              </a:rPr>
              <a:t>3.  Self-Supervised MLP Embeddings</a:t>
            </a:r>
          </a:p>
          <a:p>
            <a:pPr lvl="1">
              <a:spcBef>
                <a:spcPts val="300"/>
              </a:spcBef>
            </a:pPr>
            <a:r>
              <a:rPr sz="1800" b="0">
                <a:solidFill>
                  <a:srgbClr val="000000"/>
                </a:solidFill>
              </a:rPr>
              <a:t>MLP trained to predict x[t] from x[t-24:t]; hidden layer activations = learned features</a:t>
            </a:r>
          </a:p>
          <a:p>
            <a:pPr>
              <a:spcBef>
                <a:spcPts val="300"/>
              </a:spcBef>
            </a:pPr>
            <a:r>
              <a:rPr sz="2100" b="1">
                <a:solidFill>
                  <a:srgbClr val="00853E"/>
                </a:solidFill>
              </a:rPr>
              <a:t>4.  SHAP-Guided Feature Pruning</a:t>
            </a:r>
          </a:p>
          <a:p>
            <a:pPr lvl="1">
              <a:spcBef>
                <a:spcPts val="300"/>
              </a:spcBef>
            </a:pPr>
            <a:r>
              <a:rPr sz="1800" b="0">
                <a:solidFill>
                  <a:srgbClr val="000000"/>
                </a:solidFill>
              </a:rPr>
              <a:t>LightGBM proxy → compute mean |SHAP| → keep top 55–60% of features</a:t>
            </a:r>
          </a:p>
          <a:p>
            <a:pPr lvl="1">
              <a:spcBef>
                <a:spcPts val="300"/>
              </a:spcBef>
            </a:pPr>
            <a:r>
              <a:rPr sz="1800" b="0">
                <a:solidFill>
                  <a:srgbClr val="000000"/>
                </a:solidFill>
              </a:rPr>
              <a:t>XAI actively guides modeling decisions — not just post-hoc reporting</a:t>
            </a:r>
          </a:p>
        </p:txBody>
      </p:sp>
      <p:sp>
        <p:nvSpPr>
          <p:cNvPr id="4" name="Slide Number Placeholder 3">
            <a:extLst>
              <a:ext uri="{FF2B5EF4-FFF2-40B4-BE49-F238E27FC236}">
                <a16:creationId xmlns:a16="http://schemas.microsoft.com/office/drawing/2014/main" id="{4622CC70-E94D-443E-911C-FC4AEB22D28F}"/>
              </a:ext>
            </a:extLst>
          </p:cNvPr>
          <p:cNvSpPr>
            <a:spLocks noGrp="1"/>
          </p:cNvSpPr>
          <p:nvPr>
            <p:ph type="sldNum" sz="quarter" idx="12"/>
          </p:nvPr>
        </p:nvSpPr>
        <p:spPr/>
        <p:txBody>
          <a:bodyPr/>
          <a:lstStyle/>
          <a:p>
            <a:fld id="{0A5CBF63-613C-4E8E-B1A0-D710C5F27341}" type="slidenum">
              <a:rPr lang="en-US" smtClean="0"/>
              <a:t>5</a:t>
            </a:fld>
            <a:endParaRPr lang="en-US"/>
          </a:p>
        </p:txBody>
      </p:sp>
      <p:sp>
        <p:nvSpPr>
          <p:cNvPr id="5" name="Rectangle 4"/>
          <p:cNvSpPr/>
          <p:nvPr/>
        </p:nvSpPr>
        <p:spPr>
          <a:xfrm>
            <a:off x="0" y="1444752"/>
            <a:ext cx="12188952" cy="50292"/>
          </a:xfrm>
          <a:prstGeom prst="rect">
            <a:avLst/>
          </a:prstGeom>
          <a:solidFill>
            <a:srgbClr val="0085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extLst>
      <p:ext uri="{BB962C8B-B14F-4D97-AF65-F5344CB8AC3E}">
        <p14:creationId xmlns:p14="http://schemas.microsoft.com/office/powerpoint/2010/main" val="337136002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678BF8-83E2-B2A4-2068-DF5A7CC027A3}"/>
              </a:ext>
            </a:extLst>
          </p:cNvPr>
          <p:cNvSpPr>
            <a:spLocks noGrp="1"/>
          </p:cNvSpPr>
          <p:nvPr>
            <p:ph type="title"/>
          </p:nvPr>
        </p:nvSpPr>
        <p:spPr/>
        <p:txBody>
          <a:bodyPr wrap="square"/>
          <a:lstStyle/>
          <a:p>
            <a:pPr>
              <a:spcBef>
                <a:spcPts val="300"/>
              </a:spcBef>
            </a:pPr>
            <a:r>
              <a:rPr sz="3600" b="0">
                <a:solidFill>
                  <a:srgbClr val="00853E"/>
                </a:solidFill>
              </a:rPr>
              <a:t>Methodology Pipeline</a:t>
            </a:r>
          </a:p>
        </p:txBody>
      </p:sp>
      <p:sp>
        <p:nvSpPr>
          <p:cNvPr id="3" name="Content Placeholder 2">
            <a:extLst>
              <a:ext uri="{FF2B5EF4-FFF2-40B4-BE49-F238E27FC236}">
                <a16:creationId xmlns:a16="http://schemas.microsoft.com/office/drawing/2014/main" id="{F93C1F33-7B7E-9D90-EF13-666DE0999804}"/>
              </a:ext>
            </a:extLst>
          </p:cNvPr>
          <p:cNvSpPr>
            <a:spLocks noGrp="1"/>
          </p:cNvSpPr>
          <p:nvPr>
            <p:ph idx="1"/>
          </p:nvPr>
        </p:nvSpPr>
        <p:spPr/>
        <p:txBody>
          <a:bodyPr wrap="square"/>
          <a:lstStyle/>
          <a:p>
            <a:pPr>
              <a:spcBef>
                <a:spcPts val="300"/>
              </a:spcBef>
            </a:pPr>
            <a:r>
              <a:rPr sz="1200" b="0">
                <a:solidFill>
                  <a:srgbClr val="000000"/>
                </a:solidFill>
              </a:rPr>
              <a:t/>
            </a:r>
          </a:p>
        </p:txBody>
      </p:sp>
      <p:sp>
        <p:nvSpPr>
          <p:cNvPr id="4" name="Slide Number Placeholder 3">
            <a:extLst>
              <a:ext uri="{FF2B5EF4-FFF2-40B4-BE49-F238E27FC236}">
                <a16:creationId xmlns:a16="http://schemas.microsoft.com/office/drawing/2014/main" id="{22B0E182-E09F-C7DA-E140-4ABF72CCF599}"/>
              </a:ext>
            </a:extLst>
          </p:cNvPr>
          <p:cNvSpPr>
            <a:spLocks noGrp="1"/>
          </p:cNvSpPr>
          <p:nvPr>
            <p:ph type="sldNum" sz="quarter" idx="12"/>
          </p:nvPr>
        </p:nvSpPr>
        <p:spPr/>
        <p:txBody>
          <a:bodyPr/>
          <a:lstStyle/>
          <a:p>
            <a:fld id="{0A5CBF63-613C-4E8E-B1A0-D710C5F27341}" type="slidenum">
              <a:rPr lang="en-US" smtClean="0"/>
              <a:t>6</a:t>
            </a:fld>
            <a:endParaRPr lang="en-US"/>
          </a:p>
        </p:txBody>
      </p:sp>
      <p:sp>
        <p:nvSpPr>
          <p:cNvPr id="5" name="Rectangle 4"/>
          <p:cNvSpPr/>
          <p:nvPr/>
        </p:nvSpPr>
        <p:spPr>
          <a:xfrm>
            <a:off x="0" y="1444752"/>
            <a:ext cx="12188952" cy="50292"/>
          </a:xfrm>
          <a:prstGeom prst="rect">
            <a:avLst/>
          </a:prstGeom>
          <a:solidFill>
            <a:srgbClr val="0085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11_pipeline_flowchart.png"/>
          <p:cNvPicPr>
            <a:picLocks noChangeAspect="1"/>
          </p:cNvPicPr>
          <p:nvPr/>
        </p:nvPicPr>
        <p:blipFill>
          <a:blip r:embed="rId2"/>
          <a:stretch>
            <a:fillRect/>
          </a:stretch>
        </p:blipFill>
        <p:spPr>
          <a:xfrm>
            <a:off x="457200" y="1554480"/>
            <a:ext cx="11247120" cy="5120640"/>
          </a:xfrm>
          <a:prstGeom prst="rect">
            <a:avLst/>
          </a:prstGeom>
        </p:spPr>
      </p:pic>
    </p:spTree>
    <p:extLst>
      <p:ext uri="{BB962C8B-B14F-4D97-AF65-F5344CB8AC3E}">
        <p14:creationId xmlns:p14="http://schemas.microsoft.com/office/powerpoint/2010/main" val="128609212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19164E-84E8-4FB2-8051-CB230F6D915C}"/>
              </a:ext>
            </a:extLst>
          </p:cNvPr>
          <p:cNvSpPr>
            <a:spLocks noGrp="1"/>
          </p:cNvSpPr>
          <p:nvPr>
            <p:ph type="title"/>
          </p:nvPr>
        </p:nvSpPr>
        <p:spPr/>
        <p:txBody>
          <a:bodyPr wrap="square"/>
          <a:lstStyle/>
          <a:p>
            <a:pPr>
              <a:spcBef>
                <a:spcPts val="300"/>
              </a:spcBef>
            </a:pPr>
            <a:r>
              <a:rPr sz="3000" b="0">
                <a:solidFill>
                  <a:srgbClr val="00853E"/>
                </a:solidFill>
              </a:rPr>
              <a:t>Machine Learning Models and Baselines</a:t>
            </a:r>
          </a:p>
        </p:txBody>
      </p:sp>
      <p:sp>
        <p:nvSpPr>
          <p:cNvPr id="3" name="Content Placeholder 2">
            <a:extLst>
              <a:ext uri="{FF2B5EF4-FFF2-40B4-BE49-F238E27FC236}">
                <a16:creationId xmlns:a16="http://schemas.microsoft.com/office/drawing/2014/main" id="{613B13FA-5386-4E73-BB44-9A898AA7B251}"/>
              </a:ext>
            </a:extLst>
          </p:cNvPr>
          <p:cNvSpPr>
            <a:spLocks noGrp="1"/>
          </p:cNvSpPr>
          <p:nvPr>
            <p:ph idx="1"/>
          </p:nvPr>
        </p:nvSpPr>
        <p:spPr/>
        <p:txBody>
          <a:bodyPr wrap="square"/>
          <a:lstStyle/>
          <a:p>
            <a:pPr>
              <a:spcBef>
                <a:spcPts val="300"/>
              </a:spcBef>
            </a:pPr>
            <a:r>
              <a:rPr sz="2100" b="1">
                <a:solidFill>
                  <a:srgbClr val="00853E"/>
                </a:solidFill>
              </a:rPr>
              <a:t>Classification Task</a:t>
            </a:r>
          </a:p>
          <a:p>
            <a:pPr lvl="1">
              <a:spcBef>
                <a:spcPts val="300"/>
              </a:spcBef>
            </a:pPr>
            <a:r>
              <a:rPr sz="1800" b="0">
                <a:solidFill>
                  <a:srgbClr val="000000"/>
                </a:solidFill>
              </a:rPr>
              <a:t>Baseline: LightGBM on raw time-series (first 50 time steps)</a:t>
            </a:r>
          </a:p>
          <a:p>
            <a:pPr lvl="1">
              <a:spcBef>
                <a:spcPts val="300"/>
              </a:spcBef>
            </a:pPr>
            <a:r>
              <a:rPr sz="1800" b="0">
                <a:solidFill>
                  <a:srgbClr val="000000"/>
                </a:solidFill>
              </a:rPr>
              <a:t>Proposed: LightGBM on Catch22 → SHAP-pruned  |  Metrics: Accuracy, F1</a:t>
            </a:r>
          </a:p>
          <a:p>
            <a:pPr>
              <a:spcBef>
                <a:spcPts val="300"/>
              </a:spcBef>
            </a:pPr>
            <a:r>
              <a:rPr sz="2100" b="1">
                <a:solidFill>
                  <a:srgbClr val="00853E"/>
                </a:solidFill>
              </a:rPr>
              <a:t>Forecasting Task</a:t>
            </a:r>
          </a:p>
          <a:p>
            <a:pPr lvl="1">
              <a:spcBef>
                <a:spcPts val="300"/>
              </a:spcBef>
            </a:pPr>
            <a:r>
              <a:rPr sz="1800" b="0">
                <a:solidFill>
                  <a:srgbClr val="000000"/>
                </a:solidFill>
              </a:rPr>
              <a:t>Baseline: Ridge Regression on lag-1 feature only</a:t>
            </a:r>
          </a:p>
          <a:p>
            <a:pPr lvl="1">
              <a:spcBef>
                <a:spcPts val="300"/>
              </a:spcBef>
            </a:pPr>
            <a:r>
              <a:rPr sz="1800" b="0">
                <a:solidFill>
                  <a:srgbClr val="000000"/>
                </a:solidFill>
              </a:rPr>
              <a:t>Proposed: LightGBM on Lag+Rolling+Embeddings → SHAP pruned  |  Metrics: MSE, MAE</a:t>
            </a:r>
          </a:p>
          <a:p>
            <a:pPr>
              <a:spcBef>
                <a:spcPts val="300"/>
              </a:spcBef>
            </a:pPr>
            <a:r>
              <a:rPr sz="2100" b="1">
                <a:solidFill>
                  <a:srgbClr val="00853E"/>
                </a:solidFill>
              </a:rPr>
              <a:t>Anomaly Detection Task</a:t>
            </a:r>
          </a:p>
          <a:p>
            <a:pPr lvl="1">
              <a:spcBef>
                <a:spcPts val="300"/>
              </a:spcBef>
            </a:pPr>
            <a:r>
              <a:rPr sz="1800" b="0">
                <a:solidFill>
                  <a:srgbClr val="000000"/>
                </a:solidFill>
              </a:rPr>
              <a:t>Baseline: Isolation Forest on raw 50-sample windows</a:t>
            </a:r>
          </a:p>
          <a:p>
            <a:pPr lvl="1">
              <a:spcBef>
                <a:spcPts val="300"/>
              </a:spcBef>
            </a:pPr>
            <a:r>
              <a:rPr sz="1800" b="0">
                <a:solidFill>
                  <a:srgbClr val="000000"/>
                </a:solidFill>
              </a:rPr>
              <a:t>Proposed: Isolation Forest on Catch22 → SHAP-selected  |  Metrics: F1, AUC</a:t>
            </a:r>
          </a:p>
        </p:txBody>
      </p:sp>
      <p:sp>
        <p:nvSpPr>
          <p:cNvPr id="4" name="Slide Number Placeholder 3">
            <a:extLst>
              <a:ext uri="{FF2B5EF4-FFF2-40B4-BE49-F238E27FC236}">
                <a16:creationId xmlns:a16="http://schemas.microsoft.com/office/drawing/2014/main" id="{4622CC70-E94D-443E-911C-FC4AEB22D28F}"/>
              </a:ext>
            </a:extLst>
          </p:cNvPr>
          <p:cNvSpPr>
            <a:spLocks noGrp="1"/>
          </p:cNvSpPr>
          <p:nvPr>
            <p:ph type="sldNum" sz="quarter" idx="12"/>
          </p:nvPr>
        </p:nvSpPr>
        <p:spPr/>
        <p:txBody>
          <a:bodyPr/>
          <a:lstStyle/>
          <a:p>
            <a:fld id="{0A5CBF63-613C-4E8E-B1A0-D710C5F27341}" type="slidenum">
              <a:rPr lang="en-US" smtClean="0"/>
              <a:t>7</a:t>
            </a:fld>
            <a:endParaRPr lang="en-US"/>
          </a:p>
        </p:txBody>
      </p:sp>
      <p:sp>
        <p:nvSpPr>
          <p:cNvPr id="5" name="Rectangle 4"/>
          <p:cNvSpPr/>
          <p:nvPr/>
        </p:nvSpPr>
        <p:spPr>
          <a:xfrm>
            <a:off x="0" y="1444752"/>
            <a:ext cx="12188952" cy="50292"/>
          </a:xfrm>
          <a:prstGeom prst="rect">
            <a:avLst/>
          </a:prstGeom>
          <a:solidFill>
            <a:srgbClr val="0085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extLst>
      <p:ext uri="{BB962C8B-B14F-4D97-AF65-F5344CB8AC3E}">
        <p14:creationId xmlns:p14="http://schemas.microsoft.com/office/powerpoint/2010/main" val="260114857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678BF8-83E2-B2A4-2068-DF5A7CC027A3}"/>
              </a:ext>
            </a:extLst>
          </p:cNvPr>
          <p:cNvSpPr>
            <a:spLocks noGrp="1"/>
          </p:cNvSpPr>
          <p:nvPr>
            <p:ph type="title"/>
          </p:nvPr>
        </p:nvSpPr>
        <p:spPr/>
        <p:txBody>
          <a:bodyPr wrap="square"/>
          <a:lstStyle/>
          <a:p>
            <a:pPr>
              <a:spcBef>
                <a:spcPts val="300"/>
              </a:spcBef>
            </a:pPr>
            <a:r>
              <a:rPr sz="3000" b="0">
                <a:solidFill>
                  <a:srgbClr val="00853E"/>
                </a:solidFill>
              </a:rPr>
              <a:t>Results: Classification (UCR Datasets)</a:t>
            </a:r>
          </a:p>
        </p:txBody>
      </p:sp>
      <p:sp>
        <p:nvSpPr>
          <p:cNvPr id="3" name="Content Placeholder 2">
            <a:extLst>
              <a:ext uri="{FF2B5EF4-FFF2-40B4-BE49-F238E27FC236}">
                <a16:creationId xmlns:a16="http://schemas.microsoft.com/office/drawing/2014/main" id="{F93C1F33-7B7E-9D90-EF13-666DE0999804}"/>
              </a:ext>
            </a:extLst>
          </p:cNvPr>
          <p:cNvSpPr>
            <a:spLocks noGrp="1"/>
          </p:cNvSpPr>
          <p:nvPr>
            <p:ph idx="1"/>
          </p:nvPr>
        </p:nvSpPr>
        <p:spPr/>
        <p:txBody>
          <a:bodyPr wrap="square"/>
          <a:lstStyle/>
          <a:p>
            <a:pPr>
              <a:spcBef>
                <a:spcPts val="300"/>
              </a:spcBef>
            </a:pPr>
            <a:r>
              <a:rPr sz="1200" b="0">
                <a:solidFill>
                  <a:srgbClr val="000000"/>
                </a:solidFill>
              </a:rPr>
              <a:t/>
            </a:r>
          </a:p>
        </p:txBody>
      </p:sp>
      <p:sp>
        <p:nvSpPr>
          <p:cNvPr id="4" name="Slide Number Placeholder 3">
            <a:extLst>
              <a:ext uri="{FF2B5EF4-FFF2-40B4-BE49-F238E27FC236}">
                <a16:creationId xmlns:a16="http://schemas.microsoft.com/office/drawing/2014/main" id="{22B0E182-E09F-C7DA-E140-4ABF72CCF599}"/>
              </a:ext>
            </a:extLst>
          </p:cNvPr>
          <p:cNvSpPr>
            <a:spLocks noGrp="1"/>
          </p:cNvSpPr>
          <p:nvPr>
            <p:ph type="sldNum" sz="quarter" idx="12"/>
          </p:nvPr>
        </p:nvSpPr>
        <p:spPr/>
        <p:txBody>
          <a:bodyPr/>
          <a:lstStyle/>
          <a:p>
            <a:fld id="{0A5CBF63-613C-4E8E-B1A0-D710C5F27341}" type="slidenum">
              <a:rPr lang="en-US" smtClean="0"/>
              <a:t>8</a:t>
            </a:fld>
            <a:endParaRPr lang="en-US"/>
          </a:p>
        </p:txBody>
      </p:sp>
      <p:sp>
        <p:nvSpPr>
          <p:cNvPr id="5" name="Rectangle 4"/>
          <p:cNvSpPr/>
          <p:nvPr/>
        </p:nvSpPr>
        <p:spPr>
          <a:xfrm>
            <a:off x="0" y="1444752"/>
            <a:ext cx="12188952" cy="50292"/>
          </a:xfrm>
          <a:prstGeom prst="rect">
            <a:avLst/>
          </a:prstGeom>
          <a:solidFill>
            <a:srgbClr val="0085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1_classification_accuracy.png"/>
          <p:cNvPicPr>
            <a:picLocks noChangeAspect="1"/>
          </p:cNvPicPr>
          <p:nvPr/>
        </p:nvPicPr>
        <p:blipFill>
          <a:blip r:embed="rId2"/>
          <a:stretch>
            <a:fillRect/>
          </a:stretch>
        </p:blipFill>
        <p:spPr>
          <a:xfrm>
            <a:off x="365760" y="1554480"/>
            <a:ext cx="7772400" cy="4114800"/>
          </a:xfrm>
          <a:prstGeom prst="rect">
            <a:avLst/>
          </a:prstGeom>
        </p:spPr>
      </p:pic>
      <p:sp>
        <p:nvSpPr>
          <p:cNvPr id="7" name="TextBox 6"/>
          <p:cNvSpPr txBox="1"/>
          <p:nvPr/>
        </p:nvSpPr>
        <p:spPr>
          <a:xfrm>
            <a:off x="8321040" y="1645920"/>
            <a:ext cx="3657600" cy="365760"/>
          </a:xfrm>
          <a:prstGeom prst="rect">
            <a:avLst/>
          </a:prstGeom>
          <a:noFill/>
        </p:spPr>
        <p:txBody>
          <a:bodyPr wrap="square">
            <a:spAutoFit/>
          </a:bodyPr>
          <a:lstStyle/>
          <a:p>
            <a:r>
              <a:rPr sz="1700" b="1">
                <a:solidFill>
                  <a:srgbClr val="00853E"/>
                </a:solidFill>
              </a:rPr>
              <a:t>Key Findings:</a:t>
            </a:r>
          </a:p>
        </p:txBody>
      </p:sp>
      <p:sp>
        <p:nvSpPr>
          <p:cNvPr id="8" name="TextBox 7"/>
          <p:cNvSpPr txBox="1"/>
          <p:nvPr/>
        </p:nvSpPr>
        <p:spPr>
          <a:xfrm>
            <a:off x="8321040" y="2103120"/>
            <a:ext cx="3657600" cy="411480"/>
          </a:xfrm>
          <a:prstGeom prst="rect">
            <a:avLst/>
          </a:prstGeom>
          <a:noFill/>
        </p:spPr>
        <p:txBody>
          <a:bodyPr wrap="square">
            <a:spAutoFit/>
          </a:bodyPr>
          <a:lstStyle/>
          <a:p>
            <a:r>
              <a:rPr sz="1500" b="0">
                <a:solidFill>
                  <a:srgbClr val="000000"/>
                </a:solidFill>
              </a:rPr>
              <a:t>• SyntheticControl: Catch22 +6.3%</a:t>
            </a:r>
          </a:p>
        </p:txBody>
      </p:sp>
      <p:sp>
        <p:nvSpPr>
          <p:cNvPr id="9" name="TextBox 8"/>
          <p:cNvSpPr txBox="1"/>
          <p:nvPr/>
        </p:nvSpPr>
        <p:spPr>
          <a:xfrm>
            <a:off x="8321040" y="2542032"/>
            <a:ext cx="3657600" cy="411480"/>
          </a:xfrm>
          <a:prstGeom prst="rect">
            <a:avLst/>
          </a:prstGeom>
          <a:noFill/>
        </p:spPr>
        <p:txBody>
          <a:bodyPr wrap="square">
            <a:spAutoFit/>
          </a:bodyPr>
          <a:lstStyle/>
          <a:p>
            <a:r>
              <a:rPr sz="1500" b="0">
                <a:solidFill>
                  <a:srgbClr val="000000"/>
                </a:solidFill>
              </a:rPr>
              <a:t>• GunPoint: Catch22 +6.0%</a:t>
            </a:r>
          </a:p>
        </p:txBody>
      </p:sp>
      <p:sp>
        <p:nvSpPr>
          <p:cNvPr id="10" name="TextBox 9"/>
          <p:cNvSpPr txBox="1"/>
          <p:nvPr/>
        </p:nvSpPr>
        <p:spPr>
          <a:xfrm>
            <a:off x="8321040" y="2980944"/>
            <a:ext cx="3657600" cy="411480"/>
          </a:xfrm>
          <a:prstGeom prst="rect">
            <a:avLst/>
          </a:prstGeom>
          <a:noFill/>
        </p:spPr>
        <p:txBody>
          <a:bodyPr wrap="square">
            <a:spAutoFit/>
          </a:bodyPr>
          <a:lstStyle/>
          <a:p>
            <a:r>
              <a:rPr sz="1500" b="0">
                <a:solidFill>
                  <a:srgbClr val="000000"/>
                </a:solidFill>
              </a:rPr>
              <a:t>• ItalyPowerDemand: Raw wins</a:t>
            </a:r>
          </a:p>
        </p:txBody>
      </p:sp>
      <p:sp>
        <p:nvSpPr>
          <p:cNvPr id="11" name="TextBox 10"/>
          <p:cNvSpPr txBox="1"/>
          <p:nvPr/>
        </p:nvSpPr>
        <p:spPr>
          <a:xfrm>
            <a:off x="8321040" y="3419856"/>
            <a:ext cx="3657600" cy="411480"/>
          </a:xfrm>
          <a:prstGeom prst="rect">
            <a:avLst/>
          </a:prstGeom>
          <a:noFill/>
        </p:spPr>
        <p:txBody>
          <a:bodyPr wrap="square">
            <a:spAutoFit/>
          </a:bodyPr>
          <a:lstStyle/>
          <a:p>
            <a:r>
              <a:rPr sz="1500" b="0">
                <a:solidFill>
                  <a:srgbClr val="000000"/>
                </a:solidFill>
              </a:rPr>
              <a:t>• (local shape patterns matter)</a:t>
            </a:r>
          </a:p>
        </p:txBody>
      </p:sp>
      <p:sp>
        <p:nvSpPr>
          <p:cNvPr id="12" name="TextBox 11"/>
          <p:cNvSpPr txBox="1"/>
          <p:nvPr/>
        </p:nvSpPr>
        <p:spPr>
          <a:xfrm>
            <a:off x="8321040" y="3858768"/>
            <a:ext cx="3657600" cy="411480"/>
          </a:xfrm>
          <a:prstGeom prst="rect">
            <a:avLst/>
          </a:prstGeom>
          <a:noFill/>
        </p:spPr>
        <p:txBody>
          <a:bodyPr wrap="square">
            <a:spAutoFit/>
          </a:bodyPr>
          <a:lstStyle/>
          <a:p>
            <a:r>
              <a:rPr sz="1500" b="0">
                <a:solidFill>
                  <a:srgbClr val="000000"/>
                </a:solidFill>
              </a:rPr>
              <a:t>• SHAP pruning: 9/22 features</a:t>
            </a:r>
          </a:p>
        </p:txBody>
      </p:sp>
      <p:sp>
        <p:nvSpPr>
          <p:cNvPr id="13" name="TextBox 12"/>
          <p:cNvSpPr txBox="1"/>
          <p:nvPr/>
        </p:nvSpPr>
        <p:spPr>
          <a:xfrm>
            <a:off x="8321040" y="4297679"/>
            <a:ext cx="3657600" cy="411480"/>
          </a:xfrm>
          <a:prstGeom prst="rect">
            <a:avLst/>
          </a:prstGeom>
          <a:noFill/>
        </p:spPr>
        <p:txBody>
          <a:bodyPr wrap="square">
            <a:spAutoFit/>
          </a:bodyPr>
          <a:lstStyle/>
          <a:p>
            <a:r>
              <a:rPr sz="1500" b="0">
                <a:solidFill>
                  <a:srgbClr val="000000"/>
                </a:solidFill>
              </a:rPr>
              <a:t>• removed, zero accuracy loss</a:t>
            </a:r>
          </a:p>
        </p:txBody>
      </p:sp>
      <p:sp>
        <p:nvSpPr>
          <p:cNvPr id="14" name="TextBox 13"/>
          <p:cNvSpPr txBox="1"/>
          <p:nvPr/>
        </p:nvSpPr>
        <p:spPr>
          <a:xfrm>
            <a:off x="8321040" y="4736592"/>
            <a:ext cx="3657600" cy="411480"/>
          </a:xfrm>
          <a:prstGeom prst="rect">
            <a:avLst/>
          </a:prstGeom>
          <a:noFill/>
        </p:spPr>
        <p:txBody>
          <a:bodyPr wrap="square">
            <a:spAutoFit/>
          </a:bodyPr>
          <a:lstStyle/>
          <a:p>
            <a:r>
              <a:rPr sz="1500" b="0">
                <a:solidFill>
                  <a:srgbClr val="000000"/>
                </a:solidFill>
              </a:rPr>
              <a:t>• TwoLeadECG: tied</a:t>
            </a:r>
          </a:p>
        </p:txBody>
      </p:sp>
      <p:sp>
        <p:nvSpPr>
          <p:cNvPr id="15" name="TextBox 14"/>
          <p:cNvSpPr txBox="1"/>
          <p:nvPr/>
        </p:nvSpPr>
        <p:spPr>
          <a:xfrm>
            <a:off x="8321040" y="5175504"/>
            <a:ext cx="3657600" cy="411480"/>
          </a:xfrm>
          <a:prstGeom prst="rect">
            <a:avLst/>
          </a:prstGeom>
          <a:noFill/>
        </p:spPr>
        <p:txBody>
          <a:bodyPr wrap="square">
            <a:spAutoFit/>
          </a:bodyPr>
          <a:lstStyle/>
          <a:p>
            <a:r>
              <a:rPr sz="1500" b="0">
                <a:solidFill>
                  <a:srgbClr val="000000"/>
                </a:solidFill>
              </a:rPr>
              <a:t>• (only 23 training samples)</a:t>
            </a:r>
          </a:p>
        </p:txBody>
      </p:sp>
    </p:spTree>
    <p:extLst>
      <p:ext uri="{BB962C8B-B14F-4D97-AF65-F5344CB8AC3E}">
        <p14:creationId xmlns:p14="http://schemas.microsoft.com/office/powerpoint/2010/main" val="59809378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19164E-84E8-4FB2-8051-CB230F6D915C}"/>
              </a:ext>
            </a:extLst>
          </p:cNvPr>
          <p:cNvSpPr>
            <a:spLocks noGrp="1"/>
          </p:cNvSpPr>
          <p:nvPr>
            <p:ph type="title"/>
          </p:nvPr>
        </p:nvSpPr>
        <p:spPr/>
        <p:txBody>
          <a:bodyPr wrap="square"/>
          <a:lstStyle/>
          <a:p>
            <a:pPr>
              <a:spcBef>
                <a:spcPts val="300"/>
              </a:spcBef>
            </a:pPr>
            <a:r>
              <a:rPr sz="2800" b="0">
                <a:solidFill>
                  <a:srgbClr val="00853E"/>
                </a:solidFill>
              </a:rPr>
              <a:t>SHAP Feature Importance — GunPoint Dataset</a:t>
            </a:r>
          </a:p>
        </p:txBody>
      </p:sp>
      <p:sp>
        <p:nvSpPr>
          <p:cNvPr id="3" name="Content Placeholder 2">
            <a:extLst>
              <a:ext uri="{FF2B5EF4-FFF2-40B4-BE49-F238E27FC236}">
                <a16:creationId xmlns:a16="http://schemas.microsoft.com/office/drawing/2014/main" id="{613B13FA-5386-4E73-BB44-9A898AA7B251}"/>
              </a:ext>
            </a:extLst>
          </p:cNvPr>
          <p:cNvSpPr>
            <a:spLocks noGrp="1"/>
          </p:cNvSpPr>
          <p:nvPr>
            <p:ph idx="1"/>
          </p:nvPr>
        </p:nvSpPr>
        <p:spPr/>
        <p:txBody>
          <a:bodyPr wrap="square"/>
          <a:lstStyle/>
          <a:p>
            <a:pPr>
              <a:spcBef>
                <a:spcPts val="300"/>
              </a:spcBef>
            </a:pPr>
            <a:r>
              <a:rPr sz="1200" b="0">
                <a:solidFill>
                  <a:srgbClr val="000000"/>
                </a:solidFill>
              </a:rPr>
              <a:t/>
            </a:r>
          </a:p>
        </p:txBody>
      </p:sp>
      <p:sp>
        <p:nvSpPr>
          <p:cNvPr id="4" name="Slide Number Placeholder 3">
            <a:extLst>
              <a:ext uri="{FF2B5EF4-FFF2-40B4-BE49-F238E27FC236}">
                <a16:creationId xmlns:a16="http://schemas.microsoft.com/office/drawing/2014/main" id="{4622CC70-E94D-443E-911C-FC4AEB22D28F}"/>
              </a:ext>
            </a:extLst>
          </p:cNvPr>
          <p:cNvSpPr>
            <a:spLocks noGrp="1"/>
          </p:cNvSpPr>
          <p:nvPr>
            <p:ph type="sldNum" sz="quarter" idx="12"/>
          </p:nvPr>
        </p:nvSpPr>
        <p:spPr/>
        <p:txBody>
          <a:bodyPr/>
          <a:lstStyle/>
          <a:p>
            <a:fld id="{0A5CBF63-613C-4E8E-B1A0-D710C5F27341}" type="slidenum">
              <a:rPr lang="en-US" smtClean="0"/>
              <a:t>9</a:t>
            </a:fld>
            <a:endParaRPr lang="en-US"/>
          </a:p>
        </p:txBody>
      </p:sp>
      <p:sp>
        <p:nvSpPr>
          <p:cNvPr id="5" name="Rectangle 4"/>
          <p:cNvSpPr/>
          <p:nvPr/>
        </p:nvSpPr>
        <p:spPr>
          <a:xfrm>
            <a:off x="0" y="1444752"/>
            <a:ext cx="12188952" cy="50292"/>
          </a:xfrm>
          <a:prstGeom prst="rect">
            <a:avLst/>
          </a:prstGeom>
          <a:solidFill>
            <a:srgbClr val="0085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3_shap_importance.png"/>
          <p:cNvPicPr>
            <a:picLocks noChangeAspect="1"/>
          </p:cNvPicPr>
          <p:nvPr/>
        </p:nvPicPr>
        <p:blipFill>
          <a:blip r:embed="rId2"/>
          <a:stretch>
            <a:fillRect/>
          </a:stretch>
        </p:blipFill>
        <p:spPr>
          <a:xfrm>
            <a:off x="365760" y="1554480"/>
            <a:ext cx="6858000" cy="5029200"/>
          </a:xfrm>
          <a:prstGeom prst="rect">
            <a:avLst/>
          </a:prstGeom>
        </p:spPr>
      </p:pic>
      <p:sp>
        <p:nvSpPr>
          <p:cNvPr id="7" name="TextBox 6"/>
          <p:cNvSpPr txBox="1"/>
          <p:nvPr/>
        </p:nvSpPr>
        <p:spPr>
          <a:xfrm>
            <a:off x="7406640" y="1645920"/>
            <a:ext cx="4572000" cy="365760"/>
          </a:xfrm>
          <a:prstGeom prst="rect">
            <a:avLst/>
          </a:prstGeom>
          <a:noFill/>
        </p:spPr>
        <p:txBody>
          <a:bodyPr wrap="square">
            <a:spAutoFit/>
          </a:bodyPr>
          <a:lstStyle/>
          <a:p>
            <a:r>
              <a:rPr sz="1700" b="1">
                <a:solidFill>
                  <a:srgbClr val="00853E"/>
                </a:solidFill>
              </a:rPr>
              <a:t>How SHAP Guides Decisions:</a:t>
            </a:r>
          </a:p>
        </p:txBody>
      </p:sp>
      <p:sp>
        <p:nvSpPr>
          <p:cNvPr id="8" name="TextBox 7"/>
          <p:cNvSpPr txBox="1"/>
          <p:nvPr/>
        </p:nvSpPr>
        <p:spPr>
          <a:xfrm>
            <a:off x="7406640" y="2103120"/>
            <a:ext cx="4572000" cy="365760"/>
          </a:xfrm>
          <a:prstGeom prst="rect">
            <a:avLst/>
          </a:prstGeom>
          <a:noFill/>
        </p:spPr>
        <p:txBody>
          <a:bodyPr wrap="square">
            <a:spAutoFit/>
          </a:bodyPr>
          <a:lstStyle/>
          <a:p>
            <a:r>
              <a:rPr sz="1500" b="0">
                <a:solidFill>
                  <a:srgbClr val="000000"/>
                </a:solidFill>
              </a:rPr>
              <a:t>Top: acf_lag1, diff_variance,</a:t>
            </a:r>
          </a:p>
        </p:txBody>
      </p:sp>
      <p:sp>
        <p:nvSpPr>
          <p:cNvPr id="9" name="TextBox 8"/>
          <p:cNvSpPr txBox="1"/>
          <p:nvPr/>
        </p:nvSpPr>
        <p:spPr>
          <a:xfrm>
            <a:off x="7406640" y="2496312"/>
            <a:ext cx="4572000" cy="365760"/>
          </a:xfrm>
          <a:prstGeom prst="rect">
            <a:avLst/>
          </a:prstGeom>
          <a:noFill/>
        </p:spPr>
        <p:txBody>
          <a:bodyPr wrap="square">
            <a:spAutoFit/>
          </a:bodyPr>
          <a:lstStyle/>
          <a:p>
            <a:r>
              <a:rPr sz="1500" b="0">
                <a:solidFill>
                  <a:srgbClr val="000000"/>
                </a:solidFill>
              </a:rPr>
              <a:t>hurst, acf_lag2</a:t>
            </a:r>
          </a:p>
        </p:txBody>
      </p:sp>
      <p:sp>
        <p:nvSpPr>
          <p:cNvPr id="10" name="TextBox 9"/>
          <p:cNvSpPr txBox="1"/>
          <p:nvPr/>
        </p:nvSpPr>
        <p:spPr>
          <a:xfrm>
            <a:off x="7406640" y="2889503"/>
            <a:ext cx="4572000" cy="365760"/>
          </a:xfrm>
          <a:prstGeom prst="rect">
            <a:avLst/>
          </a:prstGeom>
          <a:noFill/>
        </p:spPr>
        <p:txBody>
          <a:bodyPr wrap="square">
            <a:spAutoFit/>
          </a:bodyPr>
          <a:lstStyle/>
          <a:p>
            <a:r>
              <a:rPr sz="1500" b="0">
                <a:solidFill>
                  <a:srgbClr val="00853E"/>
                </a:solidFill>
              </a:rPr>
              <a:t>→ capture temporal dependence</a:t>
            </a:r>
          </a:p>
        </p:txBody>
      </p:sp>
      <p:sp>
        <p:nvSpPr>
          <p:cNvPr id="11" name="TextBox 10"/>
          <p:cNvSpPr txBox="1"/>
          <p:nvPr/>
        </p:nvSpPr>
        <p:spPr>
          <a:xfrm>
            <a:off x="7406640" y="3282696"/>
            <a:ext cx="4572000" cy="365760"/>
          </a:xfrm>
          <a:prstGeom prst="rect">
            <a:avLst/>
          </a:prstGeom>
          <a:noFill/>
        </p:spPr>
        <p:txBody>
          <a:bodyPr wrap="square">
            <a:spAutoFit/>
          </a:bodyPr>
          <a:lstStyle/>
          <a:p>
            <a:r>
              <a:rPr sz="1500" b="0">
                <a:solidFill>
                  <a:srgbClr val="000000"/>
                </a:solidFill>
              </a:rPr>
              <a:t>and signal roughness</a:t>
            </a:r>
          </a:p>
        </p:txBody>
      </p:sp>
      <p:sp>
        <p:nvSpPr>
          <p:cNvPr id="12" name="TextBox 11"/>
          <p:cNvSpPr txBox="1"/>
          <p:nvPr/>
        </p:nvSpPr>
        <p:spPr>
          <a:xfrm>
            <a:off x="7406640" y="3675887"/>
            <a:ext cx="4572000" cy="365760"/>
          </a:xfrm>
          <a:prstGeom prst="rect">
            <a:avLst/>
          </a:prstGeom>
          <a:noFill/>
        </p:spPr>
        <p:txBody>
          <a:bodyPr wrap="square">
            <a:spAutoFit/>
          </a:bodyPr>
          <a:lstStyle/>
          <a:p>
            <a:r>
              <a:rPr sz="1500" b="0">
                <a:solidFill>
                  <a:srgbClr val="000000"/>
                </a:solidFill>
              </a:rPr>
              <a:t/>
            </a:r>
          </a:p>
        </p:txBody>
      </p:sp>
      <p:sp>
        <p:nvSpPr>
          <p:cNvPr id="13" name="TextBox 12"/>
          <p:cNvSpPr txBox="1"/>
          <p:nvPr/>
        </p:nvSpPr>
        <p:spPr>
          <a:xfrm>
            <a:off x="7406640" y="4069079"/>
            <a:ext cx="4572000" cy="365760"/>
          </a:xfrm>
          <a:prstGeom prst="rect">
            <a:avLst/>
          </a:prstGeom>
          <a:noFill/>
        </p:spPr>
        <p:txBody>
          <a:bodyPr wrap="square">
            <a:spAutoFit/>
          </a:bodyPr>
          <a:lstStyle/>
          <a:p>
            <a:r>
              <a:rPr sz="1500" b="0">
                <a:solidFill>
                  <a:srgbClr val="000000"/>
                </a:solidFill>
              </a:rPr>
              <a:t>Pruned: hist_entropy, peak_freq</a:t>
            </a:r>
          </a:p>
        </p:txBody>
      </p:sp>
      <p:sp>
        <p:nvSpPr>
          <p:cNvPr id="14" name="TextBox 13"/>
          <p:cNvSpPr txBox="1"/>
          <p:nvPr/>
        </p:nvSpPr>
        <p:spPr>
          <a:xfrm>
            <a:off x="7406640" y="4462272"/>
            <a:ext cx="4572000" cy="365760"/>
          </a:xfrm>
          <a:prstGeom prst="rect">
            <a:avLst/>
          </a:prstGeom>
          <a:noFill/>
        </p:spPr>
        <p:txBody>
          <a:bodyPr wrap="square">
            <a:spAutoFit/>
          </a:bodyPr>
          <a:lstStyle/>
          <a:p>
            <a:r>
              <a:rPr sz="1500" b="0">
                <a:solidFill>
                  <a:srgbClr val="00853E"/>
                </a:solidFill>
              </a:rPr>
              <a:t>→ removed without accuracy loss</a:t>
            </a:r>
          </a:p>
        </p:txBody>
      </p:sp>
      <p:sp>
        <p:nvSpPr>
          <p:cNvPr id="15" name="TextBox 14"/>
          <p:cNvSpPr txBox="1"/>
          <p:nvPr/>
        </p:nvSpPr>
        <p:spPr>
          <a:xfrm>
            <a:off x="7406640" y="4855464"/>
            <a:ext cx="4572000" cy="365760"/>
          </a:xfrm>
          <a:prstGeom prst="rect">
            <a:avLst/>
          </a:prstGeom>
          <a:noFill/>
        </p:spPr>
        <p:txBody>
          <a:bodyPr wrap="square">
            <a:spAutoFit/>
          </a:bodyPr>
          <a:lstStyle/>
          <a:p>
            <a:r>
              <a:rPr sz="1500" b="0">
                <a:solidFill>
                  <a:srgbClr val="000000"/>
                </a:solidFill>
              </a:rPr>
              <a:t/>
            </a:r>
          </a:p>
        </p:txBody>
      </p:sp>
      <p:sp>
        <p:nvSpPr>
          <p:cNvPr id="16" name="TextBox 15"/>
          <p:cNvSpPr txBox="1"/>
          <p:nvPr/>
        </p:nvSpPr>
        <p:spPr>
          <a:xfrm>
            <a:off x="7406640" y="5248656"/>
            <a:ext cx="4572000" cy="365760"/>
          </a:xfrm>
          <a:prstGeom prst="rect">
            <a:avLst/>
          </a:prstGeom>
          <a:noFill/>
        </p:spPr>
        <p:txBody>
          <a:bodyPr wrap="square">
            <a:spAutoFit/>
          </a:bodyPr>
          <a:lstStyle/>
          <a:p>
            <a:r>
              <a:rPr sz="1500" b="0">
                <a:solidFill>
                  <a:srgbClr val="000000"/>
                </a:solidFill>
              </a:rPr>
              <a:t>22 → 13 features (40% reduction)</a:t>
            </a:r>
          </a:p>
        </p:txBody>
      </p:sp>
      <p:sp>
        <p:nvSpPr>
          <p:cNvPr id="17" name="TextBox 16"/>
          <p:cNvSpPr txBox="1"/>
          <p:nvPr/>
        </p:nvSpPr>
        <p:spPr>
          <a:xfrm>
            <a:off x="7406640" y="5641848"/>
            <a:ext cx="4572000" cy="365760"/>
          </a:xfrm>
          <a:prstGeom prst="rect">
            <a:avLst/>
          </a:prstGeom>
          <a:noFill/>
        </p:spPr>
        <p:txBody>
          <a:bodyPr wrap="square">
            <a:spAutoFit/>
          </a:bodyPr>
          <a:lstStyle/>
          <a:p>
            <a:r>
              <a:rPr sz="1500" b="0">
                <a:solidFill>
                  <a:srgbClr val="000000"/>
                </a:solidFill>
              </a:rPr>
              <a:t>XAI used as a design tool,</a:t>
            </a:r>
          </a:p>
        </p:txBody>
      </p:sp>
      <p:sp>
        <p:nvSpPr>
          <p:cNvPr id="18" name="TextBox 17"/>
          <p:cNvSpPr txBox="1"/>
          <p:nvPr/>
        </p:nvSpPr>
        <p:spPr>
          <a:xfrm>
            <a:off x="7406640" y="6035040"/>
            <a:ext cx="4572000" cy="365760"/>
          </a:xfrm>
          <a:prstGeom prst="rect">
            <a:avLst/>
          </a:prstGeom>
          <a:noFill/>
        </p:spPr>
        <p:txBody>
          <a:bodyPr wrap="square">
            <a:spAutoFit/>
          </a:bodyPr>
          <a:lstStyle/>
          <a:p>
            <a:r>
              <a:rPr sz="1500" b="0">
                <a:solidFill>
                  <a:srgbClr val="000000"/>
                </a:solidFill>
              </a:rPr>
              <a:t>not just post-hoc reporting</a:t>
            </a:r>
          </a:p>
        </p:txBody>
      </p:sp>
    </p:spTree>
    <p:extLst>
      <p:ext uri="{BB962C8B-B14F-4D97-AF65-F5344CB8AC3E}">
        <p14:creationId xmlns:p14="http://schemas.microsoft.com/office/powerpoint/2010/main" val="192700031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224CBC-2808-4E23-80B2-9E171CC29953}"/>
              </a:ext>
            </a:extLst>
          </p:cNvPr>
          <p:cNvSpPr>
            <a:spLocks noGrp="1"/>
          </p:cNvSpPr>
          <p:nvPr>
            <p:ph type="title"/>
          </p:nvPr>
        </p:nvSpPr>
        <p:spPr/>
        <p:txBody>
          <a:bodyPr wrap="square"/>
          <a:lstStyle/>
          <a:p>
            <a:pPr>
              <a:spcBef>
                <a:spcPts val="300"/>
              </a:spcBef>
            </a:pPr>
            <a:r>
              <a:rPr sz="2800" b="0">
                <a:solidFill>
                  <a:srgbClr val="00853E"/>
                </a:solidFill>
              </a:rPr>
              <a:t>Results: Forecasting (ETTh1 — Oil Temperature)</a:t>
            </a:r>
          </a:p>
        </p:txBody>
      </p:sp>
      <p:sp>
        <p:nvSpPr>
          <p:cNvPr id="3" name="Content Placeholder 2">
            <a:extLst>
              <a:ext uri="{FF2B5EF4-FFF2-40B4-BE49-F238E27FC236}">
                <a16:creationId xmlns:a16="http://schemas.microsoft.com/office/drawing/2014/main" id="{82042E1A-E850-4E77-ADD8-475691D00942}"/>
              </a:ext>
            </a:extLst>
          </p:cNvPr>
          <p:cNvSpPr>
            <a:spLocks noGrp="1"/>
          </p:cNvSpPr>
          <p:nvPr>
            <p:ph idx="1"/>
          </p:nvPr>
        </p:nvSpPr>
        <p:spPr/>
        <p:txBody>
          <a:bodyPr wrap="square"/>
          <a:lstStyle/>
          <a:p>
            <a:pPr>
              <a:spcBef>
                <a:spcPts val="300"/>
              </a:spcBef>
            </a:pPr>
            <a:r>
              <a:rPr sz="1200" b="0">
                <a:solidFill>
                  <a:srgbClr val="000000"/>
                </a:solidFill>
              </a:rPr>
              <a:t/>
            </a:r>
          </a:p>
        </p:txBody>
      </p:sp>
      <p:sp>
        <p:nvSpPr>
          <p:cNvPr id="4" name="Slide Number Placeholder 3">
            <a:extLst>
              <a:ext uri="{FF2B5EF4-FFF2-40B4-BE49-F238E27FC236}">
                <a16:creationId xmlns:a16="http://schemas.microsoft.com/office/drawing/2014/main" id="{4471D03B-ED1B-4F5E-B67B-27646B683320}"/>
              </a:ext>
            </a:extLst>
          </p:cNvPr>
          <p:cNvSpPr>
            <a:spLocks noGrp="1"/>
          </p:cNvSpPr>
          <p:nvPr>
            <p:ph type="sldNum" sz="quarter" idx="12"/>
          </p:nvPr>
        </p:nvSpPr>
        <p:spPr/>
        <p:txBody>
          <a:bodyPr/>
          <a:lstStyle/>
          <a:p>
            <a:fld id="{0A5CBF63-613C-4E8E-B1A0-D710C5F27341}" type="slidenum">
              <a:rPr lang="en-US" smtClean="0"/>
              <a:t>10</a:t>
            </a:fld>
            <a:endParaRPr lang="en-US"/>
          </a:p>
        </p:txBody>
      </p:sp>
      <p:sp>
        <p:nvSpPr>
          <p:cNvPr id="5" name="Rectangle 4"/>
          <p:cNvSpPr/>
          <p:nvPr/>
        </p:nvSpPr>
        <p:spPr>
          <a:xfrm>
            <a:off x="0" y="1444752"/>
            <a:ext cx="12188952" cy="50292"/>
          </a:xfrm>
          <a:prstGeom prst="rect">
            <a:avLst/>
          </a:prstGeom>
          <a:solidFill>
            <a:srgbClr val="0085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4_forecasting_metrics.png"/>
          <p:cNvPicPr>
            <a:picLocks noChangeAspect="1"/>
          </p:cNvPicPr>
          <p:nvPr/>
        </p:nvPicPr>
        <p:blipFill>
          <a:blip r:embed="rId2"/>
          <a:stretch>
            <a:fillRect/>
          </a:stretch>
        </p:blipFill>
        <p:spPr>
          <a:xfrm>
            <a:off x="365760" y="1554480"/>
            <a:ext cx="7132320" cy="2743200"/>
          </a:xfrm>
          <a:prstGeom prst="rect">
            <a:avLst/>
          </a:prstGeom>
        </p:spPr>
      </p:pic>
      <p:pic>
        <p:nvPicPr>
          <p:cNvPr id="7" name="Picture 6" descr="fig5_forecast_vs_actual.png"/>
          <p:cNvPicPr>
            <a:picLocks noChangeAspect="1"/>
          </p:cNvPicPr>
          <p:nvPr/>
        </p:nvPicPr>
        <p:blipFill>
          <a:blip r:embed="rId3"/>
          <a:stretch>
            <a:fillRect/>
          </a:stretch>
        </p:blipFill>
        <p:spPr>
          <a:xfrm>
            <a:off x="365760" y="4389120"/>
            <a:ext cx="7132320" cy="2286000"/>
          </a:xfrm>
          <a:prstGeom prst="rect">
            <a:avLst/>
          </a:prstGeom>
        </p:spPr>
      </p:pic>
      <p:sp>
        <p:nvSpPr>
          <p:cNvPr id="8" name="TextBox 7"/>
          <p:cNvSpPr txBox="1"/>
          <p:nvPr/>
        </p:nvSpPr>
        <p:spPr>
          <a:xfrm>
            <a:off x="7680960" y="1645920"/>
            <a:ext cx="4297680" cy="365760"/>
          </a:xfrm>
          <a:prstGeom prst="rect">
            <a:avLst/>
          </a:prstGeom>
          <a:noFill/>
        </p:spPr>
        <p:txBody>
          <a:bodyPr wrap="square">
            <a:spAutoFit/>
          </a:bodyPr>
          <a:lstStyle/>
          <a:p>
            <a:r>
              <a:rPr sz="1700" b="1">
                <a:solidFill>
                  <a:srgbClr val="00853E"/>
                </a:solidFill>
              </a:rPr>
              <a:t>Key Results:</a:t>
            </a:r>
          </a:p>
        </p:txBody>
      </p:sp>
      <p:sp>
        <p:nvSpPr>
          <p:cNvPr id="9" name="TextBox 8"/>
          <p:cNvSpPr txBox="1"/>
          <p:nvPr/>
        </p:nvSpPr>
        <p:spPr>
          <a:xfrm>
            <a:off x="7680960" y="2103120"/>
            <a:ext cx="4297680" cy="411480"/>
          </a:xfrm>
          <a:prstGeom prst="rect">
            <a:avLst/>
          </a:prstGeom>
          <a:noFill/>
        </p:spPr>
        <p:txBody>
          <a:bodyPr wrap="square">
            <a:spAutoFit/>
          </a:bodyPr>
          <a:lstStyle/>
          <a:p>
            <a:r>
              <a:rPr sz="1500" b="0">
                <a:solidFill>
                  <a:srgbClr val="000000"/>
                </a:solidFill>
              </a:rPr>
              <a:t>Raw (lag-1):     MSE = 1.285</a:t>
            </a:r>
          </a:p>
        </p:txBody>
      </p:sp>
      <p:sp>
        <p:nvSpPr>
          <p:cNvPr id="10" name="TextBox 9"/>
          <p:cNvSpPr txBox="1"/>
          <p:nvPr/>
        </p:nvSpPr>
        <p:spPr>
          <a:xfrm>
            <a:off x="7680960" y="2542032"/>
            <a:ext cx="4297680" cy="411480"/>
          </a:xfrm>
          <a:prstGeom prst="rect">
            <a:avLst/>
          </a:prstGeom>
          <a:noFill/>
        </p:spPr>
        <p:txBody>
          <a:bodyPr wrap="square">
            <a:spAutoFit/>
          </a:bodyPr>
          <a:lstStyle/>
          <a:p>
            <a:r>
              <a:rPr sz="1500" b="1">
                <a:solidFill>
                  <a:srgbClr val="00853E"/>
                </a:solidFill>
              </a:rPr>
              <a:t>Lag+Rolling:     MSE = 0.228  (−82%)</a:t>
            </a:r>
          </a:p>
        </p:txBody>
      </p:sp>
      <p:sp>
        <p:nvSpPr>
          <p:cNvPr id="11" name="TextBox 10"/>
          <p:cNvSpPr txBox="1"/>
          <p:nvPr/>
        </p:nvSpPr>
        <p:spPr>
          <a:xfrm>
            <a:off x="7680960" y="2980944"/>
            <a:ext cx="4297680" cy="411480"/>
          </a:xfrm>
          <a:prstGeom prst="rect">
            <a:avLst/>
          </a:prstGeom>
          <a:noFill/>
        </p:spPr>
        <p:txBody>
          <a:bodyPr wrap="square">
            <a:spAutoFit/>
          </a:bodyPr>
          <a:lstStyle/>
          <a:p>
            <a:r>
              <a:rPr sz="1500" b="0">
                <a:solidFill>
                  <a:srgbClr val="000000"/>
                </a:solidFill>
              </a:rPr>
              <a:t>+ Embeddings:    MSE = 0.337</a:t>
            </a:r>
          </a:p>
        </p:txBody>
      </p:sp>
      <p:sp>
        <p:nvSpPr>
          <p:cNvPr id="12" name="TextBox 11"/>
          <p:cNvSpPr txBox="1"/>
          <p:nvPr/>
        </p:nvSpPr>
        <p:spPr>
          <a:xfrm>
            <a:off x="7680960" y="3419856"/>
            <a:ext cx="4297680" cy="411480"/>
          </a:xfrm>
          <a:prstGeom prst="rect">
            <a:avLst/>
          </a:prstGeom>
          <a:noFill/>
        </p:spPr>
        <p:txBody>
          <a:bodyPr wrap="square">
            <a:spAutoFit/>
          </a:bodyPr>
          <a:lstStyle/>
          <a:p>
            <a:r>
              <a:rPr sz="1500" b="1">
                <a:solidFill>
                  <a:srgbClr val="00853E"/>
                </a:solidFill>
              </a:rPr>
              <a:t>+ SHAP Prune:    MSE = 0.230  (−82%)</a:t>
            </a:r>
          </a:p>
        </p:txBody>
      </p:sp>
      <p:sp>
        <p:nvSpPr>
          <p:cNvPr id="13" name="TextBox 12"/>
          <p:cNvSpPr txBox="1"/>
          <p:nvPr/>
        </p:nvSpPr>
        <p:spPr>
          <a:xfrm>
            <a:off x="7680960" y="3858768"/>
            <a:ext cx="4297680" cy="411480"/>
          </a:xfrm>
          <a:prstGeom prst="rect">
            <a:avLst/>
          </a:prstGeom>
          <a:noFill/>
        </p:spPr>
        <p:txBody>
          <a:bodyPr wrap="square">
            <a:spAutoFit/>
          </a:bodyPr>
          <a:lstStyle/>
          <a:p>
            <a:r>
              <a:rPr sz="1500" b="0">
                <a:solidFill>
                  <a:srgbClr val="000000"/>
                </a:solidFill>
              </a:rPr>
              <a:t/>
            </a:r>
          </a:p>
        </p:txBody>
      </p:sp>
      <p:sp>
        <p:nvSpPr>
          <p:cNvPr id="14" name="TextBox 13"/>
          <p:cNvSpPr txBox="1"/>
          <p:nvPr/>
        </p:nvSpPr>
        <p:spPr>
          <a:xfrm>
            <a:off x="7680960" y="4297679"/>
            <a:ext cx="4297680" cy="411480"/>
          </a:xfrm>
          <a:prstGeom prst="rect">
            <a:avLst/>
          </a:prstGeom>
          <a:noFill/>
        </p:spPr>
        <p:txBody>
          <a:bodyPr wrap="square">
            <a:spAutoFit/>
          </a:bodyPr>
          <a:lstStyle/>
          <a:p>
            <a:r>
              <a:rPr sz="1500" b="0">
                <a:solidFill>
                  <a:srgbClr val="000000"/>
                </a:solidFill>
              </a:rPr>
              <a:t>SHAP removed 12/28 features</a:t>
            </a:r>
          </a:p>
        </p:txBody>
      </p:sp>
      <p:sp>
        <p:nvSpPr>
          <p:cNvPr id="15" name="TextBox 14"/>
          <p:cNvSpPr txBox="1"/>
          <p:nvPr/>
        </p:nvSpPr>
        <p:spPr>
          <a:xfrm>
            <a:off x="7680960" y="4736592"/>
            <a:ext cx="4297680" cy="411480"/>
          </a:xfrm>
          <a:prstGeom prst="rect">
            <a:avLst/>
          </a:prstGeom>
          <a:noFill/>
        </p:spPr>
        <p:txBody>
          <a:bodyPr wrap="square">
            <a:spAutoFit/>
          </a:bodyPr>
          <a:lstStyle/>
          <a:p>
            <a:r>
              <a:rPr sz="1500" b="0">
                <a:solidFill>
                  <a:srgbClr val="000000"/>
                </a:solidFill>
              </a:rPr>
              <a:t>with no MSE increase</a:t>
            </a:r>
          </a:p>
        </p:txBody>
      </p:sp>
      <p:sp>
        <p:nvSpPr>
          <p:cNvPr id="16" name="TextBox 15"/>
          <p:cNvSpPr txBox="1"/>
          <p:nvPr/>
        </p:nvSpPr>
        <p:spPr>
          <a:xfrm>
            <a:off x="7680960" y="5175504"/>
            <a:ext cx="4297680" cy="411480"/>
          </a:xfrm>
          <a:prstGeom prst="rect">
            <a:avLst/>
          </a:prstGeom>
          <a:noFill/>
        </p:spPr>
        <p:txBody>
          <a:bodyPr wrap="square">
            <a:spAutoFit/>
          </a:bodyPr>
          <a:lstStyle/>
          <a:p>
            <a:r>
              <a:rPr sz="1500" b="0">
                <a:solidFill>
                  <a:srgbClr val="000000"/>
                </a:solidFill>
              </a:rPr>
              <a:t>Self-supervised embeddings did</a:t>
            </a:r>
          </a:p>
        </p:txBody>
      </p:sp>
      <p:sp>
        <p:nvSpPr>
          <p:cNvPr id="17" name="TextBox 16"/>
          <p:cNvSpPr txBox="1"/>
          <p:nvPr/>
        </p:nvSpPr>
        <p:spPr>
          <a:xfrm>
            <a:off x="7680960" y="5614416"/>
            <a:ext cx="4297680" cy="411480"/>
          </a:xfrm>
          <a:prstGeom prst="rect">
            <a:avLst/>
          </a:prstGeom>
          <a:noFill/>
        </p:spPr>
        <p:txBody>
          <a:bodyPr wrap="square">
            <a:spAutoFit/>
          </a:bodyPr>
          <a:lstStyle/>
          <a:p>
            <a:r>
              <a:rPr sz="1500" b="0">
                <a:solidFill>
                  <a:srgbClr val="000000"/>
                </a:solidFill>
              </a:rPr>
              <a:t>not outperform explicit statistics</a:t>
            </a:r>
          </a:p>
        </p:txBody>
      </p:sp>
    </p:spTree>
    <p:extLst>
      <p:ext uri="{BB962C8B-B14F-4D97-AF65-F5344CB8AC3E}">
        <p14:creationId xmlns:p14="http://schemas.microsoft.com/office/powerpoint/2010/main" val="382951247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00A557-ABC3-498E-8D75-55910301470D}"/>
              </a:ext>
            </a:extLst>
          </p:cNvPr>
          <p:cNvSpPr>
            <a:spLocks noGrp="1"/>
          </p:cNvSpPr>
          <p:nvPr>
            <p:ph type="title"/>
          </p:nvPr>
        </p:nvSpPr>
        <p:spPr/>
        <p:txBody>
          <a:bodyPr wrap="square"/>
          <a:lstStyle/>
          <a:p>
            <a:pPr>
              <a:spcBef>
                <a:spcPts val="300"/>
              </a:spcBef>
            </a:pPr>
            <a:r>
              <a:rPr sz="2800" b="0">
                <a:solidFill>
                  <a:srgbClr val="00853E"/>
                </a:solidFill>
              </a:rPr>
              <a:t>Results: Anomaly Detection (WESAD-like PPG)</a:t>
            </a:r>
          </a:p>
        </p:txBody>
      </p:sp>
      <p:sp>
        <p:nvSpPr>
          <p:cNvPr id="3" name="Content Placeholder 2">
            <a:extLst>
              <a:ext uri="{FF2B5EF4-FFF2-40B4-BE49-F238E27FC236}">
                <a16:creationId xmlns:a16="http://schemas.microsoft.com/office/drawing/2014/main" id="{42BB6EC8-1378-436A-8E54-41C41CE22B90}"/>
              </a:ext>
            </a:extLst>
          </p:cNvPr>
          <p:cNvSpPr>
            <a:spLocks noGrp="1"/>
          </p:cNvSpPr>
          <p:nvPr>
            <p:ph idx="1"/>
          </p:nvPr>
        </p:nvSpPr>
        <p:spPr/>
        <p:txBody>
          <a:bodyPr wrap="square"/>
          <a:lstStyle/>
          <a:p>
            <a:pPr>
              <a:spcBef>
                <a:spcPts val="300"/>
              </a:spcBef>
            </a:pPr>
            <a:r>
              <a:rPr sz="1200" b="0">
                <a:solidFill>
                  <a:srgbClr val="000000"/>
                </a:solidFill>
              </a:rPr>
              <a:t/>
            </a:r>
          </a:p>
        </p:txBody>
      </p:sp>
      <p:sp>
        <p:nvSpPr>
          <p:cNvPr id="4" name="Slide Number Placeholder 3">
            <a:extLst>
              <a:ext uri="{FF2B5EF4-FFF2-40B4-BE49-F238E27FC236}">
                <a16:creationId xmlns:a16="http://schemas.microsoft.com/office/drawing/2014/main" id="{4F615013-5B10-4E1F-8C90-F488589DEB38}"/>
              </a:ext>
            </a:extLst>
          </p:cNvPr>
          <p:cNvSpPr>
            <a:spLocks noGrp="1"/>
          </p:cNvSpPr>
          <p:nvPr>
            <p:ph type="sldNum" sz="quarter" idx="12"/>
          </p:nvPr>
        </p:nvSpPr>
        <p:spPr/>
        <p:txBody>
          <a:bodyPr/>
          <a:lstStyle/>
          <a:p>
            <a:fld id="{0A5CBF63-613C-4E8E-B1A0-D710C5F27341}" type="slidenum">
              <a:rPr lang="en-US" smtClean="0"/>
              <a:t>11</a:t>
            </a:fld>
            <a:endParaRPr lang="en-US"/>
          </a:p>
        </p:txBody>
      </p:sp>
      <p:sp>
        <p:nvSpPr>
          <p:cNvPr id="5" name="Rectangle 4"/>
          <p:cNvSpPr/>
          <p:nvPr/>
        </p:nvSpPr>
        <p:spPr>
          <a:xfrm>
            <a:off x="0" y="1444752"/>
            <a:ext cx="12188952" cy="50292"/>
          </a:xfrm>
          <a:prstGeom prst="rect">
            <a:avLst/>
          </a:prstGeom>
          <a:solidFill>
            <a:srgbClr val="0085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6_anomaly_signal.png"/>
          <p:cNvPicPr>
            <a:picLocks noChangeAspect="1"/>
          </p:cNvPicPr>
          <p:nvPr/>
        </p:nvPicPr>
        <p:blipFill>
          <a:blip r:embed="rId2"/>
          <a:stretch>
            <a:fillRect/>
          </a:stretch>
        </p:blipFill>
        <p:spPr>
          <a:xfrm>
            <a:off x="365760" y="1554480"/>
            <a:ext cx="7772400" cy="2286000"/>
          </a:xfrm>
          <a:prstGeom prst="rect">
            <a:avLst/>
          </a:prstGeom>
        </p:spPr>
      </p:pic>
      <p:pic>
        <p:nvPicPr>
          <p:cNvPr id="7" name="Picture 6" descr="fig7_anomaly_metrics.png"/>
          <p:cNvPicPr>
            <a:picLocks noChangeAspect="1"/>
          </p:cNvPicPr>
          <p:nvPr/>
        </p:nvPicPr>
        <p:blipFill>
          <a:blip r:embed="rId3"/>
          <a:stretch>
            <a:fillRect/>
          </a:stretch>
        </p:blipFill>
        <p:spPr>
          <a:xfrm>
            <a:off x="365760" y="3931920"/>
            <a:ext cx="7772400" cy="2651760"/>
          </a:xfrm>
          <a:prstGeom prst="rect">
            <a:avLst/>
          </a:prstGeom>
        </p:spPr>
      </p:pic>
      <p:sp>
        <p:nvSpPr>
          <p:cNvPr id="8" name="TextBox 7"/>
          <p:cNvSpPr txBox="1"/>
          <p:nvPr/>
        </p:nvSpPr>
        <p:spPr>
          <a:xfrm>
            <a:off x="8321040" y="1645920"/>
            <a:ext cx="3657600" cy="365760"/>
          </a:xfrm>
          <a:prstGeom prst="rect">
            <a:avLst/>
          </a:prstGeom>
          <a:noFill/>
        </p:spPr>
        <p:txBody>
          <a:bodyPr wrap="square">
            <a:spAutoFit/>
          </a:bodyPr>
          <a:lstStyle/>
          <a:p>
            <a:r>
              <a:rPr sz="1700" b="1">
                <a:solidFill>
                  <a:srgbClr val="00853E"/>
                </a:solidFill>
              </a:rPr>
              <a:t>Key Results:</a:t>
            </a:r>
          </a:p>
        </p:txBody>
      </p:sp>
      <p:sp>
        <p:nvSpPr>
          <p:cNvPr id="9" name="TextBox 8"/>
          <p:cNvSpPr txBox="1"/>
          <p:nvPr/>
        </p:nvSpPr>
        <p:spPr>
          <a:xfrm>
            <a:off x="8321040" y="2103120"/>
            <a:ext cx="3657600" cy="411480"/>
          </a:xfrm>
          <a:prstGeom prst="rect">
            <a:avLst/>
          </a:prstGeom>
          <a:noFill/>
        </p:spPr>
        <p:txBody>
          <a:bodyPr wrap="square">
            <a:spAutoFit/>
          </a:bodyPr>
          <a:lstStyle/>
          <a:p>
            <a:r>
              <a:rPr sz="1500" b="0">
                <a:solidFill>
                  <a:srgbClr val="000000"/>
                </a:solidFill>
              </a:rPr>
              <a:t>Raw Windows:   F1 = 0.871</a:t>
            </a:r>
          </a:p>
        </p:txBody>
      </p:sp>
      <p:sp>
        <p:nvSpPr>
          <p:cNvPr id="10" name="TextBox 9"/>
          <p:cNvSpPr txBox="1"/>
          <p:nvPr/>
        </p:nvSpPr>
        <p:spPr>
          <a:xfrm>
            <a:off x="8321040" y="2542032"/>
            <a:ext cx="3657600" cy="411480"/>
          </a:xfrm>
          <a:prstGeom prst="rect">
            <a:avLst/>
          </a:prstGeom>
          <a:noFill/>
        </p:spPr>
        <p:txBody>
          <a:bodyPr wrap="square">
            <a:spAutoFit/>
          </a:bodyPr>
          <a:lstStyle/>
          <a:p>
            <a:r>
              <a:rPr sz="1500" b="0">
                <a:solidFill>
                  <a:srgbClr val="333333"/>
                </a:solidFill>
              </a:rPr>
              <a:t>Catch22 Only:  F1 = 0.581 ↓</a:t>
            </a:r>
          </a:p>
        </p:txBody>
      </p:sp>
      <p:sp>
        <p:nvSpPr>
          <p:cNvPr id="11" name="TextBox 10"/>
          <p:cNvSpPr txBox="1"/>
          <p:nvPr/>
        </p:nvSpPr>
        <p:spPr>
          <a:xfrm>
            <a:off x="8321040" y="2980944"/>
            <a:ext cx="3657600" cy="411480"/>
          </a:xfrm>
          <a:prstGeom prst="rect">
            <a:avLst/>
          </a:prstGeom>
          <a:noFill/>
        </p:spPr>
        <p:txBody>
          <a:bodyPr wrap="square">
            <a:spAutoFit/>
          </a:bodyPr>
          <a:lstStyle/>
          <a:p>
            <a:r>
              <a:rPr sz="1500" b="1">
                <a:solidFill>
                  <a:srgbClr val="00853E"/>
                </a:solidFill>
              </a:rPr>
              <a:t>Catch22+SHAP:  F1 = 0.710 ↑</a:t>
            </a:r>
          </a:p>
        </p:txBody>
      </p:sp>
      <p:sp>
        <p:nvSpPr>
          <p:cNvPr id="12" name="TextBox 11"/>
          <p:cNvSpPr txBox="1"/>
          <p:nvPr/>
        </p:nvSpPr>
        <p:spPr>
          <a:xfrm>
            <a:off x="8321040" y="3419856"/>
            <a:ext cx="3657600" cy="411480"/>
          </a:xfrm>
          <a:prstGeom prst="rect">
            <a:avLst/>
          </a:prstGeom>
          <a:noFill/>
        </p:spPr>
        <p:txBody>
          <a:bodyPr wrap="square">
            <a:spAutoFit/>
          </a:bodyPr>
          <a:lstStyle/>
          <a:p>
            <a:r>
              <a:rPr sz="1500" b="0">
                <a:solidFill>
                  <a:srgbClr val="000000"/>
                </a:solidFill>
              </a:rPr>
              <a:t/>
            </a:r>
          </a:p>
        </p:txBody>
      </p:sp>
      <p:sp>
        <p:nvSpPr>
          <p:cNvPr id="13" name="TextBox 12"/>
          <p:cNvSpPr txBox="1"/>
          <p:nvPr/>
        </p:nvSpPr>
        <p:spPr>
          <a:xfrm>
            <a:off x="8321040" y="3858768"/>
            <a:ext cx="3657600" cy="411480"/>
          </a:xfrm>
          <a:prstGeom prst="rect">
            <a:avLst/>
          </a:prstGeom>
          <a:noFill/>
        </p:spPr>
        <p:txBody>
          <a:bodyPr wrap="square">
            <a:spAutoFit/>
          </a:bodyPr>
          <a:lstStyle/>
          <a:p>
            <a:r>
              <a:rPr sz="1500" b="1">
                <a:solidFill>
                  <a:srgbClr val="000000"/>
                </a:solidFill>
              </a:rPr>
              <a:t>Why Catch22 hurt:</a:t>
            </a:r>
          </a:p>
        </p:txBody>
      </p:sp>
      <p:sp>
        <p:nvSpPr>
          <p:cNvPr id="14" name="TextBox 13"/>
          <p:cNvSpPr txBox="1"/>
          <p:nvPr/>
        </p:nvSpPr>
        <p:spPr>
          <a:xfrm>
            <a:off x="8321040" y="4297679"/>
            <a:ext cx="3657600" cy="411480"/>
          </a:xfrm>
          <a:prstGeom prst="rect">
            <a:avLst/>
          </a:prstGeom>
          <a:noFill/>
        </p:spPr>
        <p:txBody>
          <a:bodyPr wrap="square">
            <a:spAutoFit/>
          </a:bodyPr>
          <a:lstStyle/>
          <a:p>
            <a:r>
              <a:rPr sz="1500" b="0">
                <a:solidFill>
                  <a:srgbClr val="000000"/>
                </a:solidFill>
              </a:rPr>
              <a:t>Amplitude normalization</a:t>
            </a:r>
          </a:p>
        </p:txBody>
      </p:sp>
      <p:sp>
        <p:nvSpPr>
          <p:cNvPr id="15" name="TextBox 14"/>
          <p:cNvSpPr txBox="1"/>
          <p:nvPr/>
        </p:nvSpPr>
        <p:spPr>
          <a:xfrm>
            <a:off x="8321040" y="4736592"/>
            <a:ext cx="3657600" cy="411480"/>
          </a:xfrm>
          <a:prstGeom prst="rect">
            <a:avLst/>
          </a:prstGeom>
          <a:noFill/>
        </p:spPr>
        <p:txBody>
          <a:bodyPr wrap="square">
            <a:spAutoFit/>
          </a:bodyPr>
          <a:lstStyle/>
          <a:p>
            <a:r>
              <a:rPr sz="1500" b="0">
                <a:solidFill>
                  <a:srgbClr val="000000"/>
                </a:solidFill>
              </a:rPr>
              <a:t>masks spike anomalies</a:t>
            </a:r>
          </a:p>
        </p:txBody>
      </p:sp>
      <p:sp>
        <p:nvSpPr>
          <p:cNvPr id="16" name="TextBox 15"/>
          <p:cNvSpPr txBox="1"/>
          <p:nvPr/>
        </p:nvSpPr>
        <p:spPr>
          <a:xfrm>
            <a:off x="8321040" y="5175504"/>
            <a:ext cx="3657600" cy="411480"/>
          </a:xfrm>
          <a:prstGeom prst="rect">
            <a:avLst/>
          </a:prstGeom>
          <a:noFill/>
        </p:spPr>
        <p:txBody>
          <a:bodyPr wrap="square">
            <a:spAutoFit/>
          </a:bodyPr>
          <a:lstStyle/>
          <a:p>
            <a:r>
              <a:rPr sz="1500" b="0">
                <a:solidFill>
                  <a:srgbClr val="000000"/>
                </a:solidFill>
              </a:rPr>
              <a:t>SHAP selected diff_variance</a:t>
            </a:r>
          </a:p>
        </p:txBody>
      </p:sp>
      <p:sp>
        <p:nvSpPr>
          <p:cNvPr id="17" name="TextBox 16"/>
          <p:cNvSpPr txBox="1"/>
          <p:nvPr/>
        </p:nvSpPr>
        <p:spPr>
          <a:xfrm>
            <a:off x="8321040" y="5614416"/>
            <a:ext cx="3657600" cy="411480"/>
          </a:xfrm>
          <a:prstGeom prst="rect">
            <a:avLst/>
          </a:prstGeom>
          <a:noFill/>
        </p:spPr>
        <p:txBody>
          <a:bodyPr wrap="square">
            <a:spAutoFit/>
          </a:bodyPr>
          <a:lstStyle/>
          <a:p>
            <a:r>
              <a:rPr sz="1500" b="0">
                <a:solidFill>
                  <a:srgbClr val="000000"/>
                </a:solidFill>
              </a:rPr>
              <a:t>&amp; time_reversibility to</a:t>
            </a:r>
          </a:p>
        </p:txBody>
      </p:sp>
      <p:sp>
        <p:nvSpPr>
          <p:cNvPr id="18" name="TextBox 17"/>
          <p:cNvSpPr txBox="1"/>
          <p:nvPr/>
        </p:nvSpPr>
        <p:spPr>
          <a:xfrm>
            <a:off x="8321040" y="6053328"/>
            <a:ext cx="3657600" cy="411480"/>
          </a:xfrm>
          <a:prstGeom prst="rect">
            <a:avLst/>
          </a:prstGeom>
          <a:noFill/>
        </p:spPr>
        <p:txBody>
          <a:bodyPr wrap="square">
            <a:spAutoFit/>
          </a:bodyPr>
          <a:lstStyle/>
          <a:p>
            <a:r>
              <a:rPr sz="1500" b="0">
                <a:solidFill>
                  <a:srgbClr val="000000"/>
                </a:solidFill>
              </a:rPr>
              <a:t>recover F1 score</a:t>
            </a:r>
          </a:p>
        </p:txBody>
      </p:sp>
    </p:spTree>
    <p:extLst>
      <p:ext uri="{BB962C8B-B14F-4D97-AF65-F5344CB8AC3E}">
        <p14:creationId xmlns:p14="http://schemas.microsoft.com/office/powerpoint/2010/main" val="272436483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109994-B480-4FAC-AC64-328DC51C16B8}"/>
              </a:ext>
            </a:extLst>
          </p:cNvPr>
          <p:cNvSpPr>
            <a:spLocks noGrp="1"/>
          </p:cNvSpPr>
          <p:nvPr>
            <p:ph type="title"/>
          </p:nvPr>
        </p:nvSpPr>
        <p:spPr/>
        <p:txBody>
          <a:bodyPr wrap="square"/>
          <a:lstStyle/>
          <a:p>
            <a:pPr>
              <a:spcBef>
                <a:spcPts val="300"/>
              </a:spcBef>
            </a:pPr>
            <a:r>
              <a:rPr sz="3200" b="0">
                <a:solidFill>
                  <a:srgbClr val="00853E"/>
                </a:solidFill>
              </a:rPr>
              <a:t>Results Summary and Visualizations</a:t>
            </a:r>
          </a:p>
        </p:txBody>
      </p:sp>
      <p:sp>
        <p:nvSpPr>
          <p:cNvPr id="3" name="Content Placeholder 2">
            <a:extLst>
              <a:ext uri="{FF2B5EF4-FFF2-40B4-BE49-F238E27FC236}">
                <a16:creationId xmlns:a16="http://schemas.microsoft.com/office/drawing/2014/main" id="{A9B3D05C-2E96-4D9F-A497-D4E5DF41CB7D}"/>
              </a:ext>
            </a:extLst>
          </p:cNvPr>
          <p:cNvSpPr>
            <a:spLocks noGrp="1"/>
          </p:cNvSpPr>
          <p:nvPr>
            <p:ph idx="1"/>
          </p:nvPr>
        </p:nvSpPr>
        <p:spPr/>
        <p:txBody>
          <a:bodyPr wrap="square"/>
          <a:lstStyle/>
          <a:p>
            <a:pPr>
              <a:spcBef>
                <a:spcPts val="300"/>
              </a:spcBef>
            </a:pPr>
            <a:r>
              <a:rPr sz="1200" b="0">
                <a:solidFill>
                  <a:srgbClr val="000000"/>
                </a:solidFill>
              </a:rPr>
              <a:t/>
            </a:r>
          </a:p>
        </p:txBody>
      </p:sp>
      <p:sp>
        <p:nvSpPr>
          <p:cNvPr id="4" name="Slide Number Placeholder 3">
            <a:extLst>
              <a:ext uri="{FF2B5EF4-FFF2-40B4-BE49-F238E27FC236}">
                <a16:creationId xmlns:a16="http://schemas.microsoft.com/office/drawing/2014/main" id="{B7178E31-C4A1-457D-8329-E48C46A06169}"/>
              </a:ext>
            </a:extLst>
          </p:cNvPr>
          <p:cNvSpPr>
            <a:spLocks noGrp="1"/>
          </p:cNvSpPr>
          <p:nvPr>
            <p:ph type="sldNum" sz="quarter" idx="12"/>
          </p:nvPr>
        </p:nvSpPr>
        <p:spPr/>
        <p:txBody>
          <a:bodyPr/>
          <a:lstStyle/>
          <a:p>
            <a:fld id="{0A5CBF63-613C-4E8E-B1A0-D710C5F27341}" type="slidenum">
              <a:rPr lang="en-US" smtClean="0"/>
              <a:t>12</a:t>
            </a:fld>
            <a:endParaRPr lang="en-US"/>
          </a:p>
        </p:txBody>
      </p:sp>
      <p:sp>
        <p:nvSpPr>
          <p:cNvPr id="5" name="Rectangle 4"/>
          <p:cNvSpPr/>
          <p:nvPr/>
        </p:nvSpPr>
        <p:spPr>
          <a:xfrm>
            <a:off x="0" y="1444752"/>
            <a:ext cx="12188952" cy="50292"/>
          </a:xfrm>
          <a:prstGeom prst="rect">
            <a:avLst/>
          </a:prstGeom>
          <a:solidFill>
            <a:srgbClr val="0085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12_summary_heatmap.png"/>
          <p:cNvPicPr>
            <a:picLocks noChangeAspect="1"/>
          </p:cNvPicPr>
          <p:nvPr/>
        </p:nvPicPr>
        <p:blipFill>
          <a:blip r:embed="rId2"/>
          <a:stretch>
            <a:fillRect/>
          </a:stretch>
        </p:blipFill>
        <p:spPr>
          <a:xfrm>
            <a:off x="365760" y="1554480"/>
            <a:ext cx="6858000" cy="3291840"/>
          </a:xfrm>
          <a:prstGeom prst="rect">
            <a:avLst/>
          </a:prstGeom>
        </p:spPr>
      </p:pic>
      <p:pic>
        <p:nvPicPr>
          <p:cNvPr id="7" name="Picture 6" descr="fig9_pca_projection.png"/>
          <p:cNvPicPr>
            <a:picLocks noChangeAspect="1"/>
          </p:cNvPicPr>
          <p:nvPr/>
        </p:nvPicPr>
        <p:blipFill>
          <a:blip r:embed="rId3"/>
          <a:stretch>
            <a:fillRect/>
          </a:stretch>
        </p:blipFill>
        <p:spPr>
          <a:xfrm>
            <a:off x="7406640" y="1554480"/>
            <a:ext cx="4572000" cy="3291840"/>
          </a:xfrm>
          <a:prstGeom prst="rect">
            <a:avLst/>
          </a:prstGeom>
        </p:spPr>
      </p:pic>
      <p:pic>
        <p:nvPicPr>
          <p:cNvPr id="8" name="Picture 7" descr="fig8_feature_correlation.png"/>
          <p:cNvPicPr>
            <a:picLocks noChangeAspect="1"/>
          </p:cNvPicPr>
          <p:nvPr/>
        </p:nvPicPr>
        <p:blipFill>
          <a:blip r:embed="rId4"/>
          <a:stretch>
            <a:fillRect/>
          </a:stretch>
        </p:blipFill>
        <p:spPr>
          <a:xfrm>
            <a:off x="365760" y="4937760"/>
            <a:ext cx="5029200" cy="1737360"/>
          </a:xfrm>
          <a:prstGeom prst="rect">
            <a:avLst/>
          </a:prstGeom>
        </p:spPr>
      </p:pic>
      <p:pic>
        <p:nvPicPr>
          <p:cNvPr id="9" name="Picture 8" descr="fig10_forecasting_shap.png"/>
          <p:cNvPicPr>
            <a:picLocks noChangeAspect="1"/>
          </p:cNvPicPr>
          <p:nvPr/>
        </p:nvPicPr>
        <p:blipFill>
          <a:blip r:embed="rId5"/>
          <a:stretch>
            <a:fillRect/>
          </a:stretch>
        </p:blipFill>
        <p:spPr>
          <a:xfrm>
            <a:off x="5577840" y="4937760"/>
            <a:ext cx="6400800" cy="1737360"/>
          </a:xfrm>
          <a:prstGeom prst="rect">
            <a:avLst/>
          </a:prstGeom>
        </p:spPr>
      </p:pic>
    </p:spTree>
    <p:extLst>
      <p:ext uri="{BB962C8B-B14F-4D97-AF65-F5344CB8AC3E}">
        <p14:creationId xmlns:p14="http://schemas.microsoft.com/office/powerpoint/2010/main" val="275157262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7B94B9-376A-4457-BFB2-B85BAEC19CAF}"/>
              </a:ext>
            </a:extLst>
          </p:cNvPr>
          <p:cNvSpPr>
            <a:spLocks noGrp="1"/>
          </p:cNvSpPr>
          <p:nvPr>
            <p:ph type="title"/>
          </p:nvPr>
        </p:nvSpPr>
        <p:spPr/>
        <p:txBody>
          <a:bodyPr wrap="square"/>
          <a:lstStyle/>
          <a:p>
            <a:pPr>
              <a:spcBef>
                <a:spcPts val="300"/>
              </a:spcBef>
            </a:pPr>
            <a:r>
              <a:rPr sz="3600" b="0">
                <a:solidFill>
                  <a:srgbClr val="00853E"/>
                </a:solidFill>
              </a:rPr>
              <a:t>Discussion</a:t>
            </a:r>
          </a:p>
        </p:txBody>
      </p:sp>
      <p:sp>
        <p:nvSpPr>
          <p:cNvPr id="3" name="Content Placeholder 2">
            <a:extLst>
              <a:ext uri="{FF2B5EF4-FFF2-40B4-BE49-F238E27FC236}">
                <a16:creationId xmlns:a16="http://schemas.microsoft.com/office/drawing/2014/main" id="{09389926-2F28-4261-98C7-EBEE37734DC8}"/>
              </a:ext>
            </a:extLst>
          </p:cNvPr>
          <p:cNvSpPr>
            <a:spLocks noGrp="1"/>
          </p:cNvSpPr>
          <p:nvPr>
            <p:ph idx="1"/>
          </p:nvPr>
        </p:nvSpPr>
        <p:spPr/>
        <p:txBody>
          <a:bodyPr wrap="square"/>
          <a:lstStyle/>
          <a:p>
            <a:pPr>
              <a:spcBef>
                <a:spcPts val="300"/>
              </a:spcBef>
            </a:pPr>
            <a:r>
              <a:rPr sz="2100" b="1">
                <a:solidFill>
                  <a:srgbClr val="00853E"/>
                </a:solidFill>
              </a:rPr>
              <a:t>When Catch22 Works Best</a:t>
            </a:r>
          </a:p>
          <a:p>
            <a:pPr lvl="1">
              <a:spcBef>
                <a:spcPts val="300"/>
              </a:spcBef>
            </a:pPr>
            <a:r>
              <a:rPr sz="1800" b="0">
                <a:solidFill>
                  <a:srgbClr val="000000"/>
                </a:solidFill>
              </a:rPr>
              <a:t>Datasets where global statistics are discriminative (SyntheticControl, GunPoint)</a:t>
            </a:r>
          </a:p>
          <a:p>
            <a:pPr lvl="1">
              <a:spcBef>
                <a:spcPts val="300"/>
              </a:spcBef>
            </a:pPr>
            <a:r>
              <a:rPr sz="1800" b="0">
                <a:solidFill>
                  <a:srgbClr val="000000"/>
                </a:solidFill>
              </a:rPr>
              <a:t>Compresses 150+ time steps into 22 interpretable features efficiently</a:t>
            </a:r>
          </a:p>
          <a:p>
            <a:pPr>
              <a:spcBef>
                <a:spcPts val="300"/>
              </a:spcBef>
            </a:pPr>
            <a:r>
              <a:rPr sz="2100" b="1">
                <a:solidFill>
                  <a:srgbClr val="00853E"/>
                </a:solidFill>
              </a:rPr>
              <a:t>When Raw Features Win</a:t>
            </a:r>
          </a:p>
          <a:p>
            <a:pPr lvl="1">
              <a:spcBef>
                <a:spcPts val="300"/>
              </a:spcBef>
            </a:pPr>
            <a:r>
              <a:rPr sz="1800" b="0">
                <a:solidFill>
                  <a:srgbClr val="000000"/>
                </a:solidFill>
              </a:rPr>
              <a:t>ItalyPowerDemand: class defined by a sharp drop at a specific timestamp</a:t>
            </a:r>
          </a:p>
          <a:p>
            <a:pPr lvl="1">
              <a:spcBef>
                <a:spcPts val="300"/>
              </a:spcBef>
            </a:pPr>
            <a:r>
              <a:rPr sz="1800" b="0">
                <a:solidFill>
                  <a:srgbClr val="000000"/>
                </a:solidFill>
              </a:rPr>
              <a:t>Catch22 averages out local patterns — global features miss local timing</a:t>
            </a:r>
          </a:p>
          <a:p>
            <a:pPr>
              <a:spcBef>
                <a:spcPts val="300"/>
              </a:spcBef>
            </a:pPr>
            <a:r>
              <a:rPr sz="2100" b="1">
                <a:solidFill>
                  <a:srgbClr val="00853E"/>
                </a:solidFill>
              </a:rPr>
              <a:t>SHAP as an Active Design Tool</a:t>
            </a:r>
          </a:p>
          <a:p>
            <a:pPr lvl="1">
              <a:spcBef>
                <a:spcPts val="300"/>
              </a:spcBef>
            </a:pPr>
            <a:r>
              <a:rPr sz="1800" b="0">
                <a:solidFill>
                  <a:srgbClr val="000000"/>
                </a:solidFill>
              </a:rPr>
              <a:t>Reduced feature space by 40–45% across all three tasks</a:t>
            </a:r>
          </a:p>
          <a:p>
            <a:pPr lvl="1">
              <a:spcBef>
                <a:spcPts val="300"/>
              </a:spcBef>
            </a:pPr>
            <a:r>
              <a:rPr sz="1800" b="0">
                <a:solidFill>
                  <a:srgbClr val="000000"/>
                </a:solidFill>
              </a:rPr>
              <a:t>Faster inference, lower memory, more interpretable — critical for edge deployment</a:t>
            </a:r>
          </a:p>
          <a:p>
            <a:pPr>
              <a:spcBef>
                <a:spcPts val="300"/>
              </a:spcBef>
            </a:pPr>
            <a:r>
              <a:rPr sz="1800" b="0">
                <a:solidFill>
                  <a:srgbClr val="333333"/>
                </a:solidFill>
              </a:rPr>
              <a:t>Challenges: WESAD-like data is simulated; real wearable data may differ significantly</a:t>
            </a:r>
          </a:p>
        </p:txBody>
      </p:sp>
      <p:sp>
        <p:nvSpPr>
          <p:cNvPr id="4" name="Slide Number Placeholder 3">
            <a:extLst>
              <a:ext uri="{FF2B5EF4-FFF2-40B4-BE49-F238E27FC236}">
                <a16:creationId xmlns:a16="http://schemas.microsoft.com/office/drawing/2014/main" id="{66A9EFFA-09BB-4BC2-8A9B-647310BD2272}"/>
              </a:ext>
            </a:extLst>
          </p:cNvPr>
          <p:cNvSpPr>
            <a:spLocks noGrp="1"/>
          </p:cNvSpPr>
          <p:nvPr>
            <p:ph type="sldNum" sz="quarter" idx="12"/>
          </p:nvPr>
        </p:nvSpPr>
        <p:spPr/>
        <p:txBody>
          <a:bodyPr/>
          <a:lstStyle/>
          <a:p>
            <a:fld id="{0A5CBF63-613C-4E8E-B1A0-D710C5F27341}" type="slidenum">
              <a:rPr lang="en-US" smtClean="0"/>
              <a:t>13</a:t>
            </a:fld>
            <a:endParaRPr lang="en-US"/>
          </a:p>
        </p:txBody>
      </p:sp>
      <p:sp>
        <p:nvSpPr>
          <p:cNvPr id="5" name="Rectangle 4"/>
          <p:cNvSpPr/>
          <p:nvPr/>
        </p:nvSpPr>
        <p:spPr>
          <a:xfrm>
            <a:off x="0" y="1444752"/>
            <a:ext cx="12188952" cy="50292"/>
          </a:xfrm>
          <a:prstGeom prst="rect">
            <a:avLst/>
          </a:prstGeom>
          <a:solidFill>
            <a:srgbClr val="0085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extLst>
      <p:ext uri="{BB962C8B-B14F-4D97-AF65-F5344CB8AC3E}">
        <p14:creationId xmlns:p14="http://schemas.microsoft.com/office/powerpoint/2010/main" val="353187550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1E5E19-0F1B-45B3-ADAB-278B33B9FFB8}"/>
              </a:ext>
            </a:extLst>
          </p:cNvPr>
          <p:cNvSpPr>
            <a:spLocks noGrp="1"/>
          </p:cNvSpPr>
          <p:nvPr>
            <p:ph type="title"/>
          </p:nvPr>
        </p:nvSpPr>
        <p:spPr/>
        <p:txBody>
          <a:bodyPr/>
          <a:lstStyle/>
          <a:p>
            <a:r>
              <a:rPr lang="en-US" dirty="0"/>
              <a:t>Additional Presentation Tips</a:t>
            </a:r>
          </a:p>
        </p:txBody>
      </p:sp>
      <p:sp>
        <p:nvSpPr>
          <p:cNvPr id="3" name="Content Placeholder 2">
            <a:extLst>
              <a:ext uri="{FF2B5EF4-FFF2-40B4-BE49-F238E27FC236}">
                <a16:creationId xmlns:a16="http://schemas.microsoft.com/office/drawing/2014/main" id="{780007F2-EDE5-45A3-84D8-561E4C805FE8}"/>
              </a:ext>
            </a:extLst>
          </p:cNvPr>
          <p:cNvSpPr>
            <a:spLocks noGrp="1"/>
          </p:cNvSpPr>
          <p:nvPr>
            <p:ph idx="1"/>
          </p:nvPr>
        </p:nvSpPr>
        <p:spPr/>
        <p:txBody>
          <a:bodyPr>
            <a:normAutofit/>
          </a:bodyPr>
          <a:lstStyle/>
          <a:p>
            <a:r>
              <a:rPr lang="en-US" dirty="0"/>
              <a:t>Slide Design: Stick to this template </a:t>
            </a:r>
            <a:r>
              <a:rPr lang="en-US" b="1" dirty="0"/>
              <a:t>ONLY</a:t>
            </a:r>
            <a:r>
              <a:rPr lang="en-US" dirty="0"/>
              <a:t>. Avoid clutter; each slide should convey a single idea or a closely related set of points.</a:t>
            </a:r>
          </a:p>
          <a:p>
            <a:r>
              <a:rPr lang="en-US" dirty="0"/>
              <a:t>Limit text on each slide; use bullet points and visuals to enhance clarity.</a:t>
            </a:r>
          </a:p>
          <a:p>
            <a:r>
              <a:rPr lang="en-US" dirty="0"/>
              <a:t>Include diagrams, flowcharts, or tables where applicable.</a:t>
            </a:r>
          </a:p>
          <a:p>
            <a:r>
              <a:rPr lang="en-US" dirty="0"/>
              <a:t>Maintain a consistent theme and font size throughout the presentation.</a:t>
            </a:r>
          </a:p>
          <a:p>
            <a:r>
              <a:rPr lang="en-US" dirty="0"/>
              <a:t>Aim for a presentation length of 5-10 minutes.</a:t>
            </a:r>
          </a:p>
        </p:txBody>
      </p:sp>
      <p:sp>
        <p:nvSpPr>
          <p:cNvPr id="4" name="Slide Number Placeholder 3">
            <a:extLst>
              <a:ext uri="{FF2B5EF4-FFF2-40B4-BE49-F238E27FC236}">
                <a16:creationId xmlns:a16="http://schemas.microsoft.com/office/drawing/2014/main" id="{68F32A74-275B-4B17-269E-020951C91AC5}"/>
              </a:ext>
            </a:extLst>
          </p:cNvPr>
          <p:cNvSpPr>
            <a:spLocks noGrp="1"/>
          </p:cNvSpPr>
          <p:nvPr>
            <p:ph type="sldNum" sz="quarter" idx="12"/>
          </p:nvPr>
        </p:nvSpPr>
        <p:spPr/>
        <p:txBody>
          <a:bodyPr/>
          <a:lstStyle/>
          <a:p>
            <a:fld id="{B6F15528-21DE-4FAA-801E-634DDDAF4B2B}" type="slidenum">
              <a:rPr lang="en-US" smtClean="0"/>
              <a:pPr/>
              <a:t>14</a:t>
            </a:fld>
            <a:endParaRPr lang="en-US"/>
          </a:p>
        </p:txBody>
      </p:sp>
    </p:spTree>
    <p:extLst>
      <p:ext uri="{BB962C8B-B14F-4D97-AF65-F5344CB8AC3E}">
        <p14:creationId xmlns:p14="http://schemas.microsoft.com/office/powerpoint/2010/main" val="310640341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15D4AE-EA2E-43C3-A019-FC0268A961D2}"/>
              </a:ext>
            </a:extLst>
          </p:cNvPr>
          <p:cNvSpPr>
            <a:spLocks noGrp="1"/>
          </p:cNvSpPr>
          <p:nvPr>
            <p:ph type="title"/>
          </p:nvPr>
        </p:nvSpPr>
        <p:spPr/>
        <p:txBody>
          <a:bodyPr/>
          <a:lstStyle/>
          <a:p>
            <a:r>
              <a:rPr lang="en-US" dirty="0"/>
              <a:t>Part 2: Live Demo of Implementation: Setup</a:t>
            </a:r>
          </a:p>
        </p:txBody>
      </p:sp>
      <p:sp>
        <p:nvSpPr>
          <p:cNvPr id="3" name="Content Placeholder 2">
            <a:extLst>
              <a:ext uri="{FF2B5EF4-FFF2-40B4-BE49-F238E27FC236}">
                <a16:creationId xmlns:a16="http://schemas.microsoft.com/office/drawing/2014/main" id="{25764FDE-E427-493D-B7AE-9CAB3A3A6ECA}"/>
              </a:ext>
            </a:extLst>
          </p:cNvPr>
          <p:cNvSpPr>
            <a:spLocks noGrp="1"/>
          </p:cNvSpPr>
          <p:nvPr>
            <p:ph idx="1"/>
          </p:nvPr>
        </p:nvSpPr>
        <p:spPr/>
        <p:txBody>
          <a:bodyPr/>
          <a:lstStyle/>
          <a:p>
            <a:r>
              <a:rPr lang="en-US" dirty="0"/>
              <a:t>Prepare a Jupyter Notebook or other coding environment (e.g., Google Colab, PyCharm).</a:t>
            </a:r>
          </a:p>
          <a:p>
            <a:r>
              <a:rPr lang="en-US" dirty="0"/>
              <a:t>Ensure all dependencies are installed and tested before the demo.</a:t>
            </a:r>
          </a:p>
        </p:txBody>
      </p:sp>
      <p:sp>
        <p:nvSpPr>
          <p:cNvPr id="4" name="Slide Number Placeholder 3">
            <a:extLst>
              <a:ext uri="{FF2B5EF4-FFF2-40B4-BE49-F238E27FC236}">
                <a16:creationId xmlns:a16="http://schemas.microsoft.com/office/drawing/2014/main" id="{062A178F-5455-4170-89B7-7CE2A57146C7}"/>
              </a:ext>
            </a:extLst>
          </p:cNvPr>
          <p:cNvSpPr>
            <a:spLocks noGrp="1"/>
          </p:cNvSpPr>
          <p:nvPr>
            <p:ph type="sldNum" sz="quarter" idx="12"/>
          </p:nvPr>
        </p:nvSpPr>
        <p:spPr/>
        <p:txBody>
          <a:bodyPr/>
          <a:lstStyle/>
          <a:p>
            <a:fld id="{0A5CBF63-613C-4E8E-B1A0-D710C5F27341}" type="slidenum">
              <a:rPr lang="en-US" smtClean="0"/>
              <a:t>15</a:t>
            </a:fld>
            <a:endParaRPr lang="en-US"/>
          </a:p>
        </p:txBody>
      </p:sp>
    </p:spTree>
    <p:extLst>
      <p:ext uri="{BB962C8B-B14F-4D97-AF65-F5344CB8AC3E}">
        <p14:creationId xmlns:p14="http://schemas.microsoft.com/office/powerpoint/2010/main" val="58571223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82B1D4-76FB-0746-5479-EC3D509DC2F2}"/>
              </a:ext>
            </a:extLst>
          </p:cNvPr>
          <p:cNvSpPr>
            <a:spLocks noGrp="1"/>
          </p:cNvSpPr>
          <p:nvPr>
            <p:ph type="title"/>
          </p:nvPr>
        </p:nvSpPr>
        <p:spPr/>
        <p:txBody>
          <a:bodyPr/>
          <a:lstStyle/>
          <a:p>
            <a:r>
              <a:rPr lang="en-US" dirty="0"/>
              <a:t>Flow of the Demo</a:t>
            </a:r>
          </a:p>
        </p:txBody>
      </p:sp>
      <p:sp>
        <p:nvSpPr>
          <p:cNvPr id="3" name="Content Placeholder 2">
            <a:extLst>
              <a:ext uri="{FF2B5EF4-FFF2-40B4-BE49-F238E27FC236}">
                <a16:creationId xmlns:a16="http://schemas.microsoft.com/office/drawing/2014/main" id="{A66B7B23-539B-B766-3F7F-C8755A8C5E7C}"/>
              </a:ext>
            </a:extLst>
          </p:cNvPr>
          <p:cNvSpPr>
            <a:spLocks noGrp="1"/>
          </p:cNvSpPr>
          <p:nvPr>
            <p:ph idx="1"/>
          </p:nvPr>
        </p:nvSpPr>
        <p:spPr/>
        <p:txBody>
          <a:bodyPr/>
          <a:lstStyle/>
          <a:p>
            <a:r>
              <a:rPr lang="en-US" dirty="0"/>
              <a:t>Dataset Exploration: Briefly show the raw dataset and preprocessing steps.</a:t>
            </a:r>
          </a:p>
          <a:p>
            <a:r>
              <a:rPr lang="en-US" dirty="0"/>
              <a:t>Feature Engineering: Demonstrate the implementation of one or two feature engineering techniques. Include live code execution or pre-recorded segments for computationally intensive steps.</a:t>
            </a:r>
          </a:p>
          <a:p>
            <a:r>
              <a:rPr lang="en-US" dirty="0"/>
              <a:t>Model Evaluation: Run the models and display metrics or visualizations comparing results before and after feature engineering.</a:t>
            </a:r>
          </a:p>
          <a:p>
            <a:r>
              <a:rPr lang="en-US" dirty="0"/>
              <a:t>Automated Feature Engineering: If applicable, demonstrate the use of </a:t>
            </a:r>
            <a:r>
              <a:rPr lang="en-US" dirty="0" err="1"/>
              <a:t>AutoFE</a:t>
            </a:r>
            <a:r>
              <a:rPr lang="en-US" dirty="0"/>
              <a:t> tools and compare results.</a:t>
            </a:r>
          </a:p>
        </p:txBody>
      </p:sp>
      <p:sp>
        <p:nvSpPr>
          <p:cNvPr id="4" name="Slide Number Placeholder 3">
            <a:extLst>
              <a:ext uri="{FF2B5EF4-FFF2-40B4-BE49-F238E27FC236}">
                <a16:creationId xmlns:a16="http://schemas.microsoft.com/office/drawing/2014/main" id="{1E3D41AE-78B7-7DB6-D5FA-75A613ABD1D9}"/>
              </a:ext>
            </a:extLst>
          </p:cNvPr>
          <p:cNvSpPr>
            <a:spLocks noGrp="1"/>
          </p:cNvSpPr>
          <p:nvPr>
            <p:ph type="sldNum" sz="quarter" idx="12"/>
          </p:nvPr>
        </p:nvSpPr>
        <p:spPr/>
        <p:txBody>
          <a:bodyPr/>
          <a:lstStyle/>
          <a:p>
            <a:fld id="{0A5CBF63-613C-4E8E-B1A0-D710C5F27341}" type="slidenum">
              <a:rPr lang="en-US" smtClean="0"/>
              <a:t>16</a:t>
            </a:fld>
            <a:endParaRPr lang="en-US"/>
          </a:p>
        </p:txBody>
      </p:sp>
    </p:spTree>
    <p:extLst>
      <p:ext uri="{BB962C8B-B14F-4D97-AF65-F5344CB8AC3E}">
        <p14:creationId xmlns:p14="http://schemas.microsoft.com/office/powerpoint/2010/main" val="234335985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F701BC-BD78-4D46-984E-7210A7D2AB83}"/>
              </a:ext>
            </a:extLst>
          </p:cNvPr>
          <p:cNvSpPr>
            <a:spLocks noGrp="1"/>
          </p:cNvSpPr>
          <p:nvPr>
            <p:ph type="title"/>
          </p:nvPr>
        </p:nvSpPr>
        <p:spPr/>
        <p:txBody>
          <a:bodyPr/>
          <a:lstStyle/>
          <a:p>
            <a:r>
              <a:rPr lang="en-US" dirty="0"/>
              <a:t>Interactivity</a:t>
            </a:r>
          </a:p>
        </p:txBody>
      </p:sp>
      <p:sp>
        <p:nvSpPr>
          <p:cNvPr id="3" name="Content Placeholder 2">
            <a:extLst>
              <a:ext uri="{FF2B5EF4-FFF2-40B4-BE49-F238E27FC236}">
                <a16:creationId xmlns:a16="http://schemas.microsoft.com/office/drawing/2014/main" id="{DB232A12-2315-4792-B862-0CAF7466193A}"/>
              </a:ext>
            </a:extLst>
          </p:cNvPr>
          <p:cNvSpPr>
            <a:spLocks noGrp="1"/>
          </p:cNvSpPr>
          <p:nvPr>
            <p:ph idx="1"/>
          </p:nvPr>
        </p:nvSpPr>
        <p:spPr/>
        <p:txBody>
          <a:bodyPr/>
          <a:lstStyle/>
          <a:p>
            <a:r>
              <a:rPr lang="en-US" dirty="0"/>
              <a:t>Highlight key parts of the code and explain the logic behind them.</a:t>
            </a:r>
          </a:p>
          <a:p>
            <a:r>
              <a:rPr lang="en-US" dirty="0"/>
              <a:t>Use visualizations (e.g., plots, tables) to make results easy to understand.</a:t>
            </a:r>
          </a:p>
        </p:txBody>
      </p:sp>
      <p:sp>
        <p:nvSpPr>
          <p:cNvPr id="4" name="Slide Number Placeholder 3">
            <a:extLst>
              <a:ext uri="{FF2B5EF4-FFF2-40B4-BE49-F238E27FC236}">
                <a16:creationId xmlns:a16="http://schemas.microsoft.com/office/drawing/2014/main" id="{4316D897-CA62-41B6-BE7A-EDD415538083}"/>
              </a:ext>
            </a:extLst>
          </p:cNvPr>
          <p:cNvSpPr>
            <a:spLocks noGrp="1"/>
          </p:cNvSpPr>
          <p:nvPr>
            <p:ph type="sldNum" sz="quarter" idx="12"/>
          </p:nvPr>
        </p:nvSpPr>
        <p:spPr/>
        <p:txBody>
          <a:bodyPr/>
          <a:lstStyle/>
          <a:p>
            <a:fld id="{0A5CBF63-613C-4E8E-B1A0-D710C5F27341}" type="slidenum">
              <a:rPr lang="en-US" smtClean="0"/>
              <a:t>17</a:t>
            </a:fld>
            <a:endParaRPr lang="en-US"/>
          </a:p>
        </p:txBody>
      </p:sp>
    </p:spTree>
    <p:extLst>
      <p:ext uri="{BB962C8B-B14F-4D97-AF65-F5344CB8AC3E}">
        <p14:creationId xmlns:p14="http://schemas.microsoft.com/office/powerpoint/2010/main" val="154146423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F701BC-BD78-4D46-984E-7210A7D2AB83}"/>
              </a:ext>
            </a:extLst>
          </p:cNvPr>
          <p:cNvSpPr>
            <a:spLocks noGrp="1"/>
          </p:cNvSpPr>
          <p:nvPr>
            <p:ph type="title"/>
          </p:nvPr>
        </p:nvSpPr>
        <p:spPr/>
        <p:txBody>
          <a:bodyPr/>
          <a:lstStyle/>
          <a:p>
            <a:r>
              <a:rPr lang="en-US" dirty="0"/>
              <a:t>Tips for the Demo</a:t>
            </a:r>
          </a:p>
        </p:txBody>
      </p:sp>
      <p:sp>
        <p:nvSpPr>
          <p:cNvPr id="3" name="Content Placeholder 2">
            <a:extLst>
              <a:ext uri="{FF2B5EF4-FFF2-40B4-BE49-F238E27FC236}">
                <a16:creationId xmlns:a16="http://schemas.microsoft.com/office/drawing/2014/main" id="{DB232A12-2315-4792-B862-0CAF7466193A}"/>
              </a:ext>
            </a:extLst>
          </p:cNvPr>
          <p:cNvSpPr>
            <a:spLocks noGrp="1"/>
          </p:cNvSpPr>
          <p:nvPr>
            <p:ph idx="1"/>
          </p:nvPr>
        </p:nvSpPr>
        <p:spPr/>
        <p:txBody>
          <a:bodyPr>
            <a:normAutofit lnSpcReduction="10000"/>
          </a:bodyPr>
          <a:lstStyle/>
          <a:p>
            <a:r>
              <a:rPr lang="en-US" dirty="0"/>
              <a:t>Use concise and well-organized slides to complement the live demo.</a:t>
            </a:r>
          </a:p>
          <a:p>
            <a:r>
              <a:rPr lang="en-US" dirty="0"/>
              <a:t>Avoid technical jargon; explain concepts clearly for a general audience.</a:t>
            </a:r>
          </a:p>
          <a:p>
            <a:r>
              <a:rPr lang="en-US" dirty="0"/>
              <a:t>Test the demo environment multiple times to prevent unexpected issues.</a:t>
            </a:r>
          </a:p>
          <a:p>
            <a:r>
              <a:rPr lang="en-US" dirty="0"/>
              <a:t>Prepare backup screenshots or videos in case of technical difficulties.</a:t>
            </a:r>
          </a:p>
          <a:p>
            <a:r>
              <a:rPr lang="en-US" dirty="0"/>
              <a:t>Aim for a demo length of 5-10 minutes.</a:t>
            </a:r>
          </a:p>
          <a:p>
            <a:r>
              <a:rPr lang="en-US" dirty="0">
                <a:highlight>
                  <a:srgbClr val="FFFF00"/>
                </a:highlight>
              </a:rPr>
              <a:t>If the demo is longer than 9 minutes, record a video and play it at a faster speed while providing a live explanation to keep the audience engaged.</a:t>
            </a:r>
          </a:p>
          <a:p>
            <a:endParaRPr lang="en-US" dirty="0"/>
          </a:p>
        </p:txBody>
      </p:sp>
      <p:sp>
        <p:nvSpPr>
          <p:cNvPr id="4" name="Slide Number Placeholder 3">
            <a:extLst>
              <a:ext uri="{FF2B5EF4-FFF2-40B4-BE49-F238E27FC236}">
                <a16:creationId xmlns:a16="http://schemas.microsoft.com/office/drawing/2014/main" id="{4316D897-CA62-41B6-BE7A-EDD415538083}"/>
              </a:ext>
            </a:extLst>
          </p:cNvPr>
          <p:cNvSpPr>
            <a:spLocks noGrp="1"/>
          </p:cNvSpPr>
          <p:nvPr>
            <p:ph type="sldNum" sz="quarter" idx="12"/>
          </p:nvPr>
        </p:nvSpPr>
        <p:spPr/>
        <p:txBody>
          <a:bodyPr/>
          <a:lstStyle/>
          <a:p>
            <a:fld id="{0A5CBF63-613C-4E8E-B1A0-D710C5F27341}" type="slidenum">
              <a:rPr lang="en-US" smtClean="0"/>
              <a:t>18</a:t>
            </a:fld>
            <a:endParaRPr lang="en-US"/>
          </a:p>
        </p:txBody>
      </p:sp>
    </p:spTree>
    <p:extLst>
      <p:ext uri="{BB962C8B-B14F-4D97-AF65-F5344CB8AC3E}">
        <p14:creationId xmlns:p14="http://schemas.microsoft.com/office/powerpoint/2010/main" val="238915732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2CBB2D-720D-4D76-9BB3-D242DCDD5E88}"/>
              </a:ext>
            </a:extLst>
          </p:cNvPr>
          <p:cNvSpPr>
            <a:spLocks noGrp="1"/>
          </p:cNvSpPr>
          <p:nvPr>
            <p:ph type="title"/>
          </p:nvPr>
        </p:nvSpPr>
        <p:spPr/>
        <p:txBody>
          <a:bodyPr/>
          <a:lstStyle/>
          <a:p>
            <a:r>
              <a:rPr lang="en-US" dirty="0"/>
              <a:t>Feedback</a:t>
            </a:r>
          </a:p>
        </p:txBody>
      </p:sp>
      <p:sp>
        <p:nvSpPr>
          <p:cNvPr id="3" name="Content Placeholder 2">
            <a:extLst>
              <a:ext uri="{FF2B5EF4-FFF2-40B4-BE49-F238E27FC236}">
                <a16:creationId xmlns:a16="http://schemas.microsoft.com/office/drawing/2014/main" id="{6CBC6E0D-8AA7-476E-890D-737388BF4D65}"/>
              </a:ext>
            </a:extLst>
          </p:cNvPr>
          <p:cNvSpPr>
            <a:spLocks noGrp="1"/>
          </p:cNvSpPr>
          <p:nvPr>
            <p:ph idx="1"/>
          </p:nvPr>
        </p:nvSpPr>
        <p:spPr/>
        <p:txBody>
          <a:bodyPr/>
          <a:lstStyle/>
          <a:p>
            <a:r>
              <a:rPr lang="en-US" dirty="0"/>
              <a:t>Feedback Reports  </a:t>
            </a:r>
          </a:p>
          <a:p>
            <a:pPr lvl="1"/>
            <a:r>
              <a:rPr lang="en-US" dirty="0"/>
              <a:t>Submit feedback reports for other groups’ presentations on the same day (maximum 500 words total for two presentations). The number of reports required will be announced at the beginning of each day.</a:t>
            </a:r>
          </a:p>
          <a:p>
            <a:pPr lvl="1"/>
            <a:r>
              <a:rPr lang="en-US" dirty="0"/>
              <a:t>Each feedback report is worth 10 points and will be counted toward the Project 2 Report. </a:t>
            </a:r>
          </a:p>
        </p:txBody>
      </p:sp>
      <p:sp>
        <p:nvSpPr>
          <p:cNvPr id="4" name="Slide Number Placeholder 3">
            <a:extLst>
              <a:ext uri="{FF2B5EF4-FFF2-40B4-BE49-F238E27FC236}">
                <a16:creationId xmlns:a16="http://schemas.microsoft.com/office/drawing/2014/main" id="{A93E8F82-2892-4964-8869-1F6F66D03324}"/>
              </a:ext>
            </a:extLst>
          </p:cNvPr>
          <p:cNvSpPr>
            <a:spLocks noGrp="1"/>
          </p:cNvSpPr>
          <p:nvPr>
            <p:ph type="sldNum" sz="quarter" idx="12"/>
          </p:nvPr>
        </p:nvSpPr>
        <p:spPr/>
        <p:txBody>
          <a:bodyPr/>
          <a:lstStyle/>
          <a:p>
            <a:fld id="{0A5CBF63-613C-4E8E-B1A0-D710C5F27341}" type="slidenum">
              <a:rPr lang="en-US" smtClean="0"/>
              <a:t>19</a:t>
            </a:fld>
            <a:endParaRPr lang="en-US"/>
          </a:p>
        </p:txBody>
      </p:sp>
    </p:spTree>
    <p:extLst>
      <p:ext uri="{BB962C8B-B14F-4D97-AF65-F5344CB8AC3E}">
        <p14:creationId xmlns:p14="http://schemas.microsoft.com/office/powerpoint/2010/main" val="2632066076"/>
      </p:ext>
    </p:extLst>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spcBef>
                <a:spcPts val="300"/>
              </a:spcBef>
            </a:pPr>
            <a:r>
              <a:rPr sz="3400" b="0">
                <a:solidFill>
                  <a:srgbClr val="00853E"/>
                </a:solidFill>
              </a:rPr>
              <a:t>Conclusion and Future Work</a:t>
            </a:r>
          </a:p>
        </p:txBody>
      </p:sp>
      <p:sp>
        <p:nvSpPr>
          <p:cNvPr id="3" name="Content Placeholder 2"/>
          <p:cNvSpPr>
            <a:spLocks noGrp="1"/>
          </p:cNvSpPr>
          <p:nvPr>
            <p:ph idx="1"/>
          </p:nvPr>
        </p:nvSpPr>
        <p:spPr/>
        <p:txBody>
          <a:bodyPr wrap="square"/>
          <a:lstStyle/>
          <a:p>
            <a:pPr>
              <a:spcBef>
                <a:spcPts val="300"/>
              </a:spcBef>
            </a:pPr>
            <a:r>
              <a:rPr sz="2100" b="1">
                <a:solidFill>
                  <a:srgbClr val="00853E"/>
                </a:solidFill>
              </a:rPr>
              <a:t>Key Conclusions</a:t>
            </a:r>
          </a:p>
          <a:p>
            <a:pPr lvl="1">
              <a:spcBef>
                <a:spcPts val="300"/>
              </a:spcBef>
            </a:pPr>
            <a:r>
              <a:rPr sz="1800" b="0">
                <a:solidFill>
                  <a:srgbClr val="000000"/>
                </a:solidFill>
              </a:rPr>
              <a:t>Catch22 + LightGBM matches deep learning accuracy at a fraction of the cost</a:t>
            </a:r>
          </a:p>
          <a:p>
            <a:pPr lvl="1">
              <a:spcBef>
                <a:spcPts val="300"/>
              </a:spcBef>
            </a:pPr>
            <a:r>
              <a:rPr sz="1800" b="0">
                <a:solidFill>
                  <a:srgbClr val="000000"/>
                </a:solidFill>
              </a:rPr>
              <a:t>Lag + Rolling Statistics are the strongest forecasting features (MSE −82%)</a:t>
            </a:r>
          </a:p>
          <a:p>
            <a:pPr lvl="1">
              <a:spcBef>
                <a:spcPts val="300"/>
              </a:spcBef>
            </a:pPr>
            <a:r>
              <a:rPr sz="1800" b="0">
                <a:solidFill>
                  <a:srgbClr val="000000"/>
                </a:solidFill>
              </a:rPr>
              <a:t>SHAP-guided pruning reliably reduces dimensionality with zero accuracy loss</a:t>
            </a:r>
          </a:p>
          <a:p>
            <a:pPr lvl="1">
              <a:spcBef>
                <a:spcPts val="300"/>
              </a:spcBef>
            </a:pPr>
            <a:r>
              <a:rPr sz="1800" b="0">
                <a:solidFill>
                  <a:srgbClr val="000000"/>
                </a:solidFill>
              </a:rPr>
              <a:t>Cross-domain generalization is limited when local timing is the discriminant</a:t>
            </a:r>
          </a:p>
          <a:p>
            <a:pPr>
              <a:spcBef>
                <a:spcPts val="300"/>
              </a:spcBef>
            </a:pPr>
            <a:r>
              <a:rPr sz="2100" b="1">
                <a:solidFill>
                  <a:srgbClr val="00853E"/>
                </a:solidFill>
              </a:rPr>
              <a:t>Future Work</a:t>
            </a:r>
          </a:p>
          <a:p>
            <a:pPr lvl="1">
              <a:spcBef>
                <a:spcPts val="300"/>
              </a:spcBef>
            </a:pPr>
            <a:r>
              <a:rPr sz="1800" b="0">
                <a:solidFill>
                  <a:srgbClr val="000000"/>
                </a:solidFill>
              </a:rPr>
              <a:t>LLM-assisted feature suggestion: use LLMs to propose domain-specific features</a:t>
            </a:r>
          </a:p>
          <a:p>
            <a:pPr lvl="1">
              <a:spcBef>
                <a:spcPts val="300"/>
              </a:spcBef>
            </a:pPr>
            <a:r>
              <a:rPr sz="1800" b="0">
                <a:solidFill>
                  <a:srgbClr val="000000"/>
                </a:solidFill>
              </a:rPr>
              <a:t>Edge device deployment: ultra-lightweight Catch22 for real-time IoT sensors</a:t>
            </a:r>
          </a:p>
          <a:p>
            <a:pPr lvl="1">
              <a:spcBef>
                <a:spcPts val="300"/>
              </a:spcBef>
            </a:pPr>
            <a:r>
              <a:rPr sz="1800" b="0">
                <a:solidFill>
                  <a:srgbClr val="000000"/>
                </a:solidFill>
              </a:rPr>
              <a:t>Validate on real WESAD wearable stress dataset (requires institutional access)</a:t>
            </a:r>
          </a:p>
          <a:p>
            <a:pPr lvl="1">
              <a:spcBef>
                <a:spcPts val="300"/>
              </a:spcBef>
            </a:pPr>
            <a:r>
              <a:rPr sz="1800" b="0">
                <a:solidFill>
                  <a:srgbClr val="000000"/>
                </a:solidFill>
              </a:rPr>
              <a:t>XAI-first AutoML: make SHAP a primary optimization objective</a:t>
            </a:r>
          </a:p>
        </p:txBody>
      </p:sp>
      <p:sp>
        <p:nvSpPr>
          <p:cNvPr id="4" name="Rectangle 3"/>
          <p:cNvSpPr/>
          <p:nvPr/>
        </p:nvSpPr>
        <p:spPr>
          <a:xfrm>
            <a:off x="0" y="1444752"/>
            <a:ext cx="12188952" cy="50292"/>
          </a:xfrm>
          <a:prstGeom prst="rect">
            <a:avLst/>
          </a:prstGeom>
          <a:solidFill>
            <a:srgbClr val="0085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spcBef>
                <a:spcPts val="300"/>
              </a:spcBef>
            </a:pPr>
            <a:r>
              <a:rPr sz="3600" b="0">
                <a:solidFill>
                  <a:srgbClr val="00853E"/>
                </a:solidFill>
              </a:rPr>
              <a:t>References</a:t>
            </a:r>
          </a:p>
        </p:txBody>
      </p:sp>
      <p:sp>
        <p:nvSpPr>
          <p:cNvPr id="3" name="Content Placeholder 2"/>
          <p:cNvSpPr>
            <a:spLocks noGrp="1"/>
          </p:cNvSpPr>
          <p:nvPr>
            <p:ph idx="1"/>
          </p:nvPr>
        </p:nvSpPr>
        <p:spPr/>
        <p:txBody>
          <a:bodyPr wrap="square"/>
          <a:lstStyle/>
          <a:p>
            <a:pPr>
              <a:spcBef>
                <a:spcPts val="300"/>
              </a:spcBef>
            </a:pPr>
            <a:r>
              <a:rPr sz="1500" b="0">
                <a:solidFill>
                  <a:srgbClr val="000000"/>
                </a:solidFill>
              </a:rPr>
              <a:t>[1] H. Badi, G. Forestier, and J. Weber, "COCALITE: A Hybrid Approach for Time Series Classification Using Catch22 and LITE," in 2024 IEEE BigData, pp. 5234–5243.</a:t>
            </a:r>
          </a:p>
          <a:p>
            <a:pPr>
              <a:spcBef>
                <a:spcPts val="300"/>
              </a:spcBef>
            </a:pPr>
            <a:r>
              <a:rPr sz="1500" b="0">
                <a:solidFill>
                  <a:srgbClr val="000000"/>
                </a:solidFill>
              </a:rPr>
              <a:t>[2] M. D'Aversa, F. Giannini, and M. Scardapane, "SPLiT: Spatio-Temporal Linear Model Trees for Multi-Step Time Series Forecasting," in 2024 IEEE BigData, pp. 3412–3421.</a:t>
            </a:r>
          </a:p>
          <a:p>
            <a:pPr>
              <a:spcBef>
                <a:spcPts val="300"/>
              </a:spcBef>
            </a:pPr>
            <a:r>
              <a:rPr sz="1500" b="0">
                <a:solidFill>
                  <a:srgbClr val="000000"/>
                </a:solidFill>
              </a:rPr>
              <a:t>[3] L. Valerio, A. Passarella, and M. Conti, "Unsupervised Anomaly Detection in Wearable PPG Data via Catch22 Features," in 2024 IEEE SENSORS, pp. 1–4.</a:t>
            </a:r>
          </a:p>
          <a:p>
            <a:pPr>
              <a:spcBef>
                <a:spcPts val="300"/>
              </a:spcBef>
            </a:pPr>
            <a:r>
              <a:rPr sz="1500" b="0">
                <a:solidFill>
                  <a:srgbClr val="000000"/>
                </a:solidFill>
              </a:rPr>
              <a:t>[4] T. Okadome and J. Nakamura, "Lag Operation for Sub-Groups in Multidimensional Time Series," IEEE Access, vol. 12, pp. 15432–15445, 2024.</a:t>
            </a:r>
          </a:p>
          <a:p>
            <a:pPr>
              <a:spcBef>
                <a:spcPts val="300"/>
              </a:spcBef>
            </a:pPr>
            <a:r>
              <a:rPr sz="1500" b="0">
                <a:solidFill>
                  <a:srgbClr val="000000"/>
                </a:solidFill>
              </a:rPr>
              <a:t>[5] O. Petrosian, D. Wang, and S. Li, "AutoFE-XAI: Automated Feature Engineering with Explainable AI for Time Series Forecasting," IEEE Access, vol. 13, pp. 2109–2120, 2025.</a:t>
            </a:r>
          </a:p>
          <a:p>
            <a:pPr>
              <a:spcBef>
                <a:spcPts val="300"/>
              </a:spcBef>
            </a:pPr>
            <a:r>
              <a:rPr sz="1500" b="0">
                <a:solidFill>
                  <a:srgbClr val="000000"/>
                </a:solidFill>
              </a:rPr>
              <a:t>[6] C. H. Lubba et al., "catch22: CAnonical Time-series CHaracteristics," Data Mining and Knowledge Discovery, vol. 33, no. 6, pp. 1821–1852, 2019.</a:t>
            </a:r>
          </a:p>
        </p:txBody>
      </p:sp>
      <p:sp>
        <p:nvSpPr>
          <p:cNvPr id="4" name="Rectangle 3"/>
          <p:cNvSpPr/>
          <p:nvPr/>
        </p:nvSpPr>
        <p:spPr>
          <a:xfrm>
            <a:off x="0" y="1444752"/>
            <a:ext cx="12188952" cy="50292"/>
          </a:xfrm>
          <a:prstGeom prst="rect">
            <a:avLst/>
          </a:prstGeom>
          <a:solidFill>
            <a:srgbClr val="0085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a:lstStyle/>
          <a:p>
            <a:pPr>
              <a:spcBef>
                <a:spcPts val="300"/>
              </a:spcBef>
            </a:pPr>
            <a:r>
              <a:rPr sz="4800" b="0">
                <a:solidFill>
                  <a:srgbClr val="00853E"/>
                </a:solidFill>
              </a:rPr>
              <a:t>Thank You!</a:t>
            </a:r>
          </a:p>
        </p:txBody>
      </p:sp>
      <p:sp>
        <p:nvSpPr>
          <p:cNvPr id="3" name="Subtitle 2"/>
          <p:cNvSpPr>
            <a:spLocks noGrp="1"/>
          </p:cNvSpPr>
          <p:nvPr>
            <p:ph type="subTitle" idx="1"/>
          </p:nvPr>
        </p:nvSpPr>
        <p:spPr/>
        <p:txBody>
          <a:bodyPr/>
          <a:lstStyle/>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37f4b8a2-ad4f-41b5-9a91-284d2cc38f56}" enabled="1" method="Standard" siteId="{70de1992-07c6-480f-a318-a1afcba03983}" contentBits="0" removed="0"/>
</clbl:labelList>
</file>

<file path=docProps/app.xml><?xml version="1.0" encoding="utf-8"?>
<Properties xmlns="http://schemas.openxmlformats.org/officeDocument/2006/extended-properties" xmlns:vt="http://schemas.openxmlformats.org/officeDocument/2006/docPropsVTypes">
  <TotalTime>1048</TotalTime>
  <Words>779</Words>
  <Application>Microsoft Office PowerPoint</Application>
  <PresentationFormat>Widescreen</PresentationFormat>
  <Paragraphs>103</Paragraphs>
  <Slides>19</Slides>
  <Notes>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19</vt:i4>
      </vt:variant>
    </vt:vector>
  </HeadingPairs>
  <TitlesOfParts>
    <vt:vector size="23" baseType="lpstr">
      <vt:lpstr>Arial</vt:lpstr>
      <vt:lpstr>Calibri</vt:lpstr>
      <vt:lpstr>Times New Roman</vt:lpstr>
      <vt:lpstr>Office Theme</vt:lpstr>
      <vt:lpstr>Group #: Your Project Title</vt:lpstr>
      <vt:lpstr>Outline(Update Required)</vt:lpstr>
      <vt:lpstr>Recap of the Project 1 Proposal</vt:lpstr>
      <vt:lpstr>Recap of the Project 1 Proposal (cont. ) </vt:lpstr>
      <vt:lpstr>Feature Engineering Techniques</vt:lpstr>
      <vt:lpstr>Feature Engineering Techniques (cont. ) </vt:lpstr>
      <vt:lpstr>Machine Learning Models</vt:lpstr>
      <vt:lpstr>Machine Learning Models (cont. ) </vt:lpstr>
      <vt:lpstr>Results and Analysis</vt:lpstr>
      <vt:lpstr>Discussion</vt:lpstr>
      <vt:lpstr>Conclusion</vt:lpstr>
      <vt:lpstr>References</vt:lpstr>
      <vt:lpstr>End</vt:lpstr>
      <vt:lpstr>Additional Presentation Tips</vt:lpstr>
      <vt:lpstr>Part 2: Live Demo of Implementation: Setup</vt:lpstr>
      <vt:lpstr>Flow of the Demo</vt:lpstr>
      <vt:lpstr>Interactivity</vt:lpstr>
      <vt:lpstr>Tips for the Demo</vt:lpstr>
      <vt:lpstr>Feedback</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Basics of Algorithm</dc:title>
  <dc:creator>Li, Yuan</dc:creator>
  <cp:lastModifiedBy>Li, Yuan</cp:lastModifiedBy>
  <cp:revision>116</cp:revision>
  <dcterms:created xsi:type="dcterms:W3CDTF">2023-05-20T16:26:16Z</dcterms:created>
  <dcterms:modified xsi:type="dcterms:W3CDTF">2026-04-07T16:32:38Z</dcterms:modified>
</cp:coreProperties>
</file>