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86" r:id="rId3"/>
    <p:sldId id="287" r:id="rId4"/>
    <p:sldId id="289" r:id="rId5"/>
    <p:sldId id="306" r:id="rId6"/>
    <p:sldId id="311" r:id="rId7"/>
    <p:sldId id="308" r:id="rId8"/>
    <p:sldId id="312" r:id="rId9"/>
    <p:sldId id="307" r:id="rId10"/>
    <p:sldId id="313" r:id="rId11"/>
    <p:sldId id="303" r:id="rId12"/>
    <p:sldId id="304" r:id="rId13"/>
    <p:sldId id="316" r:id="rId14"/>
    <p:sldId id="282" r:id="rId15"/>
    <p:sldId id="305" r:id="rId16"/>
    <p:sldId id="300" r:id="rId17"/>
    <p:sldId id="314" r:id="rId18"/>
    <p:sldId id="315" r:id="rId19"/>
    <p:sldId id="317"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6733" autoAdjust="0"/>
  </p:normalViewPr>
  <p:slideViewPr>
    <p:cSldViewPr snapToGrid="0">
      <p:cViewPr varScale="1">
        <p:scale>
          <a:sx n="85" d="100"/>
          <a:sy n="85" d="100"/>
        </p:scale>
        <p:origin x="1554" y="78"/>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9FC4A6-2233-41AB-8127-C574819A5260}" type="datetimeFigureOut">
              <a:rPr lang="en-US" smtClean="0"/>
              <a:t>4/7/2026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788229-8701-402C-9EFE-92AF1B162F60}" type="slidenum">
              <a:rPr lang="en-US" smtClean="0"/>
              <a:t>‹#›</a:t>
            </a:fld>
            <a:endParaRPr lang="en-US"/>
          </a:p>
        </p:txBody>
      </p:sp>
    </p:spTree>
    <p:extLst>
      <p:ext uri="{BB962C8B-B14F-4D97-AF65-F5344CB8AC3E}">
        <p14:creationId xmlns:p14="http://schemas.microsoft.com/office/powerpoint/2010/main" val="20445070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4788229-8701-402C-9EFE-92AF1B162F60}" type="slidenum">
              <a:rPr lang="en-US" smtClean="0"/>
              <a:t>2</a:t>
            </a:fld>
            <a:endParaRPr lang="en-US"/>
          </a:p>
        </p:txBody>
      </p:sp>
    </p:spTree>
    <p:extLst>
      <p:ext uri="{BB962C8B-B14F-4D97-AF65-F5344CB8AC3E}">
        <p14:creationId xmlns:p14="http://schemas.microsoft.com/office/powerpoint/2010/main" val="17242692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2B3929-88CC-4868-BDA1-59A64D43EBF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FEDD6DB-1BB2-4E16-B0BB-E8BA2BDF612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E7AAA9F-B17D-4248-B8EB-71AC9B01BC01}"/>
              </a:ext>
            </a:extLst>
          </p:cNvPr>
          <p:cNvSpPr>
            <a:spLocks noGrp="1"/>
          </p:cNvSpPr>
          <p:nvPr>
            <p:ph type="dt" sz="half" idx="10"/>
          </p:nvPr>
        </p:nvSpPr>
        <p:spPr/>
        <p:txBody>
          <a:bodyPr/>
          <a:lstStyle/>
          <a:p>
            <a:fld id="{177D84CC-09F3-4E2A-95B7-B65ACAD094AB}" type="datetime1">
              <a:rPr lang="en-US" smtClean="0"/>
              <a:t>4/7/2026</a:t>
            </a:fld>
            <a:endParaRPr lang="en-US"/>
          </a:p>
        </p:txBody>
      </p:sp>
      <p:sp>
        <p:nvSpPr>
          <p:cNvPr id="5" name="Footer Placeholder 4">
            <a:extLst>
              <a:ext uri="{FF2B5EF4-FFF2-40B4-BE49-F238E27FC236}">
                <a16:creationId xmlns:a16="http://schemas.microsoft.com/office/drawing/2014/main" id="{C71E4DB2-5340-4576-BCE1-5BA586B919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09BF86-13B9-4063-95F2-A447FD8F80F4}"/>
              </a:ext>
            </a:extLst>
          </p:cNvPr>
          <p:cNvSpPr>
            <a:spLocks noGrp="1"/>
          </p:cNvSpPr>
          <p:nvPr>
            <p:ph type="sldNum" sz="quarter" idx="12"/>
          </p:nvPr>
        </p:nvSpPr>
        <p:spPr/>
        <p:txBody>
          <a:bodyPr/>
          <a:lstStyle/>
          <a:p>
            <a:fld id="{0A5CBF63-613C-4E8E-B1A0-D710C5F27341}" type="slidenum">
              <a:rPr lang="en-US" smtClean="0"/>
              <a:t>‹#›</a:t>
            </a:fld>
            <a:endParaRPr lang="en-US"/>
          </a:p>
        </p:txBody>
      </p:sp>
    </p:spTree>
    <p:extLst>
      <p:ext uri="{BB962C8B-B14F-4D97-AF65-F5344CB8AC3E}">
        <p14:creationId xmlns:p14="http://schemas.microsoft.com/office/powerpoint/2010/main" val="15737633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0DC55-17C7-4615-9218-FEA6C38F07F8}"/>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56086033-9AEC-4DF1-8046-55049D40CF9A}"/>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5C27086-09CC-4BBE-8A58-380366BA6A8D}"/>
              </a:ext>
            </a:extLst>
          </p:cNvPr>
          <p:cNvSpPr>
            <a:spLocks noGrp="1"/>
          </p:cNvSpPr>
          <p:nvPr>
            <p:ph type="dt" sz="half" idx="10"/>
          </p:nvPr>
        </p:nvSpPr>
        <p:spPr/>
        <p:txBody>
          <a:bodyPr/>
          <a:lstStyle/>
          <a:p>
            <a:fld id="{ADA7BB36-3D62-4470-A97F-B676A5EA1684}" type="datetime1">
              <a:rPr lang="en-US" smtClean="0"/>
              <a:t>4/7/2026</a:t>
            </a:fld>
            <a:endParaRPr lang="en-US"/>
          </a:p>
        </p:txBody>
      </p:sp>
      <p:sp>
        <p:nvSpPr>
          <p:cNvPr id="5" name="Footer Placeholder 4">
            <a:extLst>
              <a:ext uri="{FF2B5EF4-FFF2-40B4-BE49-F238E27FC236}">
                <a16:creationId xmlns:a16="http://schemas.microsoft.com/office/drawing/2014/main" id="{11F1496C-4165-4039-BF78-B97DBB45DE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423ECE-0D9F-4ACC-BE4A-8CECB4C21533}"/>
              </a:ext>
            </a:extLst>
          </p:cNvPr>
          <p:cNvSpPr>
            <a:spLocks noGrp="1"/>
          </p:cNvSpPr>
          <p:nvPr>
            <p:ph type="sldNum" sz="quarter" idx="12"/>
          </p:nvPr>
        </p:nvSpPr>
        <p:spPr/>
        <p:txBody>
          <a:bodyPr/>
          <a:lstStyle/>
          <a:p>
            <a:fld id="{0A5CBF63-613C-4E8E-B1A0-D710C5F27341}" type="slidenum">
              <a:rPr lang="en-US" smtClean="0"/>
              <a:t>‹#›</a:t>
            </a:fld>
            <a:endParaRPr lang="en-US"/>
          </a:p>
        </p:txBody>
      </p:sp>
    </p:spTree>
    <p:extLst>
      <p:ext uri="{BB962C8B-B14F-4D97-AF65-F5344CB8AC3E}">
        <p14:creationId xmlns:p14="http://schemas.microsoft.com/office/powerpoint/2010/main" val="82292055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A2D4B34-3710-42BD-B15F-29029DE5FC9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DFD60566-4132-4228-A009-90DECD849CA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707AE5F-FB3D-4742-AE94-C679CACFFC2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FFE40B3-AC35-4E45-9A9A-E84AA48B06BB}" type="datetime1">
              <a:rPr lang="en-US" smtClean="0"/>
              <a:t>4/7/2026</a:t>
            </a:fld>
            <a:endParaRPr lang="en-US"/>
          </a:p>
        </p:txBody>
      </p:sp>
      <p:sp>
        <p:nvSpPr>
          <p:cNvPr id="5" name="Footer Placeholder 4">
            <a:extLst>
              <a:ext uri="{FF2B5EF4-FFF2-40B4-BE49-F238E27FC236}">
                <a16:creationId xmlns:a16="http://schemas.microsoft.com/office/drawing/2014/main" id="{DA06C9F7-1EC6-4794-BDB8-448CC751A58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FA2E5C9-B3A4-4B3E-A5F8-4D85104B094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A5CBF63-613C-4E8E-B1A0-D710C5F27341}" type="slidenum">
              <a:rPr lang="en-US" smtClean="0"/>
              <a:t>‹#›</a:t>
            </a:fld>
            <a:endParaRPr lang="en-US"/>
          </a:p>
        </p:txBody>
      </p:sp>
      <p:pic>
        <p:nvPicPr>
          <p:cNvPr id="7" name="Picture 6">
            <a:extLst>
              <a:ext uri="{FF2B5EF4-FFF2-40B4-BE49-F238E27FC236}">
                <a16:creationId xmlns:a16="http://schemas.microsoft.com/office/drawing/2014/main" id="{A0EF8106-F7B3-4DBF-8958-3A64985661AA}"/>
              </a:ext>
            </a:extLst>
          </p:cNvPr>
          <p:cNvPicPr>
            <a:picLocks noChangeAspect="1"/>
          </p:cNvPicPr>
          <p:nvPr userDrawn="1"/>
        </p:nvPicPr>
        <p:blipFill>
          <a:blip r:embed="rId4"/>
          <a:stretch>
            <a:fillRect/>
          </a:stretch>
        </p:blipFill>
        <p:spPr>
          <a:xfrm>
            <a:off x="10349932" y="217820"/>
            <a:ext cx="1623486" cy="749301"/>
          </a:xfrm>
          <a:prstGeom prst="rect">
            <a:avLst/>
          </a:prstGeom>
        </p:spPr>
      </p:pic>
    </p:spTree>
    <p:extLst>
      <p:ext uri="{BB962C8B-B14F-4D97-AF65-F5344CB8AC3E}">
        <p14:creationId xmlns:p14="http://schemas.microsoft.com/office/powerpoint/2010/main" val="336168443"/>
      </p:ext>
    </p:extLst>
  </p:cSld>
  <p:clrMap bg1="lt1" tx1="dk1" bg2="lt2" tx2="dk2" accent1="accent1" accent2="accent2" accent3="accent3" accent4="accent4" accent5="accent5" accent6="accent6" hlink="hlink" folHlink="folHlink"/>
  <p:sldLayoutIdLst>
    <p:sldLayoutId id="2147483649" r:id="rId1"/>
    <p:sldLayoutId id="2147483650" r:id="rId2"/>
  </p:sldLayoutIdLst>
  <p:hf hdr="0" ftr="0" dt="0"/>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DA8C8D-DBE3-4D7B-B00C-C31FD9BFD984}"/>
              </a:ext>
            </a:extLst>
          </p:cNvPr>
          <p:cNvSpPr>
            <a:spLocks noGrp="1"/>
          </p:cNvSpPr>
          <p:nvPr>
            <p:ph type="ctrTitle"/>
          </p:nvPr>
        </p:nvSpPr>
        <p:spPr/>
        <p:txBody>
          <a:bodyPr/>
          <a:lstStyle/>
          <a:p>
            <a:r>
              <a:rPr sz="2600" b="1"/>
              <a:t>Group 18: Feature Engineering for Time-Series</a:t>
            </a:r>
            <a:endParaRPr lang="en-US" dirty="0"/>
          </a:p>
        </p:txBody>
      </p:sp>
      <p:sp>
        <p:nvSpPr>
          <p:cNvPr id="4" name="Slide Number Placeholder 3">
            <a:extLst>
              <a:ext uri="{FF2B5EF4-FFF2-40B4-BE49-F238E27FC236}">
                <a16:creationId xmlns:a16="http://schemas.microsoft.com/office/drawing/2014/main" id="{2A113273-9DA4-4FF0-9144-1C123297F9A6}"/>
              </a:ext>
            </a:extLst>
          </p:cNvPr>
          <p:cNvSpPr>
            <a:spLocks noGrp="1"/>
          </p:cNvSpPr>
          <p:nvPr>
            <p:ph type="sldNum" sz="quarter" idx="12"/>
          </p:nvPr>
        </p:nvSpPr>
        <p:spPr/>
        <p:txBody>
          <a:bodyPr/>
          <a:lstStyle/>
          <a:p>
            <a:fld id="{0A5CBF63-613C-4E8E-B1A0-D710C5F27341}" type="slidenum">
              <a:rPr lang="en-US" smtClean="0"/>
              <a:t>1</a:t>
            </a:fld>
            <a:endParaRPr lang="en-US"/>
          </a:p>
        </p:txBody>
      </p:sp>
      <p:sp>
        <p:nvSpPr>
          <p:cNvPr id="5" name="Subtitle 2">
            <a:extLst>
              <a:ext uri="{FF2B5EF4-FFF2-40B4-BE49-F238E27FC236}">
                <a16:creationId xmlns:a16="http://schemas.microsoft.com/office/drawing/2014/main" id="{E3FACACF-7282-9E8B-752B-2442A04BE49E}"/>
              </a:ext>
            </a:extLst>
          </p:cNvPr>
          <p:cNvSpPr txBox="1">
            <a:spLocks/>
          </p:cNvSpPr>
          <p:nvPr/>
        </p:nvSpPr>
        <p:spPr>
          <a:xfrm>
            <a:off x="1653540" y="3489008"/>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400" dirty="0">
                <a:effectLst>
                  <a:outerShdw blurRad="38100" dist="38100" dir="2700000" algn="tl">
                    <a:srgbClr val="000000">
                      <a:alpha val="43137"/>
                    </a:srgbClr>
                  </a:outerShdw>
                </a:effectLst>
              </a:rPr>
              <a:t>CSCE 5222 Feature Engineering</a:t>
            </a:r>
          </a:p>
          <a:p>
            <a:r>
              <a:rPr lang="en-US" b="1" dirty="0">
                <a:effectLst>
                  <a:outerShdw blurRad="38100" dist="38100" dir="2700000" algn="tl">
                    <a:srgbClr val="C0C0C0"/>
                  </a:outerShdw>
                </a:effectLst>
              </a:rPr>
              <a:t>Student Name1 and Student Name2</a:t>
            </a:r>
          </a:p>
          <a:p>
            <a:r>
              <a:rPr lang="en-US" dirty="0"/>
              <a:t>Computer Science and Engineering Department</a:t>
            </a:r>
          </a:p>
          <a:p>
            <a:endParaRPr lang="en-US" dirty="0"/>
          </a:p>
        </p:txBody>
      </p:sp>
    </p:spTree>
    <p:extLst>
      <p:ext uri="{BB962C8B-B14F-4D97-AF65-F5344CB8AC3E}">
        <p14:creationId xmlns:p14="http://schemas.microsoft.com/office/powerpoint/2010/main" val="3599590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CDD47-8CBF-6243-545F-A26A2DA89E89}"/>
              </a:ext>
            </a:extLst>
          </p:cNvPr>
          <p:cNvSpPr>
            <a:spLocks noGrp="1"/>
          </p:cNvSpPr>
          <p:nvPr>
            <p:ph type="title"/>
          </p:nvPr>
        </p:nvSpPr>
        <p:spPr/>
        <p:txBody>
          <a:bodyPr/>
          <a:lstStyle/>
          <a:p>
            <a:r>
              <a:rPr sz="2800" b="1"/>
              <a:t>Outline</a:t>
            </a:r>
          </a:p>
        </p:txBody>
      </p:sp>
      <p:sp>
        <p:nvSpPr>
          <p:cNvPr id="3" name="Content Placeholder 2">
            <a:extLst>
              <a:ext uri="{FF2B5EF4-FFF2-40B4-BE49-F238E27FC236}">
                <a16:creationId xmlns:a16="http://schemas.microsoft.com/office/drawing/2014/main" id="{BB75CA95-910C-E848-813D-47509317D7A7}"/>
              </a:ext>
            </a:extLst>
          </p:cNvPr>
          <p:cNvSpPr>
            <a:spLocks noGrp="1"/>
          </p:cNvSpPr>
          <p:nvPr>
            <p:ph idx="1"/>
          </p:nvPr>
        </p:nvSpPr>
        <p:spPr>
          <a:xfrm>
            <a:off x="838200" y="1440873"/>
            <a:ext cx="10515600" cy="5280602"/>
          </a:xfrm>
        </p:spPr>
        <p:txBody>
          <a:bodyPr>
            <a:normAutofit fontScale="85000" lnSpcReduction="20000"/>
          </a:bodyPr>
          <a:lstStyle/>
          <a:p>
            <a:pPr marL="0" indent="0">
              <a:buNone/>
            </a:pPr>
            <a:r>
              <a:rPr sz="1600"/>
              <a:t>Part 1: Presentation (1–3 min)</a:t>
            </a:r>
          </a:p>
          <a:p>
            <a:pPr/>
            <a:r>
              <a:rPr sz="1600"/>
              <a:t>  • Recap of Project 1 Proposal</a:t>
            </a:r>
          </a:p>
          <a:p>
            <a:pPr/>
            <a:r>
              <a:rPr sz="1600"/>
              <a:t>  • Feature Engineering Techniques</a:t>
            </a:r>
          </a:p>
          <a:p>
            <a:pPr/>
            <a:r>
              <a:rPr sz="1600"/>
              <a:t>  • Machine Learning Models</a:t>
            </a:r>
          </a:p>
          <a:p>
            <a:pPr/>
            <a:r>
              <a:rPr sz="1600"/>
              <a:t>  • Results and Analysis</a:t>
            </a:r>
          </a:p>
          <a:p>
            <a:pPr/>
            <a:r>
              <a:rPr sz="1600"/>
              <a:t>  • Discussion &amp; Conclusion</a:t>
            </a:r>
          </a:p>
          <a:p>
            <a:pPr/>
            <a:r>
              <a:rPr sz="1600"/>
              <a:t>Part 2: Live Demo (3–13 min)</a:t>
            </a:r>
          </a:p>
          <a:p>
            <a:pPr/>
            <a:r>
              <a:rPr sz="1600"/>
              <a:t>  • Dataset Exploration &amp; Preprocessing</a:t>
            </a:r>
          </a:p>
          <a:p>
            <a:pPr/>
            <a:r>
              <a:rPr sz="1600"/>
              <a:t>  • Feature Extraction Demo</a:t>
            </a:r>
          </a:p>
          <a:p>
            <a:pPr/>
            <a:r>
              <a:rPr sz="1600"/>
              <a:t>  • Model Evaluation &amp; Comparison</a:t>
            </a:r>
          </a:p>
        </p:txBody>
      </p:sp>
      <p:sp>
        <p:nvSpPr>
          <p:cNvPr id="4" name="Slide Number Placeholder 3">
            <a:extLst>
              <a:ext uri="{FF2B5EF4-FFF2-40B4-BE49-F238E27FC236}">
                <a16:creationId xmlns:a16="http://schemas.microsoft.com/office/drawing/2014/main" id="{599B6EA8-E3F4-F65D-84A1-F02E9B02DB92}"/>
              </a:ext>
            </a:extLst>
          </p:cNvPr>
          <p:cNvSpPr>
            <a:spLocks noGrp="1"/>
          </p:cNvSpPr>
          <p:nvPr>
            <p:ph type="sldNum" sz="quarter" idx="12"/>
          </p:nvPr>
        </p:nvSpPr>
        <p:spPr/>
        <p:txBody>
          <a:bodyPr/>
          <a:lstStyle/>
          <a:p>
            <a:fld id="{0A5CBF63-613C-4E8E-B1A0-D710C5F27341}" type="slidenum">
              <a:rPr lang="en-US" smtClean="0"/>
              <a:t>2</a:t>
            </a:fld>
            <a:endParaRPr lang="en-US"/>
          </a:p>
        </p:txBody>
      </p:sp>
    </p:spTree>
    <p:extLst>
      <p:ext uri="{BB962C8B-B14F-4D97-AF65-F5344CB8AC3E}">
        <p14:creationId xmlns:p14="http://schemas.microsoft.com/office/powerpoint/2010/main" val="41732151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78BF8-83E2-B2A4-2068-DF5A7CC027A3}"/>
              </a:ext>
            </a:extLst>
          </p:cNvPr>
          <p:cNvSpPr>
            <a:spLocks noGrp="1"/>
          </p:cNvSpPr>
          <p:nvPr>
            <p:ph type="title"/>
          </p:nvPr>
        </p:nvSpPr>
        <p:spPr/>
        <p:txBody>
          <a:bodyPr/>
          <a:lstStyle/>
          <a:p>
            <a:r>
              <a:rPr sz="2600" b="1"/>
              <a:t>Recap of Project 1 Proposal</a:t>
            </a:r>
          </a:p>
        </p:txBody>
      </p:sp>
      <p:sp>
        <p:nvSpPr>
          <p:cNvPr id="3" name="Content Placeholder 2">
            <a:extLst>
              <a:ext uri="{FF2B5EF4-FFF2-40B4-BE49-F238E27FC236}">
                <a16:creationId xmlns:a16="http://schemas.microsoft.com/office/drawing/2014/main" id="{F93C1F33-7B7E-9D90-EF13-666DE0999804}"/>
              </a:ext>
            </a:extLst>
          </p:cNvPr>
          <p:cNvSpPr>
            <a:spLocks noGrp="1"/>
          </p:cNvSpPr>
          <p:nvPr>
            <p:ph idx="1"/>
          </p:nvPr>
        </p:nvSpPr>
        <p:spPr/>
        <p:txBody>
          <a:bodyPr/>
          <a:lstStyle/>
          <a:p>
            <a:pPr/>
            <a:r>
              <a:rPr sz="1600"/>
              <a:t>Problem: Extracting meaningful features from time-series is a bottleneck.</a:t>
            </a:r>
          </a:p>
          <a:p>
            <a:pPr/>
            <a:r>
              <a:rPr sz="1600"/>
              <a:t>Motivation: Deep learning is powerful but slow and hard to interpret.</a:t>
            </a:r>
          </a:p>
          <a:p>
            <a:pPr/>
            <a:r>
              <a:rPr sz="1600"/>
              <a:t>We proposed a hybrid, automated, and explainable feature engineering framework.</a:t>
            </a:r>
          </a:p>
          <a:p>
            <a:pPr/>
            <a:r>
              <a:rPr sz="1600"/>
              <a:t>Five papers surveyed (2024–2025): COCALITE, SPLiT, PPG Anomaly, Lag Features, AutoFE-XAI.</a:t>
            </a:r>
          </a:p>
          <a:p>
            <a:pPr/>
            <a:r>
              <a:rPr sz="1600"/>
              <a:t>Three datasets targeted: UCR (classification), ETTh1 (forecasting), WESAD-like (anomaly).</a:t>
            </a:r>
          </a:p>
          <a:p>
            <a:pPr/>
            <a:r>
              <a:rPr sz="1600"/>
              <a:t>Key update since Phase 1: Implemented Catch22 from scratch in pure NumPy.</a:t>
            </a:r>
          </a:p>
        </p:txBody>
      </p:sp>
      <p:sp>
        <p:nvSpPr>
          <p:cNvPr id="4" name="Slide Number Placeholder 3">
            <a:extLst>
              <a:ext uri="{FF2B5EF4-FFF2-40B4-BE49-F238E27FC236}">
                <a16:creationId xmlns:a16="http://schemas.microsoft.com/office/drawing/2014/main" id="{22B0E182-E09F-C7DA-E140-4ABF72CCF599}"/>
              </a:ext>
            </a:extLst>
          </p:cNvPr>
          <p:cNvSpPr>
            <a:spLocks noGrp="1"/>
          </p:cNvSpPr>
          <p:nvPr>
            <p:ph type="sldNum" sz="quarter" idx="12"/>
          </p:nvPr>
        </p:nvSpPr>
        <p:spPr/>
        <p:txBody>
          <a:bodyPr/>
          <a:lstStyle/>
          <a:p>
            <a:fld id="{0A5CBF63-613C-4E8E-B1A0-D710C5F27341}" type="slidenum">
              <a:rPr lang="en-US" smtClean="0"/>
              <a:t>3</a:t>
            </a:fld>
            <a:endParaRPr lang="en-US"/>
          </a:p>
        </p:txBody>
      </p:sp>
    </p:spTree>
    <p:extLst>
      <p:ext uri="{BB962C8B-B14F-4D97-AF65-F5344CB8AC3E}">
        <p14:creationId xmlns:p14="http://schemas.microsoft.com/office/powerpoint/2010/main" val="1706281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78BF8-83E2-B2A4-2068-DF5A7CC027A3}"/>
              </a:ext>
            </a:extLst>
          </p:cNvPr>
          <p:cNvSpPr>
            <a:spLocks noGrp="1"/>
          </p:cNvSpPr>
          <p:nvPr>
            <p:ph type="title"/>
          </p:nvPr>
        </p:nvSpPr>
        <p:spPr/>
        <p:txBody>
          <a:bodyPr/>
          <a:lstStyle/>
          <a:p>
            <a:r>
              <a:rPr sz="2600" b="1"/>
              <a:t>Recap of Project 1 Proposal (cont.)</a:t>
            </a:r>
          </a:p>
        </p:txBody>
      </p:sp>
      <p:sp>
        <p:nvSpPr>
          <p:cNvPr id="3" name="Content Placeholder 2">
            <a:extLst>
              <a:ext uri="{FF2B5EF4-FFF2-40B4-BE49-F238E27FC236}">
                <a16:creationId xmlns:a16="http://schemas.microsoft.com/office/drawing/2014/main" id="{F93C1F33-7B7E-9D90-EF13-666DE0999804}"/>
              </a:ext>
            </a:extLst>
          </p:cNvPr>
          <p:cNvSpPr>
            <a:spLocks noGrp="1"/>
          </p:cNvSpPr>
          <p:nvPr>
            <p:ph idx="1"/>
          </p:nvPr>
        </p:nvSpPr>
        <p:spPr/>
        <p:txBody>
          <a:bodyPr/>
          <a:lstStyle/>
          <a:p>
            <a:pPr/>
            <a:r>
              <a:rPr sz="1600"/>
              <a:t>Phase 1 Feedback Addressed:</a:t>
            </a:r>
          </a:p>
          <a:p>
            <a:pPr/>
            <a:r>
              <a:rPr sz="1600"/>
              <a:t>  • Added Group Number (Group 18) to all submissions.</a:t>
            </a:r>
          </a:p>
          <a:p>
            <a:pPr/>
            <a:r>
              <a:rPr sz="1600"/>
              <a:t>  • Separated evaluations clearly by task (classification / forecasting / anomaly).</a:t>
            </a:r>
          </a:p>
          <a:p>
            <a:pPr/>
            <a:r>
              <a:rPr sz="1600"/>
              <a:t>  • Defined explicit baselines for each task.</a:t>
            </a:r>
          </a:p>
          <a:p>
            <a:pPr/>
            <a:r>
              <a:rPr sz="1600"/>
              <a:t>  • Completed the methodology flowchart (see Figure in report).</a:t>
            </a:r>
          </a:p>
          <a:p>
            <a:pPr/>
            <a:r>
              <a:rPr sz="1600"/>
              <a:t>  • Added detailed timeline with milestones.</a:t>
            </a:r>
          </a:p>
          <a:p>
            <a:pPr/>
            <a:r>
              <a:rPr sz="1600"/>
              <a:t>  • Discussed cross-domain generalization limits in the discussion section.</a:t>
            </a:r>
          </a:p>
        </p:txBody>
      </p:sp>
      <p:sp>
        <p:nvSpPr>
          <p:cNvPr id="4" name="Slide Number Placeholder 3">
            <a:extLst>
              <a:ext uri="{FF2B5EF4-FFF2-40B4-BE49-F238E27FC236}">
                <a16:creationId xmlns:a16="http://schemas.microsoft.com/office/drawing/2014/main" id="{22B0E182-E09F-C7DA-E140-4ABF72CCF599}"/>
              </a:ext>
            </a:extLst>
          </p:cNvPr>
          <p:cNvSpPr>
            <a:spLocks noGrp="1"/>
          </p:cNvSpPr>
          <p:nvPr>
            <p:ph type="sldNum" sz="quarter" idx="12"/>
          </p:nvPr>
        </p:nvSpPr>
        <p:spPr/>
        <p:txBody>
          <a:bodyPr/>
          <a:lstStyle/>
          <a:p>
            <a:fld id="{0A5CBF63-613C-4E8E-B1A0-D710C5F27341}" type="slidenum">
              <a:rPr lang="en-US" smtClean="0"/>
              <a:t>4</a:t>
            </a:fld>
            <a:endParaRPr lang="en-US"/>
          </a:p>
        </p:txBody>
      </p:sp>
    </p:spTree>
    <p:extLst>
      <p:ext uri="{BB962C8B-B14F-4D97-AF65-F5344CB8AC3E}">
        <p14:creationId xmlns:p14="http://schemas.microsoft.com/office/powerpoint/2010/main" val="30489077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19164E-84E8-4FB2-8051-CB230F6D915C}"/>
              </a:ext>
            </a:extLst>
          </p:cNvPr>
          <p:cNvSpPr>
            <a:spLocks noGrp="1"/>
          </p:cNvSpPr>
          <p:nvPr>
            <p:ph type="title"/>
          </p:nvPr>
        </p:nvSpPr>
        <p:spPr/>
        <p:txBody>
          <a:bodyPr/>
          <a:lstStyle/>
          <a:p>
            <a:r>
              <a:rPr sz="2600" b="1"/>
              <a:t>Feature Engineering Techniques</a:t>
            </a:r>
          </a:p>
        </p:txBody>
      </p:sp>
      <p:sp>
        <p:nvSpPr>
          <p:cNvPr id="3" name="Content Placeholder 2">
            <a:extLst>
              <a:ext uri="{FF2B5EF4-FFF2-40B4-BE49-F238E27FC236}">
                <a16:creationId xmlns:a16="http://schemas.microsoft.com/office/drawing/2014/main" id="{613B13FA-5386-4E73-BB44-9A898AA7B251}"/>
              </a:ext>
            </a:extLst>
          </p:cNvPr>
          <p:cNvSpPr>
            <a:spLocks noGrp="1"/>
          </p:cNvSpPr>
          <p:nvPr>
            <p:ph idx="1"/>
          </p:nvPr>
        </p:nvSpPr>
        <p:spPr/>
        <p:txBody>
          <a:bodyPr/>
          <a:lstStyle/>
          <a:p>
            <a:pPr/>
            <a:r>
              <a:rPr sz="1500"/>
              <a:t>1. Catch22 (22 canonical time-series features):</a:t>
            </a:r>
          </a:p>
          <a:p>
            <a:pPr/>
            <a:r>
              <a:rPr sz="1500"/>
              <a:t>   Autocorrelation, entropy, permutation entropy, Hurst exponent, spectral features...</a:t>
            </a:r>
          </a:p>
          <a:p>
            <a:pPr/>
            <a:r>
              <a:rPr sz="1500"/>
              <a:t>   Implemented from scratch in pure NumPy (no C-compiler dependency).</a:t>
            </a:r>
          </a:p>
          <a:p>
            <a:pPr/>
            <a:r>
              <a:rPr sz="1500"/>
              <a:t>2. Lag + Rolling Statistics:</a:t>
            </a:r>
          </a:p>
          <a:p>
            <a:pPr/>
            <a:r>
              <a:rPr sz="1500"/>
              <a:t>   Lag features (t-1 to t-24), rolling mean/std/min/max over windows of 3, 6, 12, 24.</a:t>
            </a:r>
          </a:p>
          <a:p>
            <a:pPr/>
            <a:r>
              <a:rPr sz="1500"/>
              <a:t>3. Self-Supervised MLP Embeddings:</a:t>
            </a:r>
          </a:p>
          <a:p>
            <a:pPr/>
            <a:r>
              <a:rPr sz="1500"/>
              <a:t>   MLP trained to predict x[t] from x[t-window:t]. Hidden layer = learned features.</a:t>
            </a:r>
          </a:p>
          <a:p>
            <a:pPr/>
            <a:r>
              <a:rPr sz="1500"/>
              <a:t>4. SHAP-Guided Feature Pruning:</a:t>
            </a:r>
          </a:p>
          <a:p>
            <a:pPr/>
            <a:r>
              <a:rPr sz="1500"/>
              <a:t>   LightGBM proxy → SHAP values → keep top 55-60% features by mean |SHAP|.</a:t>
            </a:r>
          </a:p>
        </p:txBody>
      </p:sp>
      <p:sp>
        <p:nvSpPr>
          <p:cNvPr id="4" name="Slide Number Placeholder 3">
            <a:extLst>
              <a:ext uri="{FF2B5EF4-FFF2-40B4-BE49-F238E27FC236}">
                <a16:creationId xmlns:a16="http://schemas.microsoft.com/office/drawing/2014/main" id="{4622CC70-E94D-443E-911C-FC4AEB22D28F}"/>
              </a:ext>
            </a:extLst>
          </p:cNvPr>
          <p:cNvSpPr>
            <a:spLocks noGrp="1"/>
          </p:cNvSpPr>
          <p:nvPr>
            <p:ph type="sldNum" sz="quarter" idx="12"/>
          </p:nvPr>
        </p:nvSpPr>
        <p:spPr/>
        <p:txBody>
          <a:bodyPr/>
          <a:lstStyle/>
          <a:p>
            <a:fld id="{0A5CBF63-613C-4E8E-B1A0-D710C5F27341}" type="slidenum">
              <a:rPr lang="en-US" smtClean="0"/>
              <a:t>5</a:t>
            </a:fld>
            <a:endParaRPr lang="en-US"/>
          </a:p>
        </p:txBody>
      </p:sp>
    </p:spTree>
    <p:extLst>
      <p:ext uri="{BB962C8B-B14F-4D97-AF65-F5344CB8AC3E}">
        <p14:creationId xmlns:p14="http://schemas.microsoft.com/office/powerpoint/2010/main" val="33713600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78BF8-83E2-B2A4-2068-DF5A7CC027A3}"/>
              </a:ext>
            </a:extLst>
          </p:cNvPr>
          <p:cNvSpPr>
            <a:spLocks noGrp="1"/>
          </p:cNvSpPr>
          <p:nvPr>
            <p:ph type="title"/>
          </p:nvPr>
        </p:nvSpPr>
        <p:spPr/>
        <p:txBody>
          <a:bodyPr/>
          <a:lstStyle/>
          <a:p>
            <a:r>
              <a:rPr sz="2600" b="1"/>
              <a:t>Feature Engineering Pipeline</a:t>
            </a:r>
          </a:p>
        </p:txBody>
      </p:sp>
      <p:sp>
        <p:nvSpPr>
          <p:cNvPr id="3" name="Content Placeholder 2">
            <a:extLst>
              <a:ext uri="{FF2B5EF4-FFF2-40B4-BE49-F238E27FC236}">
                <a16:creationId xmlns:a16="http://schemas.microsoft.com/office/drawing/2014/main" id="{F93C1F33-7B7E-9D90-EF13-666DE0999804}"/>
              </a:ext>
            </a:extLst>
          </p:cNvPr>
          <p:cNvSpPr>
            <a:spLocks noGrp="1"/>
          </p:cNvSpPr>
          <p:nvPr>
            <p:ph idx="1"/>
          </p:nvPr>
        </p:nvSpPr>
        <p:spPr/>
        <p:txBody>
          <a:bodyPr/>
          <a:lstStyle/>
          <a:p>
            <a:pPr/>
            <a:r>
              <a:rPr sz="1600"/>
              <a:t>Our complete pipeline from raw data to model evaluation:</a:t>
            </a:r>
          </a:p>
        </p:txBody>
      </p:sp>
      <p:sp>
        <p:nvSpPr>
          <p:cNvPr id="4" name="Slide Number Placeholder 3">
            <a:extLst>
              <a:ext uri="{FF2B5EF4-FFF2-40B4-BE49-F238E27FC236}">
                <a16:creationId xmlns:a16="http://schemas.microsoft.com/office/drawing/2014/main" id="{22B0E182-E09F-C7DA-E140-4ABF72CCF599}"/>
              </a:ext>
            </a:extLst>
          </p:cNvPr>
          <p:cNvSpPr>
            <a:spLocks noGrp="1"/>
          </p:cNvSpPr>
          <p:nvPr>
            <p:ph type="sldNum" sz="quarter" idx="12"/>
          </p:nvPr>
        </p:nvSpPr>
        <p:spPr/>
        <p:txBody>
          <a:bodyPr/>
          <a:lstStyle/>
          <a:p>
            <a:fld id="{0A5CBF63-613C-4E8E-B1A0-D710C5F27341}" type="slidenum">
              <a:rPr lang="en-US" smtClean="0"/>
              <a:t>6</a:t>
            </a:fld>
            <a:endParaRPr lang="en-US"/>
          </a:p>
        </p:txBody>
      </p:sp>
      <p:pic>
        <p:nvPicPr>
          <p:cNvPr id="5" name="Picture 4" descr="fig11_pipeline_flowchart.png"/>
          <p:cNvPicPr>
            <a:picLocks noChangeAspect="1"/>
          </p:cNvPicPr>
          <p:nvPr/>
        </p:nvPicPr>
        <p:blipFill>
          <a:blip r:embed="rId2"/>
          <a:stretch>
            <a:fillRect/>
          </a:stretch>
        </p:blipFill>
        <p:spPr>
          <a:xfrm>
            <a:off x="274320" y="1371600"/>
            <a:ext cx="8229600" cy="4572000"/>
          </a:xfrm>
          <a:prstGeom prst="rect">
            <a:avLst/>
          </a:prstGeom>
        </p:spPr>
      </p:pic>
    </p:spTree>
    <p:extLst>
      <p:ext uri="{BB962C8B-B14F-4D97-AF65-F5344CB8AC3E}">
        <p14:creationId xmlns:p14="http://schemas.microsoft.com/office/powerpoint/2010/main" val="12860921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19164E-84E8-4FB2-8051-CB230F6D915C}"/>
              </a:ext>
            </a:extLst>
          </p:cNvPr>
          <p:cNvSpPr>
            <a:spLocks noGrp="1"/>
          </p:cNvSpPr>
          <p:nvPr>
            <p:ph type="title"/>
          </p:nvPr>
        </p:nvSpPr>
        <p:spPr/>
        <p:txBody>
          <a:bodyPr/>
          <a:lstStyle/>
          <a:p>
            <a:r>
              <a:rPr sz="2600" b="1"/>
              <a:t>Machine Learning Models</a:t>
            </a:r>
          </a:p>
        </p:txBody>
      </p:sp>
      <p:sp>
        <p:nvSpPr>
          <p:cNvPr id="3" name="Content Placeholder 2">
            <a:extLst>
              <a:ext uri="{FF2B5EF4-FFF2-40B4-BE49-F238E27FC236}">
                <a16:creationId xmlns:a16="http://schemas.microsoft.com/office/drawing/2014/main" id="{613B13FA-5386-4E73-BB44-9A898AA7B251}"/>
              </a:ext>
            </a:extLst>
          </p:cNvPr>
          <p:cNvSpPr>
            <a:spLocks noGrp="1"/>
          </p:cNvSpPr>
          <p:nvPr>
            <p:ph idx="1"/>
          </p:nvPr>
        </p:nvSpPr>
        <p:spPr/>
        <p:txBody>
          <a:bodyPr/>
          <a:lstStyle/>
          <a:p>
            <a:pPr/>
            <a:r>
              <a:rPr sz="1500"/>
              <a:t>Classification: LightGBM Classifier</a:t>
            </a:r>
          </a:p>
          <a:p>
            <a:pPr/>
            <a:r>
              <a:rPr sz="1500"/>
              <a:t>   Rationale: Fast gradient boosting, handles tabular features well, supports SHAP natively.</a:t>
            </a:r>
          </a:p>
          <a:p>
            <a:pPr/>
            <a:r>
              <a:rPr sz="1500"/>
              <a:t>Forecasting: LightGBM Regressor + Ridge Regression (baseline)</a:t>
            </a:r>
          </a:p>
          <a:p>
            <a:pPr/>
            <a:r>
              <a:rPr sz="1500"/>
              <a:t>   Rationale: LightGBM captures non-linear interactions in lag/rolling features.</a:t>
            </a:r>
          </a:p>
          <a:p>
            <a:pPr/>
            <a:r>
              <a:rPr sz="1500"/>
              <a:t>Anomaly Detection: Isolation Forest</a:t>
            </a:r>
          </a:p>
          <a:p>
            <a:pPr/>
            <a:r>
              <a:rPr sz="1500"/>
              <a:t>   Rationale: Unsupervised, no labeled data needed; works well with Catch22 features.</a:t>
            </a:r>
          </a:p>
          <a:p>
            <a:pPr/>
            <a:r>
              <a:rPr sz="1500"/>
              <a:t>Embedding Trainer: MLP Regressor (sklearn)</a:t>
            </a:r>
          </a:p>
          <a:p>
            <a:pPr/>
            <a:r>
              <a:rPr sz="1500"/>
              <a:t>   Rationale: Lightweight, interpretable hidden layer, fast to train.</a:t>
            </a:r>
          </a:p>
        </p:txBody>
      </p:sp>
      <p:sp>
        <p:nvSpPr>
          <p:cNvPr id="4" name="Slide Number Placeholder 3">
            <a:extLst>
              <a:ext uri="{FF2B5EF4-FFF2-40B4-BE49-F238E27FC236}">
                <a16:creationId xmlns:a16="http://schemas.microsoft.com/office/drawing/2014/main" id="{4622CC70-E94D-443E-911C-FC4AEB22D28F}"/>
              </a:ext>
            </a:extLst>
          </p:cNvPr>
          <p:cNvSpPr>
            <a:spLocks noGrp="1"/>
          </p:cNvSpPr>
          <p:nvPr>
            <p:ph type="sldNum" sz="quarter" idx="12"/>
          </p:nvPr>
        </p:nvSpPr>
        <p:spPr/>
        <p:txBody>
          <a:bodyPr/>
          <a:lstStyle/>
          <a:p>
            <a:fld id="{0A5CBF63-613C-4E8E-B1A0-D710C5F27341}" type="slidenum">
              <a:rPr lang="en-US" smtClean="0"/>
              <a:t>7</a:t>
            </a:fld>
            <a:endParaRPr lang="en-US"/>
          </a:p>
        </p:txBody>
      </p:sp>
    </p:spTree>
    <p:extLst>
      <p:ext uri="{BB962C8B-B14F-4D97-AF65-F5344CB8AC3E}">
        <p14:creationId xmlns:p14="http://schemas.microsoft.com/office/powerpoint/2010/main" val="26011485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78BF8-83E2-B2A4-2068-DF5A7CC027A3}"/>
              </a:ext>
            </a:extLst>
          </p:cNvPr>
          <p:cNvSpPr>
            <a:spLocks noGrp="1"/>
          </p:cNvSpPr>
          <p:nvPr>
            <p:ph type="title"/>
          </p:nvPr>
        </p:nvSpPr>
        <p:spPr/>
        <p:txBody>
          <a:bodyPr/>
          <a:lstStyle/>
          <a:p>
            <a:r>
              <a:rPr sz="2600" b="1"/>
              <a:t>Baseline vs. Proposed Models</a:t>
            </a:r>
          </a:p>
        </p:txBody>
      </p:sp>
      <p:sp>
        <p:nvSpPr>
          <p:cNvPr id="3" name="Content Placeholder 2">
            <a:extLst>
              <a:ext uri="{FF2B5EF4-FFF2-40B4-BE49-F238E27FC236}">
                <a16:creationId xmlns:a16="http://schemas.microsoft.com/office/drawing/2014/main" id="{F93C1F33-7B7E-9D90-EF13-666DE0999804}"/>
              </a:ext>
            </a:extLst>
          </p:cNvPr>
          <p:cNvSpPr>
            <a:spLocks noGrp="1"/>
          </p:cNvSpPr>
          <p:nvPr>
            <p:ph idx="1"/>
          </p:nvPr>
        </p:nvSpPr>
        <p:spPr/>
        <p:txBody>
          <a:bodyPr/>
          <a:lstStyle/>
          <a:p>
            <a:pPr/>
            <a:r>
              <a:rPr sz="1500"/>
              <a:t>Task 1 – Classification:</a:t>
            </a:r>
          </a:p>
          <a:p>
            <a:pPr/>
            <a:r>
              <a:rPr sz="1500"/>
              <a:t>   Baseline: LightGBM on raw time-series (first 50 time steps)</a:t>
            </a:r>
          </a:p>
          <a:p>
            <a:pPr/>
            <a:r>
              <a:rPr sz="1500"/>
              <a:t>   Proposed: LightGBM on Catch22 features → SHAP pruned</a:t>
            </a:r>
          </a:p>
          <a:p>
            <a:pPr/>
            <a:r>
              <a:rPr sz="1500"/>
              <a:t>Task 2 – Forecasting:</a:t>
            </a:r>
          </a:p>
          <a:p>
            <a:pPr/>
            <a:r>
              <a:rPr sz="1500"/>
              <a:t>   Baseline: Ridge Regression on lag-1 only</a:t>
            </a:r>
          </a:p>
          <a:p>
            <a:pPr/>
            <a:r>
              <a:rPr sz="1500"/>
              <a:t>   Proposed: LightGBM on Lag+Rolling+Embeddings → SHAP pruned</a:t>
            </a:r>
          </a:p>
          <a:p>
            <a:pPr/>
            <a:r>
              <a:rPr sz="1500"/>
              <a:t>Task 3 – Anomaly Detection:</a:t>
            </a:r>
          </a:p>
          <a:p>
            <a:pPr/>
            <a:r>
              <a:rPr sz="1500"/>
              <a:t>   Baseline: Isolation Forest on raw 50-sample windows</a:t>
            </a:r>
          </a:p>
          <a:p>
            <a:pPr/>
            <a:r>
              <a:rPr sz="1500"/>
              <a:t>   Proposed: Isolation Forest on Catch22 → SHAP-selected features</a:t>
            </a:r>
          </a:p>
        </p:txBody>
      </p:sp>
      <p:sp>
        <p:nvSpPr>
          <p:cNvPr id="4" name="Slide Number Placeholder 3">
            <a:extLst>
              <a:ext uri="{FF2B5EF4-FFF2-40B4-BE49-F238E27FC236}">
                <a16:creationId xmlns:a16="http://schemas.microsoft.com/office/drawing/2014/main" id="{22B0E182-E09F-C7DA-E140-4ABF72CCF599}"/>
              </a:ext>
            </a:extLst>
          </p:cNvPr>
          <p:cNvSpPr>
            <a:spLocks noGrp="1"/>
          </p:cNvSpPr>
          <p:nvPr>
            <p:ph type="sldNum" sz="quarter" idx="12"/>
          </p:nvPr>
        </p:nvSpPr>
        <p:spPr/>
        <p:txBody>
          <a:bodyPr/>
          <a:lstStyle/>
          <a:p>
            <a:fld id="{0A5CBF63-613C-4E8E-B1A0-D710C5F27341}" type="slidenum">
              <a:rPr lang="en-US" smtClean="0"/>
              <a:t>8</a:t>
            </a:fld>
            <a:endParaRPr lang="en-US"/>
          </a:p>
        </p:txBody>
      </p:sp>
    </p:spTree>
    <p:extLst>
      <p:ext uri="{BB962C8B-B14F-4D97-AF65-F5344CB8AC3E}">
        <p14:creationId xmlns:p14="http://schemas.microsoft.com/office/powerpoint/2010/main" val="5980937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19164E-84E8-4FB2-8051-CB230F6D915C}"/>
              </a:ext>
            </a:extLst>
          </p:cNvPr>
          <p:cNvSpPr>
            <a:spLocks noGrp="1"/>
          </p:cNvSpPr>
          <p:nvPr>
            <p:ph type="title"/>
          </p:nvPr>
        </p:nvSpPr>
        <p:spPr/>
        <p:txBody>
          <a:bodyPr/>
          <a:lstStyle/>
          <a:p>
            <a:r>
              <a:rPr sz="2600" b="1"/>
              <a:t>Results: Classification (UCR Datasets)</a:t>
            </a:r>
          </a:p>
        </p:txBody>
      </p:sp>
      <p:sp>
        <p:nvSpPr>
          <p:cNvPr id="3" name="Content Placeholder 2">
            <a:extLst>
              <a:ext uri="{FF2B5EF4-FFF2-40B4-BE49-F238E27FC236}">
                <a16:creationId xmlns:a16="http://schemas.microsoft.com/office/drawing/2014/main" id="{613B13FA-5386-4E73-BB44-9A898AA7B251}"/>
              </a:ext>
            </a:extLst>
          </p:cNvPr>
          <p:cNvSpPr>
            <a:spLocks noGrp="1"/>
          </p:cNvSpPr>
          <p:nvPr>
            <p:ph idx="1"/>
          </p:nvPr>
        </p:nvSpPr>
        <p:spPr/>
        <p:txBody>
          <a:bodyPr/>
          <a:lstStyle/>
          <a:p>
            <a:pPr/>
            <a:r>
              <a:rPr sz="1500"/>
              <a:t>Catch22 outperforms raw features on 3/5 datasets. SHAP pruning maintains accuracy.</a:t>
            </a:r>
          </a:p>
        </p:txBody>
      </p:sp>
      <p:sp>
        <p:nvSpPr>
          <p:cNvPr id="4" name="Slide Number Placeholder 3">
            <a:extLst>
              <a:ext uri="{FF2B5EF4-FFF2-40B4-BE49-F238E27FC236}">
                <a16:creationId xmlns:a16="http://schemas.microsoft.com/office/drawing/2014/main" id="{4622CC70-E94D-443E-911C-FC4AEB22D28F}"/>
              </a:ext>
            </a:extLst>
          </p:cNvPr>
          <p:cNvSpPr>
            <a:spLocks noGrp="1"/>
          </p:cNvSpPr>
          <p:nvPr>
            <p:ph type="sldNum" sz="quarter" idx="12"/>
          </p:nvPr>
        </p:nvSpPr>
        <p:spPr/>
        <p:txBody>
          <a:bodyPr/>
          <a:lstStyle/>
          <a:p>
            <a:fld id="{0A5CBF63-613C-4E8E-B1A0-D710C5F27341}" type="slidenum">
              <a:rPr lang="en-US" smtClean="0"/>
              <a:t>9</a:t>
            </a:fld>
            <a:endParaRPr lang="en-US"/>
          </a:p>
        </p:txBody>
      </p:sp>
      <p:pic>
        <p:nvPicPr>
          <p:cNvPr id="5" name="Picture 4" descr="fig1_classification_accuracy.png"/>
          <p:cNvPicPr>
            <a:picLocks noChangeAspect="1"/>
          </p:cNvPicPr>
          <p:nvPr/>
        </p:nvPicPr>
        <p:blipFill>
          <a:blip r:embed="rId2"/>
          <a:stretch>
            <a:fillRect/>
          </a:stretch>
        </p:blipFill>
        <p:spPr>
          <a:xfrm>
            <a:off x="182880" y="1371600"/>
            <a:ext cx="8412480" cy="4389120"/>
          </a:xfrm>
          <a:prstGeom prst="rect">
            <a:avLst/>
          </a:prstGeom>
        </p:spPr>
      </p:pic>
    </p:spTree>
    <p:extLst>
      <p:ext uri="{BB962C8B-B14F-4D97-AF65-F5344CB8AC3E}">
        <p14:creationId xmlns:p14="http://schemas.microsoft.com/office/powerpoint/2010/main" val="19270003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224CBC-2808-4E23-80B2-9E171CC29953}"/>
              </a:ext>
            </a:extLst>
          </p:cNvPr>
          <p:cNvSpPr>
            <a:spLocks noGrp="1"/>
          </p:cNvSpPr>
          <p:nvPr>
            <p:ph type="title"/>
          </p:nvPr>
        </p:nvSpPr>
        <p:spPr/>
        <p:txBody>
          <a:bodyPr/>
          <a:lstStyle/>
          <a:p>
            <a:r>
              <a:rPr sz="2600" b="1"/>
              <a:t>Discussion</a:t>
            </a:r>
          </a:p>
        </p:txBody>
      </p:sp>
      <p:sp>
        <p:nvSpPr>
          <p:cNvPr id="3" name="Content Placeholder 2">
            <a:extLst>
              <a:ext uri="{FF2B5EF4-FFF2-40B4-BE49-F238E27FC236}">
                <a16:creationId xmlns:a16="http://schemas.microsoft.com/office/drawing/2014/main" id="{82042E1A-E850-4E77-ADD8-475691D00942}"/>
              </a:ext>
            </a:extLst>
          </p:cNvPr>
          <p:cNvSpPr>
            <a:spLocks noGrp="1"/>
          </p:cNvSpPr>
          <p:nvPr>
            <p:ph idx="1"/>
          </p:nvPr>
        </p:nvSpPr>
        <p:spPr/>
        <p:txBody>
          <a:bodyPr/>
          <a:lstStyle/>
          <a:p>
            <a:pPr/>
            <a:r>
              <a:rPr sz="1500"/>
              <a:t>Key Insight 1 – SHAP as a decision tool, not just reporting:</a:t>
            </a:r>
          </a:p>
          <a:p>
            <a:pPr/>
            <a:r>
              <a:rPr sz="1500"/>
              <a:t>   Pruning 40-45% of features preserved accuracy across all tasks.</a:t>
            </a:r>
          </a:p>
          <a:p>
            <a:pPr/>
            <a:r>
              <a:rPr sz="1500"/>
              <a:t>Key Insight 2 – Catch22 generalizes well but not universally:</a:t>
            </a:r>
          </a:p>
          <a:p>
            <a:pPr/>
            <a:r>
              <a:rPr sz="1500"/>
              <a:t>   ItalyPowerDemand: raw features win (local shape patterns matter).</a:t>
            </a:r>
          </a:p>
          <a:p>
            <a:pPr/>
            <a:r>
              <a:rPr sz="1500"/>
              <a:t>   SyntheticControl: Catch22 wins (global statistics are discriminative).</a:t>
            </a:r>
          </a:p>
          <a:p>
            <a:pPr/>
            <a:r>
              <a:rPr sz="1500"/>
              <a:t>Key Insight 3 – Self-supervised embeddings underperform explicit statistics:</a:t>
            </a:r>
          </a:p>
          <a:p>
            <a:pPr/>
            <a:r>
              <a:rPr sz="1500"/>
              <a:t>   MLP embeddings (MSE=0.337) &lt; Lag+Rolling (MSE=0.228) for ETTh1.</a:t>
            </a:r>
          </a:p>
          <a:p>
            <a:pPr/>
            <a:r>
              <a:rPr sz="1500"/>
              <a:t>Limitation: WESAD-like data is simulated; real wearable data may differ.</a:t>
            </a:r>
          </a:p>
        </p:txBody>
      </p:sp>
      <p:sp>
        <p:nvSpPr>
          <p:cNvPr id="4" name="Slide Number Placeholder 3">
            <a:extLst>
              <a:ext uri="{FF2B5EF4-FFF2-40B4-BE49-F238E27FC236}">
                <a16:creationId xmlns:a16="http://schemas.microsoft.com/office/drawing/2014/main" id="{4471D03B-ED1B-4F5E-B67B-27646B683320}"/>
              </a:ext>
            </a:extLst>
          </p:cNvPr>
          <p:cNvSpPr>
            <a:spLocks noGrp="1"/>
          </p:cNvSpPr>
          <p:nvPr>
            <p:ph type="sldNum" sz="quarter" idx="12"/>
          </p:nvPr>
        </p:nvSpPr>
        <p:spPr/>
        <p:txBody>
          <a:bodyPr/>
          <a:lstStyle/>
          <a:p>
            <a:fld id="{0A5CBF63-613C-4E8E-B1A0-D710C5F27341}" type="slidenum">
              <a:rPr lang="en-US" smtClean="0"/>
              <a:t>10</a:t>
            </a:fld>
            <a:endParaRPr lang="en-US"/>
          </a:p>
        </p:txBody>
      </p:sp>
    </p:spTree>
    <p:extLst>
      <p:ext uri="{BB962C8B-B14F-4D97-AF65-F5344CB8AC3E}">
        <p14:creationId xmlns:p14="http://schemas.microsoft.com/office/powerpoint/2010/main" val="38295124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0A557-ABC3-498E-8D75-55910301470D}"/>
              </a:ext>
            </a:extLst>
          </p:cNvPr>
          <p:cNvSpPr>
            <a:spLocks noGrp="1"/>
          </p:cNvSpPr>
          <p:nvPr>
            <p:ph type="title"/>
          </p:nvPr>
        </p:nvSpPr>
        <p:spPr/>
        <p:txBody>
          <a:bodyPr/>
          <a:lstStyle/>
          <a:p>
            <a:r>
              <a:rPr sz="2600" b="1"/>
              <a:t>Conclusion</a:t>
            </a:r>
          </a:p>
        </p:txBody>
      </p:sp>
      <p:sp>
        <p:nvSpPr>
          <p:cNvPr id="3" name="Content Placeholder 2">
            <a:extLst>
              <a:ext uri="{FF2B5EF4-FFF2-40B4-BE49-F238E27FC236}">
                <a16:creationId xmlns:a16="http://schemas.microsoft.com/office/drawing/2014/main" id="{42BB6EC8-1378-436A-8E54-41C41CE22B90}"/>
              </a:ext>
            </a:extLst>
          </p:cNvPr>
          <p:cNvSpPr>
            <a:spLocks noGrp="1"/>
          </p:cNvSpPr>
          <p:nvPr>
            <p:ph idx="1"/>
          </p:nvPr>
        </p:nvSpPr>
        <p:spPr/>
        <p:txBody>
          <a:bodyPr/>
          <a:lstStyle/>
          <a:p>
            <a:pPr/>
            <a:r>
              <a:rPr sz="1600"/>
              <a:t>Feature engineering still matters, even in the deep learning era.</a:t>
            </a:r>
          </a:p>
          <a:p>
            <a:pPr/>
            <a:r>
              <a:rPr sz="1600"/>
              <a:t>Catch22 + LightGBM is a powerful, efficient alternative to end-to-end deep models.</a:t>
            </a:r>
          </a:p>
          <a:p>
            <a:pPr/>
            <a:r>
              <a:rPr sz="1600"/>
              <a:t>SHAP-guided pruning is a practical, principled way to reduce feature dimensionality.</a:t>
            </a:r>
          </a:p>
          <a:p>
            <a:pPr/>
            <a:r>
              <a:rPr sz="1600"/>
              <a:t>Lag and rolling statistics remain the strongest features for time-series forecasting.</a:t>
            </a:r>
          </a:p>
          <a:p>
            <a:pPr/>
            <a:r>
              <a:rPr sz="1600"/>
              <a:t>Future work: LLM-assisted feature suggestion, edge-device deployment, real WESAD data.</a:t>
            </a:r>
          </a:p>
        </p:txBody>
      </p:sp>
      <p:sp>
        <p:nvSpPr>
          <p:cNvPr id="4" name="Slide Number Placeholder 3">
            <a:extLst>
              <a:ext uri="{FF2B5EF4-FFF2-40B4-BE49-F238E27FC236}">
                <a16:creationId xmlns:a16="http://schemas.microsoft.com/office/drawing/2014/main" id="{4F615013-5B10-4E1F-8C90-F488589DEB38}"/>
              </a:ext>
            </a:extLst>
          </p:cNvPr>
          <p:cNvSpPr>
            <a:spLocks noGrp="1"/>
          </p:cNvSpPr>
          <p:nvPr>
            <p:ph type="sldNum" sz="quarter" idx="12"/>
          </p:nvPr>
        </p:nvSpPr>
        <p:spPr/>
        <p:txBody>
          <a:bodyPr/>
          <a:lstStyle/>
          <a:p>
            <a:fld id="{0A5CBF63-613C-4E8E-B1A0-D710C5F27341}" type="slidenum">
              <a:rPr lang="en-US" smtClean="0"/>
              <a:t>11</a:t>
            </a:fld>
            <a:endParaRPr lang="en-US"/>
          </a:p>
        </p:txBody>
      </p:sp>
    </p:spTree>
    <p:extLst>
      <p:ext uri="{BB962C8B-B14F-4D97-AF65-F5344CB8AC3E}">
        <p14:creationId xmlns:p14="http://schemas.microsoft.com/office/powerpoint/2010/main" val="27243648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09994-B480-4FAC-AC64-328DC51C16B8}"/>
              </a:ext>
            </a:extLst>
          </p:cNvPr>
          <p:cNvSpPr>
            <a:spLocks noGrp="1"/>
          </p:cNvSpPr>
          <p:nvPr>
            <p:ph type="title"/>
          </p:nvPr>
        </p:nvSpPr>
        <p:spPr/>
        <p:txBody>
          <a:bodyPr/>
          <a:lstStyle/>
          <a:p>
            <a:r>
              <a:rPr sz="2600" b="1"/>
              <a:t>References</a:t>
            </a:r>
          </a:p>
        </p:txBody>
      </p:sp>
      <p:sp>
        <p:nvSpPr>
          <p:cNvPr id="3" name="Content Placeholder 2">
            <a:extLst>
              <a:ext uri="{FF2B5EF4-FFF2-40B4-BE49-F238E27FC236}">
                <a16:creationId xmlns:a16="http://schemas.microsoft.com/office/drawing/2014/main" id="{A9B3D05C-2E96-4D9F-A497-D4E5DF41CB7D}"/>
              </a:ext>
            </a:extLst>
          </p:cNvPr>
          <p:cNvSpPr>
            <a:spLocks noGrp="1"/>
          </p:cNvSpPr>
          <p:nvPr>
            <p:ph idx="1"/>
          </p:nvPr>
        </p:nvSpPr>
        <p:spPr/>
        <p:txBody>
          <a:bodyPr/>
          <a:lstStyle/>
          <a:p>
            <a:pPr/>
            <a:r>
              <a:rPr sz="1400"/>
              <a:t>[1] H. Badi et al., "COCALITE," IEEE BigData 2024, pp. 5234–5243.</a:t>
            </a:r>
          </a:p>
          <a:p>
            <a:pPr/>
            <a:r>
              <a:rPr sz="1400"/>
              <a:t>[2] M. D'Aversa et al., "SPLiT," IEEE BigData 2024, pp. 3412–3421.</a:t>
            </a:r>
          </a:p>
          <a:p>
            <a:pPr/>
            <a:r>
              <a:rPr sz="1400"/>
              <a:t>[3] L. Valerio et al., "Unsupervised Anomaly Detection in PPG," IEEE SENSORS 2024.</a:t>
            </a:r>
          </a:p>
          <a:p>
            <a:pPr/>
            <a:r>
              <a:rPr sz="1400"/>
              <a:t>[4] T. Okadome &amp; J. Nakamura, "Lag Operation," IEEE Access, vol. 12, 2024.</a:t>
            </a:r>
          </a:p>
          <a:p>
            <a:pPr/>
            <a:r>
              <a:rPr sz="1400"/>
              <a:t>[5] O. Petrosian et al., "AutoFE-XAI," IEEE Access, vol. 13, 2025.</a:t>
            </a:r>
          </a:p>
          <a:p>
            <a:pPr/>
            <a:r>
              <a:rPr sz="1400"/>
              <a:t>[6] C. H. Lubba et al., "catch22," Data Mining &amp; Knowledge Discovery, 2019.</a:t>
            </a:r>
          </a:p>
        </p:txBody>
      </p:sp>
      <p:sp>
        <p:nvSpPr>
          <p:cNvPr id="4" name="Slide Number Placeholder 3">
            <a:extLst>
              <a:ext uri="{FF2B5EF4-FFF2-40B4-BE49-F238E27FC236}">
                <a16:creationId xmlns:a16="http://schemas.microsoft.com/office/drawing/2014/main" id="{B7178E31-C4A1-457D-8329-E48C46A06169}"/>
              </a:ext>
            </a:extLst>
          </p:cNvPr>
          <p:cNvSpPr>
            <a:spLocks noGrp="1"/>
          </p:cNvSpPr>
          <p:nvPr>
            <p:ph type="sldNum" sz="quarter" idx="12"/>
          </p:nvPr>
        </p:nvSpPr>
        <p:spPr/>
        <p:txBody>
          <a:bodyPr/>
          <a:lstStyle/>
          <a:p>
            <a:fld id="{0A5CBF63-613C-4E8E-B1A0-D710C5F27341}" type="slidenum">
              <a:rPr lang="en-US" smtClean="0"/>
              <a:t>12</a:t>
            </a:fld>
            <a:endParaRPr lang="en-US"/>
          </a:p>
        </p:txBody>
      </p:sp>
    </p:spTree>
    <p:extLst>
      <p:ext uri="{BB962C8B-B14F-4D97-AF65-F5344CB8AC3E}">
        <p14:creationId xmlns:p14="http://schemas.microsoft.com/office/powerpoint/2010/main" val="27515726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B94B9-376A-4457-BFB2-B85BAEC19CAF}"/>
              </a:ext>
            </a:extLst>
          </p:cNvPr>
          <p:cNvSpPr>
            <a:spLocks noGrp="1"/>
          </p:cNvSpPr>
          <p:nvPr>
            <p:ph type="title"/>
          </p:nvPr>
        </p:nvSpPr>
        <p:spPr/>
        <p:txBody>
          <a:bodyPr/>
          <a:lstStyle/>
          <a:p>
            <a:r>
              <a:rPr sz="3200" b="1"/>
              <a:t>Thank You!</a:t>
            </a:r>
          </a:p>
        </p:txBody>
      </p:sp>
      <p:sp>
        <p:nvSpPr>
          <p:cNvPr id="3" name="Content Placeholder 2">
            <a:extLst>
              <a:ext uri="{FF2B5EF4-FFF2-40B4-BE49-F238E27FC236}">
                <a16:creationId xmlns:a16="http://schemas.microsoft.com/office/drawing/2014/main" id="{09389926-2F28-4261-98C7-EBEE37734DC8}"/>
              </a:ext>
            </a:extLst>
          </p:cNvPr>
          <p:cNvSpPr>
            <a:spLocks noGrp="1"/>
          </p:cNvSpPr>
          <p:nvPr>
            <p:ph idx="1"/>
          </p:nvPr>
        </p:nvSpPr>
        <p:spPr/>
        <p:txBody>
          <a:bodyPr/>
          <a:lstStyle/>
          <a:p>
            <a:pPr/>
            <a:r>
              <a:rPr sz="1800"/>
              <a:t>Group 18 – CSCE 5222 Feature Engineering</a:t>
            </a:r>
          </a:p>
          <a:p>
            <a:pPr/>
            <a:r>
              <a:rPr sz="1800"/>
              <a:t>Ashish Rathnakar Shetty | Kushal Sai Venigalla</a:t>
            </a:r>
          </a:p>
          <a:p>
            <a:pPr/>
          </a:p>
          <a:p>
            <a:pPr/>
            <a:r>
              <a:rPr sz="1800"/>
              <a:t>Questions welcome!</a:t>
            </a:r>
          </a:p>
        </p:txBody>
      </p:sp>
      <p:sp>
        <p:nvSpPr>
          <p:cNvPr id="4" name="Slide Number Placeholder 3">
            <a:extLst>
              <a:ext uri="{FF2B5EF4-FFF2-40B4-BE49-F238E27FC236}">
                <a16:creationId xmlns:a16="http://schemas.microsoft.com/office/drawing/2014/main" id="{66A9EFFA-09BB-4BC2-8A9B-647310BD2272}"/>
              </a:ext>
            </a:extLst>
          </p:cNvPr>
          <p:cNvSpPr>
            <a:spLocks noGrp="1"/>
          </p:cNvSpPr>
          <p:nvPr>
            <p:ph type="sldNum" sz="quarter" idx="12"/>
          </p:nvPr>
        </p:nvSpPr>
        <p:spPr/>
        <p:txBody>
          <a:bodyPr/>
          <a:lstStyle/>
          <a:p>
            <a:fld id="{0A5CBF63-613C-4E8E-B1A0-D710C5F27341}" type="slidenum">
              <a:rPr lang="en-US" smtClean="0"/>
              <a:t>13</a:t>
            </a:fld>
            <a:endParaRPr lang="en-US"/>
          </a:p>
        </p:txBody>
      </p:sp>
    </p:spTree>
    <p:extLst>
      <p:ext uri="{BB962C8B-B14F-4D97-AF65-F5344CB8AC3E}">
        <p14:creationId xmlns:p14="http://schemas.microsoft.com/office/powerpoint/2010/main" val="35318755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E5E19-0F1B-45B3-ADAB-278B33B9FFB8}"/>
              </a:ext>
            </a:extLst>
          </p:cNvPr>
          <p:cNvSpPr>
            <a:spLocks noGrp="1"/>
          </p:cNvSpPr>
          <p:nvPr>
            <p:ph type="title"/>
          </p:nvPr>
        </p:nvSpPr>
        <p:spPr/>
        <p:txBody>
          <a:bodyPr/>
          <a:lstStyle/>
          <a:p>
            <a:r>
              <a:rPr lang="en-US" dirty="0"/>
              <a:t>Additional Presentation Tips</a:t>
            </a:r>
          </a:p>
        </p:txBody>
      </p:sp>
      <p:sp>
        <p:nvSpPr>
          <p:cNvPr id="3" name="Content Placeholder 2">
            <a:extLst>
              <a:ext uri="{FF2B5EF4-FFF2-40B4-BE49-F238E27FC236}">
                <a16:creationId xmlns:a16="http://schemas.microsoft.com/office/drawing/2014/main" id="{780007F2-EDE5-45A3-84D8-561E4C805FE8}"/>
              </a:ext>
            </a:extLst>
          </p:cNvPr>
          <p:cNvSpPr>
            <a:spLocks noGrp="1"/>
          </p:cNvSpPr>
          <p:nvPr>
            <p:ph idx="1"/>
          </p:nvPr>
        </p:nvSpPr>
        <p:spPr/>
        <p:txBody>
          <a:bodyPr>
            <a:normAutofit/>
          </a:bodyPr>
          <a:lstStyle/>
          <a:p>
            <a:r>
              <a:rPr lang="en-US" dirty="0"/>
              <a:t>Slide Design: Stick to this template </a:t>
            </a:r>
            <a:r>
              <a:rPr lang="en-US" b="1" dirty="0"/>
              <a:t>ONLY</a:t>
            </a:r>
            <a:r>
              <a:rPr lang="en-US" dirty="0"/>
              <a:t>. Avoid clutter; each slide should convey a single idea or a closely related set of points.</a:t>
            </a:r>
          </a:p>
          <a:p>
            <a:r>
              <a:rPr lang="en-US" dirty="0"/>
              <a:t>Limit text on each slide; use bullet points and visuals to enhance clarity.</a:t>
            </a:r>
          </a:p>
          <a:p>
            <a:r>
              <a:rPr lang="en-US" dirty="0"/>
              <a:t>Include diagrams, flowcharts, or tables where applicable.</a:t>
            </a:r>
          </a:p>
          <a:p>
            <a:r>
              <a:rPr lang="en-US" dirty="0"/>
              <a:t>Maintain a consistent theme and font size throughout the presentation.</a:t>
            </a:r>
          </a:p>
          <a:p>
            <a:r>
              <a:rPr lang="en-US" dirty="0"/>
              <a:t>Aim for a presentation length of 5-10 minutes.</a:t>
            </a:r>
          </a:p>
        </p:txBody>
      </p:sp>
      <p:sp>
        <p:nvSpPr>
          <p:cNvPr id="4" name="Slide Number Placeholder 3">
            <a:extLst>
              <a:ext uri="{FF2B5EF4-FFF2-40B4-BE49-F238E27FC236}">
                <a16:creationId xmlns:a16="http://schemas.microsoft.com/office/drawing/2014/main" id="{68F32A74-275B-4B17-269E-020951C91AC5}"/>
              </a:ext>
            </a:extLst>
          </p:cNvPr>
          <p:cNvSpPr>
            <a:spLocks noGrp="1"/>
          </p:cNvSpPr>
          <p:nvPr>
            <p:ph type="sldNum" sz="quarter" idx="12"/>
          </p:nvPr>
        </p:nvSpPr>
        <p:spPr/>
        <p:txBody>
          <a:bodyPr/>
          <a:lstStyle/>
          <a:p>
            <a:fld id="{B6F15528-21DE-4FAA-801E-634DDDAF4B2B}" type="slidenum">
              <a:rPr lang="en-US" smtClean="0"/>
              <a:pPr/>
              <a:t>14</a:t>
            </a:fld>
            <a:endParaRPr lang="en-US"/>
          </a:p>
        </p:txBody>
      </p:sp>
    </p:spTree>
    <p:extLst>
      <p:ext uri="{BB962C8B-B14F-4D97-AF65-F5344CB8AC3E}">
        <p14:creationId xmlns:p14="http://schemas.microsoft.com/office/powerpoint/2010/main" val="31064034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5D4AE-EA2E-43C3-A019-FC0268A961D2}"/>
              </a:ext>
            </a:extLst>
          </p:cNvPr>
          <p:cNvSpPr>
            <a:spLocks noGrp="1"/>
          </p:cNvSpPr>
          <p:nvPr>
            <p:ph type="title"/>
          </p:nvPr>
        </p:nvSpPr>
        <p:spPr/>
        <p:txBody>
          <a:bodyPr/>
          <a:lstStyle/>
          <a:p>
            <a:r>
              <a:rPr sz="2600" b="1"/>
              <a:t>Part 2: Live Demo – Setup</a:t>
            </a:r>
          </a:p>
        </p:txBody>
      </p:sp>
      <p:sp>
        <p:nvSpPr>
          <p:cNvPr id="3" name="Content Placeholder 2">
            <a:extLst>
              <a:ext uri="{FF2B5EF4-FFF2-40B4-BE49-F238E27FC236}">
                <a16:creationId xmlns:a16="http://schemas.microsoft.com/office/drawing/2014/main" id="{25764FDE-E427-493D-B7AE-9CAB3A3A6ECA}"/>
              </a:ext>
            </a:extLst>
          </p:cNvPr>
          <p:cNvSpPr>
            <a:spLocks noGrp="1"/>
          </p:cNvSpPr>
          <p:nvPr>
            <p:ph idx="1"/>
          </p:nvPr>
        </p:nvSpPr>
        <p:spPr/>
        <p:txBody>
          <a:bodyPr/>
          <a:lstStyle/>
          <a:p>
            <a:pPr/>
            <a:r>
              <a:rPr sz="1600"/>
              <a:t>Environment: Python 3.11, Jupyter Notebook / VS Code</a:t>
            </a:r>
          </a:p>
          <a:p>
            <a:pPr/>
            <a:r>
              <a:rPr sz="1600"/>
              <a:t>Key Libraries: NumPy, Pandas, LightGBM, SHAP, scikit-learn, Matplotlib</a:t>
            </a:r>
          </a:p>
          <a:p>
            <a:pPr/>
            <a:r>
              <a:rPr sz="1600"/>
              <a:t>Datasets pre-downloaded: UCR (GunPoint, ECG200), ETTh1.csv</a:t>
            </a:r>
          </a:p>
          <a:p>
            <a:pPr/>
            <a:r>
              <a:rPr sz="1600"/>
              <a:t>All dependencies installed and tested before the demo.</a:t>
            </a:r>
          </a:p>
          <a:p>
            <a:pPr/>
            <a:r>
              <a:rPr sz="1600"/>
              <a:t>Notebook: feature_engineering_pipeline.py (modular, annotated)</a:t>
            </a:r>
          </a:p>
        </p:txBody>
      </p:sp>
      <p:sp>
        <p:nvSpPr>
          <p:cNvPr id="4" name="Slide Number Placeholder 3">
            <a:extLst>
              <a:ext uri="{FF2B5EF4-FFF2-40B4-BE49-F238E27FC236}">
                <a16:creationId xmlns:a16="http://schemas.microsoft.com/office/drawing/2014/main" id="{062A178F-5455-4170-89B7-7CE2A57146C7}"/>
              </a:ext>
            </a:extLst>
          </p:cNvPr>
          <p:cNvSpPr>
            <a:spLocks noGrp="1"/>
          </p:cNvSpPr>
          <p:nvPr>
            <p:ph type="sldNum" sz="quarter" idx="12"/>
          </p:nvPr>
        </p:nvSpPr>
        <p:spPr/>
        <p:txBody>
          <a:bodyPr/>
          <a:lstStyle/>
          <a:p>
            <a:fld id="{0A5CBF63-613C-4E8E-B1A0-D710C5F27341}" type="slidenum">
              <a:rPr lang="en-US" smtClean="0"/>
              <a:t>15</a:t>
            </a:fld>
            <a:endParaRPr lang="en-US"/>
          </a:p>
        </p:txBody>
      </p:sp>
    </p:spTree>
    <p:extLst>
      <p:ext uri="{BB962C8B-B14F-4D97-AF65-F5344CB8AC3E}">
        <p14:creationId xmlns:p14="http://schemas.microsoft.com/office/powerpoint/2010/main" val="5857122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82B1D4-76FB-0746-5479-EC3D509DC2F2}"/>
              </a:ext>
            </a:extLst>
          </p:cNvPr>
          <p:cNvSpPr>
            <a:spLocks noGrp="1"/>
          </p:cNvSpPr>
          <p:nvPr>
            <p:ph type="title"/>
          </p:nvPr>
        </p:nvSpPr>
        <p:spPr/>
        <p:txBody>
          <a:bodyPr/>
          <a:lstStyle/>
          <a:p>
            <a:r>
              <a:rPr sz="2600" b="1"/>
              <a:t>Flow of the Demo</a:t>
            </a:r>
          </a:p>
        </p:txBody>
      </p:sp>
      <p:sp>
        <p:nvSpPr>
          <p:cNvPr id="3" name="Content Placeholder 2">
            <a:extLst>
              <a:ext uri="{FF2B5EF4-FFF2-40B4-BE49-F238E27FC236}">
                <a16:creationId xmlns:a16="http://schemas.microsoft.com/office/drawing/2014/main" id="{A66B7B23-539B-B766-3F7F-C8755A8C5E7C}"/>
              </a:ext>
            </a:extLst>
          </p:cNvPr>
          <p:cNvSpPr>
            <a:spLocks noGrp="1"/>
          </p:cNvSpPr>
          <p:nvPr>
            <p:ph idx="1"/>
          </p:nvPr>
        </p:nvSpPr>
        <p:spPr/>
        <p:txBody>
          <a:bodyPr/>
          <a:lstStyle/>
          <a:p>
            <a:pPr/>
            <a:r>
              <a:rPr sz="1500"/>
              <a:t>1. Dataset Exploration: Show raw GunPoint time-series, ETTh1 columns.</a:t>
            </a:r>
          </a:p>
          <a:p>
            <a:pPr/>
            <a:r>
              <a:rPr sz="1500"/>
              <a:t>2. Feature Extraction: Run catch22_features() on a sample series live.</a:t>
            </a:r>
          </a:p>
          <a:p>
            <a:pPr/>
            <a:r>
              <a:rPr sz="1500"/>
              <a:t>3. SHAP Pruning: Show LightGBM + SHAP → feature importance bar chart.</a:t>
            </a:r>
          </a:p>
          <a:p>
            <a:pPr/>
            <a:r>
              <a:rPr sz="1500"/>
              <a:t>4. Model Evaluation: Compare accuracy/MSE before and after feature engineering.</a:t>
            </a:r>
          </a:p>
          <a:p>
            <a:pPr/>
            <a:r>
              <a:rPr sz="1500"/>
              <a:t>5. Forecasting: Plot actual vs. predicted oil temperature (ETTh1).</a:t>
            </a:r>
          </a:p>
          <a:p>
            <a:pPr/>
            <a:r>
              <a:rPr sz="1500"/>
              <a:t>6. Anomaly Detection: Show BVP signal with highlighted anomaly regions.</a:t>
            </a:r>
          </a:p>
        </p:txBody>
      </p:sp>
      <p:sp>
        <p:nvSpPr>
          <p:cNvPr id="4" name="Slide Number Placeholder 3">
            <a:extLst>
              <a:ext uri="{FF2B5EF4-FFF2-40B4-BE49-F238E27FC236}">
                <a16:creationId xmlns:a16="http://schemas.microsoft.com/office/drawing/2014/main" id="{1E3D41AE-78B7-7DB6-D5FA-75A613ABD1D9}"/>
              </a:ext>
            </a:extLst>
          </p:cNvPr>
          <p:cNvSpPr>
            <a:spLocks noGrp="1"/>
          </p:cNvSpPr>
          <p:nvPr>
            <p:ph type="sldNum" sz="quarter" idx="12"/>
          </p:nvPr>
        </p:nvSpPr>
        <p:spPr/>
        <p:txBody>
          <a:bodyPr/>
          <a:lstStyle/>
          <a:p>
            <a:fld id="{0A5CBF63-613C-4E8E-B1A0-D710C5F27341}" type="slidenum">
              <a:rPr lang="en-US" smtClean="0"/>
              <a:t>16</a:t>
            </a:fld>
            <a:endParaRPr lang="en-US"/>
          </a:p>
        </p:txBody>
      </p:sp>
    </p:spTree>
    <p:extLst>
      <p:ext uri="{BB962C8B-B14F-4D97-AF65-F5344CB8AC3E}">
        <p14:creationId xmlns:p14="http://schemas.microsoft.com/office/powerpoint/2010/main" val="23433598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F701BC-BD78-4D46-984E-7210A7D2AB83}"/>
              </a:ext>
            </a:extLst>
          </p:cNvPr>
          <p:cNvSpPr>
            <a:spLocks noGrp="1"/>
          </p:cNvSpPr>
          <p:nvPr>
            <p:ph type="title"/>
          </p:nvPr>
        </p:nvSpPr>
        <p:spPr/>
        <p:txBody>
          <a:bodyPr/>
          <a:lstStyle/>
          <a:p>
            <a:r>
              <a:rPr sz="2600" b="1"/>
              <a:t>Interactivity</a:t>
            </a:r>
          </a:p>
        </p:txBody>
      </p:sp>
      <p:sp>
        <p:nvSpPr>
          <p:cNvPr id="3" name="Content Placeholder 2">
            <a:extLst>
              <a:ext uri="{FF2B5EF4-FFF2-40B4-BE49-F238E27FC236}">
                <a16:creationId xmlns:a16="http://schemas.microsoft.com/office/drawing/2014/main" id="{DB232A12-2315-4792-B862-0CAF7466193A}"/>
              </a:ext>
            </a:extLst>
          </p:cNvPr>
          <p:cNvSpPr>
            <a:spLocks noGrp="1"/>
          </p:cNvSpPr>
          <p:nvPr>
            <p:ph idx="1"/>
          </p:nvPr>
        </p:nvSpPr>
        <p:spPr/>
        <p:txBody>
          <a:bodyPr/>
          <a:lstStyle/>
          <a:p>
            <a:pPr/>
            <a:r>
              <a:rPr sz="1600"/>
              <a:t>Live code walkthrough of the Catch22 feature extraction loop.</a:t>
            </a:r>
          </a:p>
          <a:p>
            <a:pPr/>
            <a:r>
              <a:rPr sz="1600"/>
              <a:t>Interactive SHAP bar chart: audience can ask about specific features.</a:t>
            </a:r>
          </a:p>
          <a:p>
            <a:pPr/>
            <a:r>
              <a:rPr sz="1600"/>
              <a:t>Real-time model comparison table printed to console.</a:t>
            </a:r>
          </a:p>
          <a:p>
            <a:pPr/>
            <a:r>
              <a:rPr sz="1600"/>
              <a:t>Visualization: forecast vs. actual plot generated live.</a:t>
            </a:r>
          </a:p>
          <a:p>
            <a:pPr/>
            <a:r>
              <a:rPr sz="1600"/>
              <a:t>Anomaly detection: adjust contamination parameter and observe F1 change.</a:t>
            </a:r>
          </a:p>
        </p:txBody>
      </p:sp>
      <p:sp>
        <p:nvSpPr>
          <p:cNvPr id="4" name="Slide Number Placeholder 3">
            <a:extLst>
              <a:ext uri="{FF2B5EF4-FFF2-40B4-BE49-F238E27FC236}">
                <a16:creationId xmlns:a16="http://schemas.microsoft.com/office/drawing/2014/main" id="{4316D897-CA62-41B6-BE7A-EDD415538083}"/>
              </a:ext>
            </a:extLst>
          </p:cNvPr>
          <p:cNvSpPr>
            <a:spLocks noGrp="1"/>
          </p:cNvSpPr>
          <p:nvPr>
            <p:ph type="sldNum" sz="quarter" idx="12"/>
          </p:nvPr>
        </p:nvSpPr>
        <p:spPr/>
        <p:txBody>
          <a:bodyPr/>
          <a:lstStyle/>
          <a:p>
            <a:fld id="{0A5CBF63-613C-4E8E-B1A0-D710C5F27341}" type="slidenum">
              <a:rPr lang="en-US" smtClean="0"/>
              <a:t>17</a:t>
            </a:fld>
            <a:endParaRPr lang="en-US"/>
          </a:p>
        </p:txBody>
      </p:sp>
    </p:spTree>
    <p:extLst>
      <p:ext uri="{BB962C8B-B14F-4D97-AF65-F5344CB8AC3E}">
        <p14:creationId xmlns:p14="http://schemas.microsoft.com/office/powerpoint/2010/main" val="15414642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F701BC-BD78-4D46-984E-7210A7D2AB83}"/>
              </a:ext>
            </a:extLst>
          </p:cNvPr>
          <p:cNvSpPr>
            <a:spLocks noGrp="1"/>
          </p:cNvSpPr>
          <p:nvPr>
            <p:ph type="title"/>
          </p:nvPr>
        </p:nvSpPr>
        <p:spPr/>
        <p:txBody>
          <a:bodyPr/>
          <a:lstStyle/>
          <a:p>
            <a:r>
              <a:rPr lang="en-US" dirty="0"/>
              <a:t>Tips for the Demo</a:t>
            </a:r>
          </a:p>
        </p:txBody>
      </p:sp>
      <p:sp>
        <p:nvSpPr>
          <p:cNvPr id="3" name="Content Placeholder 2">
            <a:extLst>
              <a:ext uri="{FF2B5EF4-FFF2-40B4-BE49-F238E27FC236}">
                <a16:creationId xmlns:a16="http://schemas.microsoft.com/office/drawing/2014/main" id="{DB232A12-2315-4792-B862-0CAF7466193A}"/>
              </a:ext>
            </a:extLst>
          </p:cNvPr>
          <p:cNvSpPr>
            <a:spLocks noGrp="1"/>
          </p:cNvSpPr>
          <p:nvPr>
            <p:ph idx="1"/>
          </p:nvPr>
        </p:nvSpPr>
        <p:spPr/>
        <p:txBody>
          <a:bodyPr>
            <a:normAutofit lnSpcReduction="10000"/>
          </a:bodyPr>
          <a:lstStyle/>
          <a:p>
            <a:r>
              <a:rPr lang="en-US" dirty="0"/>
              <a:t>Use concise and well-organized slides to complement the live demo.</a:t>
            </a:r>
          </a:p>
          <a:p>
            <a:r>
              <a:rPr lang="en-US" dirty="0"/>
              <a:t>Avoid technical jargon; explain concepts clearly for a general audience.</a:t>
            </a:r>
          </a:p>
          <a:p>
            <a:r>
              <a:rPr lang="en-US" dirty="0"/>
              <a:t>Test the demo environment multiple times to prevent unexpected issues.</a:t>
            </a:r>
          </a:p>
          <a:p>
            <a:r>
              <a:rPr lang="en-US" dirty="0"/>
              <a:t>Prepare backup screenshots or videos in case of technical difficulties.</a:t>
            </a:r>
          </a:p>
          <a:p>
            <a:r>
              <a:rPr lang="en-US" dirty="0"/>
              <a:t>Aim for a demo length of 5-10 minutes.</a:t>
            </a:r>
          </a:p>
          <a:p>
            <a:r>
              <a:rPr lang="en-US" dirty="0">
                <a:highlight>
                  <a:srgbClr val="FFFF00"/>
                </a:highlight>
              </a:rPr>
              <a:t>If the demo is longer than 9 minutes, record a video and play it at a faster speed while providing a live explanation to keep the audience engaged.</a:t>
            </a:r>
          </a:p>
          <a:p>
            <a:endParaRPr lang="en-US" dirty="0"/>
          </a:p>
        </p:txBody>
      </p:sp>
      <p:sp>
        <p:nvSpPr>
          <p:cNvPr id="4" name="Slide Number Placeholder 3">
            <a:extLst>
              <a:ext uri="{FF2B5EF4-FFF2-40B4-BE49-F238E27FC236}">
                <a16:creationId xmlns:a16="http://schemas.microsoft.com/office/drawing/2014/main" id="{4316D897-CA62-41B6-BE7A-EDD415538083}"/>
              </a:ext>
            </a:extLst>
          </p:cNvPr>
          <p:cNvSpPr>
            <a:spLocks noGrp="1"/>
          </p:cNvSpPr>
          <p:nvPr>
            <p:ph type="sldNum" sz="quarter" idx="12"/>
          </p:nvPr>
        </p:nvSpPr>
        <p:spPr/>
        <p:txBody>
          <a:bodyPr/>
          <a:lstStyle/>
          <a:p>
            <a:fld id="{0A5CBF63-613C-4E8E-B1A0-D710C5F27341}" type="slidenum">
              <a:rPr lang="en-US" smtClean="0"/>
              <a:t>18</a:t>
            </a:fld>
            <a:endParaRPr lang="en-US"/>
          </a:p>
        </p:txBody>
      </p:sp>
    </p:spTree>
    <p:extLst>
      <p:ext uri="{BB962C8B-B14F-4D97-AF65-F5344CB8AC3E}">
        <p14:creationId xmlns:p14="http://schemas.microsoft.com/office/powerpoint/2010/main" val="23891573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2CBB2D-720D-4D76-9BB3-D242DCDD5E88}"/>
              </a:ext>
            </a:extLst>
          </p:cNvPr>
          <p:cNvSpPr>
            <a:spLocks noGrp="1"/>
          </p:cNvSpPr>
          <p:nvPr>
            <p:ph type="title"/>
          </p:nvPr>
        </p:nvSpPr>
        <p:spPr/>
        <p:txBody>
          <a:bodyPr/>
          <a:lstStyle/>
          <a:p>
            <a:r>
              <a:rPr lang="en-US" dirty="0"/>
              <a:t>Feedback</a:t>
            </a:r>
          </a:p>
        </p:txBody>
      </p:sp>
      <p:sp>
        <p:nvSpPr>
          <p:cNvPr id="3" name="Content Placeholder 2">
            <a:extLst>
              <a:ext uri="{FF2B5EF4-FFF2-40B4-BE49-F238E27FC236}">
                <a16:creationId xmlns:a16="http://schemas.microsoft.com/office/drawing/2014/main" id="{6CBC6E0D-8AA7-476E-890D-737388BF4D65}"/>
              </a:ext>
            </a:extLst>
          </p:cNvPr>
          <p:cNvSpPr>
            <a:spLocks noGrp="1"/>
          </p:cNvSpPr>
          <p:nvPr>
            <p:ph idx="1"/>
          </p:nvPr>
        </p:nvSpPr>
        <p:spPr/>
        <p:txBody>
          <a:bodyPr/>
          <a:lstStyle/>
          <a:p>
            <a:r>
              <a:rPr lang="en-US" dirty="0"/>
              <a:t>Feedback Reports  </a:t>
            </a:r>
          </a:p>
          <a:p>
            <a:pPr lvl="1"/>
            <a:r>
              <a:rPr lang="en-US" dirty="0"/>
              <a:t>Submit feedback reports for other groups’ presentations on the same day (maximum 500 words total for two presentations). The number of reports required will be announced at the beginning of each day.</a:t>
            </a:r>
          </a:p>
          <a:p>
            <a:pPr lvl="1"/>
            <a:r>
              <a:rPr lang="en-US" dirty="0"/>
              <a:t>Each feedback report is worth 10 points and will be counted toward the Project 2 Report. </a:t>
            </a:r>
          </a:p>
        </p:txBody>
      </p:sp>
      <p:sp>
        <p:nvSpPr>
          <p:cNvPr id="4" name="Slide Number Placeholder 3">
            <a:extLst>
              <a:ext uri="{FF2B5EF4-FFF2-40B4-BE49-F238E27FC236}">
                <a16:creationId xmlns:a16="http://schemas.microsoft.com/office/drawing/2014/main" id="{A93E8F82-2892-4964-8869-1F6F66D03324}"/>
              </a:ext>
            </a:extLst>
          </p:cNvPr>
          <p:cNvSpPr>
            <a:spLocks noGrp="1"/>
          </p:cNvSpPr>
          <p:nvPr>
            <p:ph type="sldNum" sz="quarter" idx="12"/>
          </p:nvPr>
        </p:nvSpPr>
        <p:spPr/>
        <p:txBody>
          <a:bodyPr/>
          <a:lstStyle/>
          <a:p>
            <a:fld id="{0A5CBF63-613C-4E8E-B1A0-D710C5F27341}" type="slidenum">
              <a:rPr lang="en-US" smtClean="0"/>
              <a:t>19</a:t>
            </a:fld>
            <a:endParaRPr lang="en-US"/>
          </a:p>
        </p:txBody>
      </p:sp>
    </p:spTree>
    <p:extLst>
      <p:ext uri="{BB962C8B-B14F-4D97-AF65-F5344CB8AC3E}">
        <p14:creationId xmlns:p14="http://schemas.microsoft.com/office/powerpoint/2010/main" val="26320660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37f4b8a2-ad4f-41b5-9a91-284d2cc38f56}" enabled="1" method="Standard" siteId="{70de1992-07c6-480f-a318-a1afcba03983}" contentBits="0" removed="0"/>
</clbl:labelList>
</file>

<file path=docProps/app.xml><?xml version="1.0" encoding="utf-8"?>
<Properties xmlns="http://schemas.openxmlformats.org/officeDocument/2006/extended-properties" xmlns:vt="http://schemas.openxmlformats.org/officeDocument/2006/docPropsVTypes">
  <TotalTime>1048</TotalTime>
  <Words>779</Words>
  <Application>Microsoft Office PowerPoint</Application>
  <PresentationFormat>Widescreen</PresentationFormat>
  <Paragraphs>103</Paragraphs>
  <Slides>19</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Times New Roman</vt:lpstr>
      <vt:lpstr>Office Theme</vt:lpstr>
      <vt:lpstr>Group #: Your Project Title</vt:lpstr>
      <vt:lpstr>Outline(Update Required)</vt:lpstr>
      <vt:lpstr>Recap of the Project 1 Proposal</vt:lpstr>
      <vt:lpstr>Recap of the Project 1 Proposal (cont. ) </vt:lpstr>
      <vt:lpstr>Feature Engineering Techniques</vt:lpstr>
      <vt:lpstr>Feature Engineering Techniques (cont. ) </vt:lpstr>
      <vt:lpstr>Machine Learning Models</vt:lpstr>
      <vt:lpstr>Machine Learning Models (cont. ) </vt:lpstr>
      <vt:lpstr>Results and Analysis</vt:lpstr>
      <vt:lpstr>Discussion</vt:lpstr>
      <vt:lpstr>Conclusion</vt:lpstr>
      <vt:lpstr>References</vt:lpstr>
      <vt:lpstr>End</vt:lpstr>
      <vt:lpstr>Additional Presentation Tips</vt:lpstr>
      <vt:lpstr>Part 2: Live Demo of Implementation: Setup</vt:lpstr>
      <vt:lpstr>Flow of the Demo</vt:lpstr>
      <vt:lpstr>Interactivity</vt:lpstr>
      <vt:lpstr>Tips for the Demo</vt:lpstr>
      <vt:lpstr>Feedback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Basics of Algorithm</dc:title>
  <dc:creator>Li, Yuan</dc:creator>
  <cp:lastModifiedBy>Li, Yuan</cp:lastModifiedBy>
  <cp:revision>116</cp:revision>
  <dcterms:created xsi:type="dcterms:W3CDTF">2023-05-20T16:26:16Z</dcterms:created>
  <dcterms:modified xsi:type="dcterms:W3CDTF">2026-04-07T16:32:38Z</dcterms:modified>
</cp:coreProperties>
</file>