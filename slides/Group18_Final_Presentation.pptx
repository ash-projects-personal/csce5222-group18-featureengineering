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Feature Engineering for Time-Series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E8"/>
                </a:solidFill>
              </a:rPr>
              <a:t>Hybrid, Automated, and Interpretable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6858000" cy="4572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Ashish Rathnakar Shetty  ·  Kushal Sai Venigalla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Department of Computer Science and Engineering
University of North Texas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CSCE 5222 Feature Engineering  |  Group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CC"/>
                </a:solidFill>
              </a:rPr>
              <a:t>Project 2 — Implementation &amp; Full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What we'll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64008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316736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874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Recap of Project 1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Problem, motivation, and what we planned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801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80160"/>
            <a:ext cx="64008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7" y="1316736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874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Feature Engineering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Catch22, Lag+Rolling, Self-Supervised, SHAP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280160"/>
            <a:ext cx="64008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7" y="1316736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1874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Machine Learning Models &amp; Baselines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LightGBM, Ridge, Isolation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0479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840479"/>
            <a:ext cx="64008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877055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434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Results and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49834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Classification · Forecasting · Anomaly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840479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840479"/>
            <a:ext cx="64008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7" y="3877055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4434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9834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Key insights, challenges, and limitations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840479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3840479"/>
            <a:ext cx="64008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7" y="3877055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4434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Conclusion &amp; Future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49834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Takeaways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Recap: Project 1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What we proposed and how Phase 2 builds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394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Problem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Time-series data needs specialized 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Deep learning is powerful but slow and uninterpretable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865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AutoFE tools generate thousands of redundant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340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No unified framework balancing speed, accuracy, and explainability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5943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Phase 1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6916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Survey 5 recent papers (2024–2025)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0391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Propose hybrid Catch22 + LightGBM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3865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Automate feature selection via SHAP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7340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 Test on UCR, ETTh1, and WESAD-like datasets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31920"/>
            <a:ext cx="11521440" cy="23317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✓  Phase 1 Feedback Addressed in 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▸  Added Group Number 18 to all submissions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82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▸  Separated evaluations by task (classification / forecasting / anomaly detection)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12978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▸  Defined explicit baselines for each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▸  Completed the methodology flowchart (was incomplete in Phase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782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▸  Added detailed timeline with milestones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12978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▸  Discussed cross-domain generalization limits explicitly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Three diverse datasets covering classification, forecasting, and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749039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749039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7373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UCR Time Series 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317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5 datasets: GunPoint, ECG200, ItalyPowerDemand,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80720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SyntheticControl, TwoLeadECG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2826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Covers motion, medical, energy, and synthetic domains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758183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Train sizes: 23–300 samples per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234440"/>
            <a:ext cx="3749039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1234440"/>
            <a:ext cx="3749039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17373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ETTh1 — Electricity 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3317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17,420 hourly readings of 7 sensor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280720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Target: Oil Temperature (OT)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32826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Real-world multivariate industrial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3758183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Standard benchmark for time-series forecasting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1234440"/>
            <a:ext cx="3749039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1234440"/>
            <a:ext cx="3749039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1261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17373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WESAD-like PPG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23317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Simulated blood volume pulse (BVP)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80720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Injected anomalies: spikes, flatlines, high noise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32826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2,000 samples, ~16% anomaly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3758183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Models wearable sensor artifact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Engineering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Four complementary strategies implemented and evaluated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2834640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Catch22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288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22 canonical time-series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30428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Autocorrelation, entropy, Hurst exponent,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7797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spectral features, permutation entropy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25526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Implemented from scratch in pure NumPy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2696" y="123444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82696" y="1234440"/>
            <a:ext cx="2834640" cy="457200"/>
          </a:xfrm>
          <a:prstGeom prst="rect">
            <a:avLst/>
          </a:prstGeom>
          <a:solidFill>
            <a:srgbClr val="16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Lag + Rolling 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8288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Lag features: t-1, t-2, ..., t-24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30428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Rolling mean, std, min, 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7797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Windows: 3, 6, 12, 24 time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25526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Captures local temporal dynamics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23444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1234440"/>
            <a:ext cx="2834640" cy="4572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Self-Supervised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18288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MLP trained to predict x[t] from x[t-24:t]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230428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Hidden layer activations = learned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7797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No labels needed — fully unsupervised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25526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Captures non-linear temporal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8008" y="1234440"/>
            <a:ext cx="28346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08008" y="1234440"/>
            <a:ext cx="2834640" cy="45720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SHAP-Guided Pruning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18288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LightGBM proxy → compute SHAP values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30428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Keep top 55–60% features by mean |SHAP|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27797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Removes redundant/noisy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9448" y="325526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▸  XAI actively guides modeling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End-to-end flow from raw data to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pic>
        <p:nvPicPr>
          <p:cNvPr id="9" name="Picture 8" descr="fig11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Machine Learning Models &amp;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Clear baselines defined for each task to quantify feature engineering gains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1152144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Proposed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91640"/>
            <a:ext cx="11521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37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LightGBM on raw time-series
(first 50 time steps)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37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LightGBM on Catch22 features
→ SHAP-pruned subset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737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Accuracy, Weighted 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54680"/>
            <a:ext cx="11521440" cy="141732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Ridge Regression on
lag-1 feature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LightGBM on Lag+Rolling+
Self-Supervised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MSE, MAE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17720"/>
            <a:ext cx="11521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634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Anomaly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6634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Isolation Forest on
raw 50-sample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6634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Isolation Forest on
Catch22 → SHAP-selected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6634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F1-Score, ROC-AUC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Results: Time-Series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UCR Archive — 5 datasets — LightGBM with Raw vs. Catch22 vs. Catch22+SHAP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pic>
        <p:nvPicPr>
          <p:cNvPr id="9" name="Picture 8" descr="fig1_classificati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13232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80960" y="1188720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SyntheticControl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737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+6.3%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2996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Catch22 wins — global stats discriminative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GunPoint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423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+6.0%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7157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Catch22 wins — motion pattern captured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ItalyPowerDemand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−21%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015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Raw wins — local shape patterns matter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SHAP Pruning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794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0%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873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Removed 9/22 features, accuracy unchanged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TwoLeadECG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4805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44444"/>
                </a:solidFill>
              </a:rPr>
              <a:t>Tied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7731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Too few training samples (23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40680"/>
            <a:ext cx="11521440" cy="77724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▸  Catch22 + LightGBM matches or beats raw features on 3/5 datasets with only 22 compact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SHAP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SHAP values actively guide feature selection — not just post-hoc explanation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pic>
        <p:nvPicPr>
          <p:cNvPr id="9" name="Picture 8" descr="fig3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943600" cy="5394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92240" y="118872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261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How SHAP Guides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830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Top features (GunPoint): acf_lag1, diff_variance, hurst, acf_lag2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328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These capture temporal dependence and roughness — exactly what distinguishes gun-draw from pointing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28269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Bottom features: hist_entropy, peak_freq — pruned away without accuracy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03250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SHAP reduced 22 features → 13 features (40% reduction)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78231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Same accuracy, faster inference, more interpretable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5321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This is XAI being used as a design tool, not just a reporting tool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Results: Multivariate Forecasting (ETTh1)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Predicting Oil Temperature — 4 methods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Raw (Lag-1)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1618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MSE 1.285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2696" y="123444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Lag + Rolling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618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7AE60"/>
                </a:solidFill>
              </a:rPr>
              <a:t>MSE 0.228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−82%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23444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+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18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6DA4"/>
                </a:solidFill>
              </a:rPr>
              <a:t>MSE 0.337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−74%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8008" y="123444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+ SHAP Pruning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618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7AE60"/>
                </a:solidFill>
              </a:rPr>
              <a:t>MSE 0.230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−82%</a:t>
            </a:r>
          </a:p>
        </p:txBody>
      </p:sp>
      <p:pic>
        <p:nvPicPr>
          <p:cNvPr id="24" name="Picture 23" descr="fig5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34640"/>
            <a:ext cx="7772400" cy="33375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321040" y="2834640"/>
            <a:ext cx="36576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9077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Key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337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</a:rPr>
              <a:t>▸  Lag+Rolling reduces MSE by 82% over raw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886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</a:rPr>
              <a:t>▸  Self-supervised embeddings add no benefit over explicit 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434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</a:rPr>
              <a:t>▸  SHAP removes 12/28 features with zero MSE increase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9834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</a:rPr>
              <a:t>▸  Lag-1 and Lag-2 are the most important features (SHAP)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532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C"/>
                </a:solidFill>
              </a:rPr>
              <a:t>▸  Rolling mean over 24h is the top window feature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Results: Anomaly Detection (WESAD-like PPG)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Unsupervised detection of signal artifacts using Isolation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pic>
        <p:nvPicPr>
          <p:cNvPr id="9" name="Picture 8" descr="fig6_anomaly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498079" cy="2651760"/>
          </a:xfrm>
          <a:prstGeom prst="rect">
            <a:avLst/>
          </a:prstGeom>
        </p:spPr>
      </p:pic>
      <p:pic>
        <p:nvPicPr>
          <p:cNvPr id="10" name="Picture 9" descr="fig7_anomaly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31920"/>
            <a:ext cx="5029200" cy="2651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01000" y="1188720"/>
            <a:ext cx="3886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Raw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F1=0.871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57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Spikes alter amplitude directly — easy to 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Catch22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06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F1=0.581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9260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Amplitude normalization masks spike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Catch22+SHAP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F1=0.710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947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SHAP selects variance/roughness features that survive normalization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572000"/>
            <a:ext cx="3886200" cy="201168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6451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Why did Catch22 hurt?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02920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Catch22 normalizes the signal, removing absolute amplitude information. Spike anomalies are defined by high amplitude — so normalization erases the signal. SHAP identified diff_variance and time_reversibility as the features that still capture flatline and noise anomalies after normalization.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All tasks and methods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pic>
        <p:nvPicPr>
          <p:cNvPr id="9" name="Picture 8" descr="fig12_summa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6858000" cy="5394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06640" y="1188720"/>
            <a:ext cx="4572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261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PCA of Catch22 Features</a:t>
            </a:r>
          </a:p>
        </p:txBody>
      </p:sp>
      <p:pic>
        <p:nvPicPr>
          <p:cNvPr id="12" name="Picture 11" descr="fig9_pc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4572000" cy="21031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06640" y="3931920"/>
            <a:ext cx="4572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0050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Feature Correlation Heatmap</a:t>
            </a:r>
          </a:p>
        </p:txBody>
      </p:sp>
      <p:pic>
        <p:nvPicPr>
          <p:cNvPr id="15" name="Picture 14" descr="fig8_feature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389120"/>
            <a:ext cx="45720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Interpreting results, challenges faced,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749039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749039" cy="4572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61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When Catch22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8288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Datasets where global statistics are discriminative (SyntheticControl, GunPoint)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60604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Catch22 compresses 150+ time steps into 22 interpretable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3832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Works well when class differences are in distribution shape, not local 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234440"/>
            <a:ext cx="3749039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234440"/>
            <a:ext cx="3749039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261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When Raw Features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18288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ItalyPowerDemand: class defined by a sharp drop at a specific timestamp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60604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Catch22 averages out local patterns — misses the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3832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Lesson: global features cannot replace local shape when timing matters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234440"/>
            <a:ext cx="3749039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123444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261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SHAP as a Design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18288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Not just post-hoc — actively used to prune features before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260604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Reduced feature space by 40–45% across all three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338328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Faster inference, lower memory, more interpretable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416052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▸  Critical for deployment on edge devices and wearables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400800"/>
            <a:ext cx="11521440" cy="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Key takeaways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7607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75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DA4"/>
                </a:solidFill>
              </a:rPr>
              <a:t>Key 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</a:rPr>
              <a:t>▸  Feature engineering still matters — Catch22 + LightGBM rivals deep learning at a fraction of the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</a:rPr>
              <a:t>▸  Lag + Rolling Statistics are the strongest features for time-series forecasting (MSE −82%)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38144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</a:rPr>
              <a:t>▸  SHAP-guided pruning is a reliable, principled way to reduce dimensionality without hurting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</a:rPr>
              <a:t>▸  Self-supervised embeddings did not outperform explicit statistical features on ETTh1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4748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C1C1C"/>
                </a:solidFill>
              </a:rPr>
              <a:t>▸  Cross-domain generalization is limited: global features fail when local timing is the discriminant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5778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075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A2B"/>
                </a:solidFill>
              </a:rP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◆  LLM-Assisted Feature Suggestion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Use LLMs to read dataset metadata and suggest domain-specific features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◆  Edge Device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918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Develop ultra-lightweight Catch22 variants that run on IoT sensors in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◆  Real WESAD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891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Validate pipeline on the actual WESAD wearable stress dataset (requires institutional access)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◆  XAI-First AutoML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4864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Make SHAP a primary optimization objective in AutoML, not an afterthought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IEEE citation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8"/>
                </a:solidFill>
              </a:rPr>
              <a:t>CSCE 5222 Feature Engineering  |  Group 18  |  Ashish Rathnakar Shetty &amp; Kushal Sai Venigalla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[1]  H. Badi, G. Forestier, and J. Weber, "COCALITE: A Hybrid Approach for Time Series Classification Using Catch22 and LITE," in 2024 IEEE International Conference on Big Data (BigData), Washington, DC, USA, 2024, pp. 5234–5243.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[2]  M. D'Aversa, F. Giannini, and M. Scardapane, "SPLiT: Spatio-Temporal Linear Model Trees for Multi-Step Time Series Forecasting," in 2024 IEEE International Conference on Big Data (BigData), Washington, DC, USA, 2024, pp. 3412–3421.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35224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[3]  L. Valerio, A. Passarella, and M. Conti, "Unsupervised Anomaly Detection in Wearable PPG Data via Catch22 Features," in 2024 IEEE SENSORS, Kobe, Japan, 2024, pp. 1–4.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3989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[4]  T. Okadome and J. Nakamura, "Lag Operation for Sub-Groups in Multidimensional Time Series," IEEE Access, vol. 12, pp. 15432–15445,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4456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[5]  O. Petrosian, D. Wang, and S. Li, "AutoFE-XAI: Automated Feature Engineering with Explainable AI for Time Series Forecasting," IEEE Access, vol. 13, pp. 2109–2120,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[6]  C. H. Lubba et al., "catch22: CAnonical Time-series CHaracteristics," Data Mining and Knowledge Discovery, vol. 33, no. 6, pp. 1821–1852, 2019.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0C8E8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GitHub Repository: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github.com/Ash-projects-personal/CSCE5222-Group18-FeatureEngineering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Ashish Rathnakar Shetty  ·  ashishrathnakarshetty@unt.edu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Kushal Sai Venigalla  ·  KushalSaiVenigalla@unt.edu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CC"/>
                </a:solidFill>
              </a:rPr>
              <a:t>CSCE 5222 Feature Engineering  |  Group 18  |  University of North Texas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